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2.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7232F"/>
                </a:solidFill>
                <a:latin typeface="Calibri"/>
              </a:defRPr>
            </a:pPr>
            <a:r>
              <a:rPr sz="1200" b="0" i="0" u="none" strike="noStrike">
                <a:solidFill>
                  <a:srgbClr val="17232F"/>
                </a:solidFill>
                <a:latin typeface="Calibri"/>
              </a:rPr>
              <a:t>Median wall clock, seconds</a:t>
            </a:r>
          </a:p>
        </c:rich>
      </c:tx>
      <c:layout/>
      <c:overlay val="0"/>
    </c:title>
    <c:autoTitleDeleted val="0"/>
    <c:plotArea>
      <c:layout/>
      <c:barChart>
        <c:barDir val="col"/>
        <c:grouping val="clustered"/>
        <c:varyColors val="0"/>
        <c:ser>
          <c:idx val="0"/>
          <c:order val="0"/>
          <c:tx>
            <c:strRef>
              <c:f>Sheet1!$B$1</c:f>
              <c:strCache>
                <c:ptCount val="1"/>
                <c:pt idx="0">
                  <c:v>Full suite</c:v>
                </c:pt>
              </c:strCache>
            </c:strRef>
          </c:tx>
          <c:spPr>
            <a:solidFill>
              <a:srgbClr val="8FA3B0"/>
            </a:solidFill>
            <a:effectLst/>
          </c:spPr>
          <c:invertIfNegative val="0"/>
          <c:dLbls>
            <c:numFmt formatCode="#,##0" sourceLinked="0"/>
            <c:txPr>
              <a:bodyPr/>
              <a:lstStyle/>
              <a:p>
                <a:pPr>
                  <a:defRPr b="0" i="0" strike="noStrike" sz="1000" u="none">
                    <a:solidFill>
                      <a:srgbClr val="17232F"/>
                    </a:solidFill>
                    <a:latin typeface="Arial"/>
                  </a:defRPr>
                </a:pPr>
              </a:p>
            </c:txPr>
            <c:showLegendKey val="0"/>
            <c:showVal val="1"/>
            <c:showCatName val="0"/>
            <c:showSerName val="0"/>
            <c:showPercent val="0"/>
            <c:showBubbleSize val="0"/>
            <c:showLeaderLines val="0"/>
          </c:dLbls>
          <c:cat>
            <c:multiLvlStrRef>
              <c:f>Sheet1!$A$2:$A$3</c:f>
              <c:multiLvlStrCache>
                <c:ptCount val="2"/>
                <c:lvl>
                  <c:pt idx="0">
                    <c:v>attrs</c:v>
                  </c:pt>
                  <c:pt idx="1">
                    <c:v>scrapy</c:v>
                  </c:pt>
                </c:lvl>
              </c:multiLvlStrCache>
            </c:multiLvlStrRef>
          </c:cat>
          <c:val>
            <c:numRef>
              <c:f>Sheet1!$B$2:$B$3</c:f>
              <c:numCache>
                <c:formatCode>General</c:formatCode>
                <c:ptCount val="2"/>
                <c:pt idx="0">
                  <c:v>3.97</c:v>
                </c:pt>
                <c:pt idx="1">
                  <c:v>45.95</c:v>
                </c:pt>
              </c:numCache>
            </c:numRef>
          </c:val>
        </c:ser>
        <c:ser>
          <c:idx val="1"/>
          <c:order val="1"/>
          <c:tx>
            <c:strRef>
              <c:f>Sheet1!$C$1</c:f>
              <c:strCache>
                <c:ptCount val="1"/>
                <c:pt idx="0">
                  <c:v>tia selection</c:v>
                </c:pt>
              </c:strCache>
            </c:strRef>
          </c:tx>
          <c:spPr>
            <a:solidFill>
              <a:srgbClr val="2E7D62"/>
            </a:solidFill>
            <a:effectLst/>
          </c:spPr>
          <c:invertIfNegative val="0"/>
          <c:dLbls>
            <c:numFmt formatCode="#,##0" sourceLinked="0"/>
            <c:txPr>
              <a:bodyPr/>
              <a:lstStyle/>
              <a:p>
                <a:pPr>
                  <a:defRPr b="0" i="0" strike="noStrike" sz="1000" u="none">
                    <a:solidFill>
                      <a:srgbClr val="17232F"/>
                    </a:solidFill>
                    <a:latin typeface="Arial"/>
                  </a:defRPr>
                </a:pPr>
              </a:p>
            </c:txPr>
            <c:showLegendKey val="0"/>
            <c:showVal val="1"/>
            <c:showCatName val="0"/>
            <c:showSerName val="0"/>
            <c:showPercent val="0"/>
            <c:showBubbleSize val="0"/>
            <c:showLeaderLines val="0"/>
          </c:dLbls>
          <c:cat>
            <c:multiLvlStrRef>
              <c:f>Sheet1!$A$2:$A$3</c:f>
              <c:multiLvlStrCache>
                <c:ptCount val="2"/>
                <c:lvl>
                  <c:pt idx="0">
                    <c:v>attrs</c:v>
                  </c:pt>
                  <c:pt idx="1">
                    <c:v>scrapy</c:v>
                  </c:pt>
                </c:lvl>
              </c:multiLvlStrCache>
            </c:multiLvlStrRef>
          </c:cat>
          <c:val>
            <c:numRef>
              <c:f>Sheet1!$C$2:$C$3</c:f>
              <c:numCache>
                <c:formatCode>General</c:formatCode>
                <c:ptCount val="2"/>
                <c:pt idx="0">
                  <c:v>0.3</c:v>
                </c:pt>
                <c:pt idx="1">
                  <c:v>2.62</c:v>
                </c:pt>
              </c:numCache>
            </c:numRef>
          </c:val>
        </c:ser>
        <c:dLbls>
          <c:numFmt formatCode="#,##0" sourceLinked="0"/>
          <c:txPr>
            <a:bodyPr/>
            <a:lstStyle/>
            <a:p>
              <a:pPr>
                <a:defRPr b="0" i="0" strike="noStrike" sz="1000" u="none">
                  <a:solidFill>
                    <a:srgbClr val="17232F"/>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7232F"/>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D8DEE4"/>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2727F"/>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000">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7232F"/>
                </a:solidFill>
                <a:latin typeface="Calibri"/>
              </a:defRPr>
            </a:pPr>
            <a:r>
              <a:rPr sz="1200" b="0" i="0" u="none" strike="noStrike">
                <a:solidFill>
                  <a:srgbClr val="17232F"/>
                </a:solidFill>
                <a:latin typeface="Calibri"/>
              </a:rPr>
              <a:t>attrs: 47 non-equivalent mutants</a:t>
            </a:r>
          </a:p>
        </c:rich>
      </c:tx>
      <c:layout/>
      <c:overlay val="0"/>
    </c:title>
    <c:autoTitleDeleted val="0"/>
    <c:plotArea>
      <c:layout/>
      <c:doughnutChart>
        <c:varyColors val="1"/>
        <c:ser>
          <c:idx val="0"/>
          <c:order val="0"/>
          <c:tx>
            <c:strRef>
              <c:f>Sheet1!$B$1</c:f>
              <c:strCache>
                <c:ptCount val="1"/>
                <c:pt idx="0">
                  <c:v>attrs mutants</c:v>
                </c:pt>
              </c:strCache>
            </c:strRef>
          </c:tx>
          <c:spPr>
            <a:solidFill>
              <a:schemeClr val="accent1"/>
            </a:solidFill>
            <a:ln w="9525" cap="flat">
              <a:solidFill>
                <a:srgbClr val="F9F9F9"/>
              </a:solidFill>
              <a:prstDash val="solid"/>
              <a:round/>
            </a:ln>
            <a:effectLst/>
          </c:spPr>
          <c:dPt>
            <c:idx val="0"/>
            <c:bubble3D val="0"/>
            <c:spPr>
              <a:solidFill>
                <a:srgbClr val="2E7D62"/>
              </a:solidFill>
              <a:effectLst/>
            </c:spPr>
          </c:dPt>
          <c:dPt>
            <c:idx val="1"/>
            <c:bubble3D val="0"/>
            <c:spPr>
              <a:solidFill>
                <a:srgbClr val="C07A1B"/>
              </a:solidFill>
              <a:effectLst/>
            </c:spPr>
          </c:dPt>
          <c:dLbls>
            <c:dLbl>
              <c:idx val="0"/>
              <c:numFmt formatCode="General" sourceLinked="0"/>
              <c:spPr/>
              <c:txPr>
                <a:bodyPr/>
                <a:lstStyle/>
                <a:p>
                  <a:pPr>
                    <a:defRPr sz="1100" b="0" i="0" u="none" strike="noStrike">
                      <a:solidFill>
                        <a:srgbClr val="FFFFFF"/>
                      </a:solidFill>
                      <a:latin typeface="Arial"/>
                    </a:defRPr>
                  </a:pPr>
                </a:p>
              </c:txPr>
              <c:showLegendKey val="0"/>
              <c:showVal val="1"/>
              <c:showCatName val="0"/>
              <c:showSerName val="0"/>
              <c:showPercent val="0"/>
              <c:showBubbleSize val="0"/>
            </c:dLbl>
            <c:dLbl>
              <c:idx val="1"/>
              <c:numFmt formatCode="General" sourceLinked="0"/>
              <c:spPr/>
              <c:txPr>
                <a:bodyPr/>
                <a:lstStyle/>
                <a:p>
                  <a:pPr>
                    <a:defRPr sz="1100" b="0" i="0" u="none" strike="noStrike">
                      <a:solidFill>
                        <a:srgbClr val="FFFFFF"/>
                      </a:solidFill>
                      <a:latin typeface="Arial"/>
                    </a:defRPr>
                  </a:pPr>
                </a:p>
              </c:txPr>
              <c:showLegendKey val="0"/>
              <c:showVal val="1"/>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Sheet1!$A$2:$A$3</c:f>
              <c:strCache>
                <c:ptCount val="2"/>
                <c:pt idx="0">
                  <c:v>Line-level selection</c:v>
                </c:pt>
                <c:pt idx="1">
                  <c:v>Fell back — IMPORT_TIME_LINE</c:v>
                </c:pt>
              </c:strCache>
            </c:strRef>
          </c:cat>
          <c:val>
            <c:numRef>
              <c:f>Sheet1!$B$2:$B$3</c:f>
              <c:numCache>
                <c:ptCount val="2"/>
                <c:pt idx="0">
                  <c:v>19</c:v>
                </c:pt>
                <c:pt idx="1">
                  <c:v>28</c:v>
                </c:pt>
              </c:numCache>
            </c:numRef>
          </c:val>
        </c:ser>
        <c:firstSliceAng val="0"/>
        <c:holeSize val="55"/>
      </c:doughnutChart>
      <c:spPr>
        <a:noFill/>
        <a:ln>
          <a:noFill/>
        </a:ln>
        <a:effectLst/>
      </c:spPr>
    </c:plotArea>
    <c:legend>
      <c:legendPos val="b"/>
      <c:overlay val="0"/>
      <c:txPr>
        <a:bodyPr/>
        <a:lstStyle/>
        <a:p>
          <a:pPr>
            <a:defRPr sz="1000">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tia: a command-line tool that runs only the tests a git change can affect. This is the Review 1 checkpoint: a working, measured, file- and line-level tool on two real codebases.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Measured on the real attrs library at a pinned commit. 31 of 1,334 tests selected for a single-line change; 0.82s against a 3.93s serial baseline.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Selective test execution is an established idea. What is scarce is an open tool whose logic can be read, paired with measurements anyone can reproduce.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1 is amortised — built once and reused. Phase 2 runs on every change and is dominated by pytest's own startup, not by our lookup.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is the whole safety argument. Every decision carries a machine-readable reason code, which is what makes the logic inspectable and the fallback rate measurable.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of the six had moved their test dependencies since the proposal was written. `pip install -e .[tests]` exits 0 and installs nothing on a PEP 735 project — so 'prepared' now means pytest can actually collect the suite.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two slides matter more than any speedup number, because they show the measurements were run and believed rather than assumed.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scrapy also settled the biggest flagged risk in the proposal: coverage contexts survive pytest-xdist and coverage combine, so the map can be built in parallel. The documented fallback to sequential construction was not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runs on the real attrs checkout, needs no network, and the whole suite takes 3.9 seconds — so the full-suite comparison can be run live rather than quoted.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repositories, one run each, one of them partial. Not enough mutants to put a confidence interval on — that is Review 2 at 200+ per repository.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to spend time on. A safety claim is only as good as the experiment that could have falsified it — and this one did, on its first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reviewer who asks 'did you get the 40-70% you targeted?' gets this slide: the distribution, the reason, and what we would do about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out-of-scope list out loud before the panel finds it. Line-level precision exists; the import graph, the third repo and PyPI are Review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7232F"/>
        </a:solidFill>
      </p:bgPr>
    </p:bg>
    <p:spTree>
      <p:nvGrpSpPr>
        <p:cNvPr id="1" name=""/>
        <p:cNvGrpSpPr/>
        <p:nvPr/>
      </p:nvGrpSpPr>
      <p:grpSpPr>
        <a:xfrm>
          <a:off x="0" y="0"/>
          <a:ext cx="0" cy="0"/>
          <a:chOff x="0" y="0"/>
          <a:chExt cx="0" cy="0"/>
        </a:xfrm>
      </p:grpSpPr>
      <p:sp>
        <p:nvSpPr>
          <p:cNvPr id="2" name="Text 0"/>
          <p:cNvSpPr txBox="1"/>
          <p:nvPr/>
        </p:nvSpPr>
        <p:spPr>
          <a:xfrm>
            <a:off x="640080" y="1828800"/>
            <a:ext cx="6858000" cy="1371600"/>
          </a:xfrm>
          <a:prstGeom prst="rect">
            <a:avLst/>
          </a:prstGeom>
          <a:noFill/>
          <a:ln/>
        </p:spPr>
        <p:txBody>
          <a:bodyPr wrap="square" lIns="0" tIns="0" rIns="0" bIns="0" rtlCol="0" anchor="ctr"/>
          <a:lstStyle/>
          <a:p>
            <a:pPr indent="0" marL="0">
              <a:buNone/>
            </a:pPr>
            <a:r>
              <a:rPr lang="en-US" sz="9600" b="1" dirty="0">
                <a:solidFill>
                  <a:srgbClr val="FFFFFF"/>
                </a:solidFill>
                <a:latin typeface="Cambria" pitchFamily="34" charset="0"/>
                <a:ea typeface="Cambria" pitchFamily="34" charset="-122"/>
                <a:cs typeface="Cambria" pitchFamily="34" charset="-120"/>
              </a:rPr>
              <a:t>tia</a:t>
            </a:r>
            <a:endParaRPr lang="en-US" sz="9600" dirty="0"/>
          </a:p>
        </p:txBody>
      </p:sp>
      <p:sp>
        <p:nvSpPr>
          <p:cNvPr id="3" name="Text 1"/>
          <p:cNvSpPr txBox="1"/>
          <p:nvPr/>
        </p:nvSpPr>
        <p:spPr>
          <a:xfrm>
            <a:off x="640080" y="3154680"/>
            <a:ext cx="7498080" cy="457200"/>
          </a:xfrm>
          <a:prstGeom prst="rect">
            <a:avLst/>
          </a:prstGeom>
          <a:noFill/>
          <a:ln/>
        </p:spPr>
        <p:txBody>
          <a:bodyPr wrap="square" lIns="0" tIns="0" rIns="0" bIns="0" rtlCol="0" anchor="ctr"/>
          <a:lstStyle/>
          <a:p>
            <a:pPr indent="0" marL="0">
              <a:buNone/>
            </a:pPr>
            <a:r>
              <a:rPr lang="en-US" sz="2400" dirty="0">
                <a:solidFill>
                  <a:srgbClr val="AFC0CE"/>
                </a:solidFill>
                <a:latin typeface="Cambria" pitchFamily="34" charset="0"/>
                <a:ea typeface="Cambria" pitchFamily="34" charset="-122"/>
                <a:cs typeface="Cambria" pitchFamily="34" charset="-120"/>
              </a:rPr>
              <a:t>Selective test execution for CI pipelines</a:t>
            </a:r>
            <a:endParaRPr lang="en-US" sz="2400" dirty="0"/>
          </a:p>
        </p:txBody>
      </p:sp>
      <p:sp>
        <p:nvSpPr>
          <p:cNvPr id="4" name="Text 2"/>
          <p:cNvSpPr txBox="1"/>
          <p:nvPr/>
        </p:nvSpPr>
        <p:spPr>
          <a:xfrm>
            <a:off x="640080" y="3703320"/>
            <a:ext cx="6949440" cy="640080"/>
          </a:xfrm>
          <a:prstGeom prst="rect">
            <a:avLst/>
          </a:prstGeom>
          <a:noFill/>
          <a:ln/>
        </p:spPr>
        <p:txBody>
          <a:bodyPr wrap="square" lIns="0" tIns="0" rIns="0" bIns="0" rtlCol="0" anchor="ctr"/>
          <a:lstStyle/>
          <a:p>
            <a:pPr indent="0" marL="0">
              <a:buNone/>
            </a:pPr>
            <a:r>
              <a:rPr lang="en-US" sz="1400" dirty="0">
                <a:solidFill>
                  <a:srgbClr val="8DA0B0"/>
                </a:solidFill>
                <a:latin typeface="Calibri" pitchFamily="34" charset="0"/>
                <a:ea typeface="Calibri" pitchFamily="34" charset="-122"/>
                <a:cs typeface="Calibri" pitchFamily="34" charset="-120"/>
              </a:rPr>
              <a:t>Run only the tests a change can affect — and run everything whenever that cannot be established.</a:t>
            </a:r>
            <a:endParaRPr lang="en-US" sz="1400" dirty="0"/>
          </a:p>
        </p:txBody>
      </p:sp>
      <p:sp>
        <p:nvSpPr>
          <p:cNvPr id="5" name="Text 3"/>
          <p:cNvSpPr txBox="1"/>
          <p:nvPr/>
        </p:nvSpPr>
        <p:spPr>
          <a:xfrm>
            <a:off x="640080" y="4892040"/>
            <a:ext cx="2743200" cy="274320"/>
          </a:xfrm>
          <a:prstGeom prst="rect">
            <a:avLst/>
          </a:prstGeom>
          <a:noFill/>
          <a:ln/>
        </p:spPr>
        <p:txBody>
          <a:bodyPr wrap="square" lIns="0" tIns="0" rIns="0" bIns="0" rtlCol="0" anchor="ctr"/>
          <a:lstStyle/>
          <a:p>
            <a:pPr indent="0" marL="0">
              <a:buNone/>
            </a:pPr>
            <a:r>
              <a:rPr lang="en-US" sz="1200" b="1" spc="300" kern="0" dirty="0">
                <a:solidFill>
                  <a:srgbClr val="C07A1B"/>
                </a:solidFill>
                <a:latin typeface="Calibri" pitchFamily="34" charset="0"/>
                <a:ea typeface="Calibri" pitchFamily="34" charset="-122"/>
                <a:cs typeface="Calibri" pitchFamily="34" charset="-120"/>
              </a:rPr>
              <a:t>REVIEW 1</a:t>
            </a:r>
            <a:endParaRPr lang="en-US" sz="1200" dirty="0"/>
          </a:p>
        </p:txBody>
      </p:sp>
      <p:sp>
        <p:nvSpPr>
          <p:cNvPr id="6" name="Text 4"/>
          <p:cNvSpPr txBox="1"/>
          <p:nvPr/>
        </p:nvSpPr>
        <p:spPr>
          <a:xfrm>
            <a:off x="640080" y="5212080"/>
            <a:ext cx="5486400" cy="274320"/>
          </a:xfrm>
          <a:prstGeom prst="rect">
            <a:avLst/>
          </a:prstGeom>
          <a:noFill/>
          <a:ln/>
        </p:spPr>
        <p:txBody>
          <a:bodyPr wrap="square" lIns="0" tIns="0" rIns="0" bIns="0" rtlCol="0" anchor="ctr"/>
          <a:lstStyle/>
          <a:p>
            <a:pPr indent="0" marL="0">
              <a:buNone/>
            </a:pPr>
            <a:r>
              <a:rPr lang="en-US" sz="1200" dirty="0">
                <a:solidFill>
                  <a:srgbClr val="8DA0B0"/>
                </a:solidFill>
                <a:latin typeface="Calibri" pitchFamily="34" charset="0"/>
                <a:ea typeface="Calibri" pitchFamily="34" charset="-122"/>
                <a:cs typeface="Calibri" pitchFamily="34" charset="-120"/>
              </a:rPr>
              <a:t>Tanmay Singh  ·  B.Tech CSE  ·  VIT Bhopal</a:t>
            </a:r>
            <a:endParaRPr lang="en-US" sz="1200" dirty="0"/>
          </a:p>
        </p:txBody>
      </p:sp>
      <p:sp>
        <p:nvSpPr>
          <p:cNvPr id="7" name="Shape 5"/>
          <p:cNvSpPr/>
          <p:nvPr/>
        </p:nvSpPr>
        <p:spPr>
          <a:xfrm>
            <a:off x="8366760" y="1828800"/>
            <a:ext cx="201168" cy="201168"/>
          </a:xfrm>
          <a:prstGeom prst="rect">
            <a:avLst/>
          </a:prstGeom>
          <a:solidFill>
            <a:srgbClr val="223141"/>
          </a:solidFill>
          <a:ln w="12700">
            <a:solidFill>
              <a:srgbClr val="333333"/>
            </a:solidFill>
            <a:prstDash val="solid"/>
          </a:ln>
        </p:spPr>
      </p:sp>
      <p:sp>
        <p:nvSpPr>
          <p:cNvPr id="8" name="Shape 6"/>
          <p:cNvSpPr/>
          <p:nvPr/>
        </p:nvSpPr>
        <p:spPr>
          <a:xfrm>
            <a:off x="8650224" y="1828800"/>
            <a:ext cx="201168" cy="201168"/>
          </a:xfrm>
          <a:prstGeom prst="rect">
            <a:avLst/>
          </a:prstGeom>
          <a:solidFill>
            <a:srgbClr val="223141"/>
          </a:solidFill>
          <a:ln w="12700">
            <a:solidFill>
              <a:srgbClr val="333333"/>
            </a:solidFill>
            <a:prstDash val="solid"/>
          </a:ln>
        </p:spPr>
      </p:sp>
      <p:sp>
        <p:nvSpPr>
          <p:cNvPr id="9" name="Shape 7"/>
          <p:cNvSpPr/>
          <p:nvPr/>
        </p:nvSpPr>
        <p:spPr>
          <a:xfrm>
            <a:off x="8933688" y="1828800"/>
            <a:ext cx="201168" cy="201168"/>
          </a:xfrm>
          <a:prstGeom prst="rect">
            <a:avLst/>
          </a:prstGeom>
          <a:solidFill>
            <a:srgbClr val="223141"/>
          </a:solidFill>
          <a:ln w="12700">
            <a:solidFill>
              <a:srgbClr val="333333"/>
            </a:solidFill>
            <a:prstDash val="solid"/>
          </a:ln>
        </p:spPr>
      </p:sp>
      <p:sp>
        <p:nvSpPr>
          <p:cNvPr id="10" name="Shape 8"/>
          <p:cNvSpPr/>
          <p:nvPr/>
        </p:nvSpPr>
        <p:spPr>
          <a:xfrm>
            <a:off x="9217152" y="1828800"/>
            <a:ext cx="201168" cy="201168"/>
          </a:xfrm>
          <a:prstGeom prst="rect">
            <a:avLst/>
          </a:prstGeom>
          <a:solidFill>
            <a:srgbClr val="223141"/>
          </a:solidFill>
          <a:ln w="12700">
            <a:solidFill>
              <a:srgbClr val="333333"/>
            </a:solidFill>
            <a:prstDash val="solid"/>
          </a:ln>
        </p:spPr>
      </p:sp>
      <p:sp>
        <p:nvSpPr>
          <p:cNvPr id="11" name="Shape 9"/>
          <p:cNvSpPr/>
          <p:nvPr/>
        </p:nvSpPr>
        <p:spPr>
          <a:xfrm>
            <a:off x="9500616" y="1828800"/>
            <a:ext cx="201168" cy="201168"/>
          </a:xfrm>
          <a:prstGeom prst="rect">
            <a:avLst/>
          </a:prstGeom>
          <a:solidFill>
            <a:srgbClr val="223141"/>
          </a:solidFill>
          <a:ln w="12700">
            <a:solidFill>
              <a:srgbClr val="333333"/>
            </a:solidFill>
            <a:prstDash val="solid"/>
          </a:ln>
        </p:spPr>
      </p:sp>
      <p:sp>
        <p:nvSpPr>
          <p:cNvPr id="12" name="Shape 10"/>
          <p:cNvSpPr/>
          <p:nvPr/>
        </p:nvSpPr>
        <p:spPr>
          <a:xfrm>
            <a:off x="9784080" y="1828800"/>
            <a:ext cx="201168" cy="201168"/>
          </a:xfrm>
          <a:prstGeom prst="rect">
            <a:avLst/>
          </a:prstGeom>
          <a:solidFill>
            <a:srgbClr val="223141"/>
          </a:solidFill>
          <a:ln w="12700">
            <a:solidFill>
              <a:srgbClr val="333333"/>
            </a:solidFill>
            <a:prstDash val="solid"/>
          </a:ln>
        </p:spPr>
      </p:sp>
      <p:sp>
        <p:nvSpPr>
          <p:cNvPr id="13" name="Shape 11"/>
          <p:cNvSpPr/>
          <p:nvPr/>
        </p:nvSpPr>
        <p:spPr>
          <a:xfrm>
            <a:off x="10067544" y="1828800"/>
            <a:ext cx="201168" cy="201168"/>
          </a:xfrm>
          <a:prstGeom prst="rect">
            <a:avLst/>
          </a:prstGeom>
          <a:solidFill>
            <a:srgbClr val="223141"/>
          </a:solidFill>
          <a:ln w="12700">
            <a:solidFill>
              <a:srgbClr val="333333"/>
            </a:solidFill>
            <a:prstDash val="solid"/>
          </a:ln>
        </p:spPr>
      </p:sp>
      <p:sp>
        <p:nvSpPr>
          <p:cNvPr id="14" name="Shape 12"/>
          <p:cNvSpPr/>
          <p:nvPr/>
        </p:nvSpPr>
        <p:spPr>
          <a:xfrm>
            <a:off x="10351008" y="1828800"/>
            <a:ext cx="201168" cy="201168"/>
          </a:xfrm>
          <a:prstGeom prst="rect">
            <a:avLst/>
          </a:prstGeom>
          <a:solidFill>
            <a:srgbClr val="223141"/>
          </a:solidFill>
          <a:ln w="12700">
            <a:solidFill>
              <a:srgbClr val="333333"/>
            </a:solidFill>
            <a:prstDash val="solid"/>
          </a:ln>
        </p:spPr>
      </p:sp>
      <p:sp>
        <p:nvSpPr>
          <p:cNvPr id="15" name="Shape 13"/>
          <p:cNvSpPr/>
          <p:nvPr/>
        </p:nvSpPr>
        <p:spPr>
          <a:xfrm>
            <a:off x="10634472" y="1828800"/>
            <a:ext cx="201168" cy="201168"/>
          </a:xfrm>
          <a:prstGeom prst="rect">
            <a:avLst/>
          </a:prstGeom>
          <a:solidFill>
            <a:srgbClr val="223141"/>
          </a:solidFill>
          <a:ln w="12700">
            <a:solidFill>
              <a:srgbClr val="333333"/>
            </a:solidFill>
            <a:prstDash val="solid"/>
          </a:ln>
        </p:spPr>
      </p:sp>
      <p:sp>
        <p:nvSpPr>
          <p:cNvPr id="16" name="Shape 14"/>
          <p:cNvSpPr/>
          <p:nvPr/>
        </p:nvSpPr>
        <p:spPr>
          <a:xfrm>
            <a:off x="10917936" y="1828800"/>
            <a:ext cx="201168" cy="201168"/>
          </a:xfrm>
          <a:prstGeom prst="rect">
            <a:avLst/>
          </a:prstGeom>
          <a:solidFill>
            <a:srgbClr val="223141"/>
          </a:solidFill>
          <a:ln w="12700">
            <a:solidFill>
              <a:srgbClr val="333333"/>
            </a:solidFill>
            <a:prstDash val="solid"/>
          </a:ln>
        </p:spPr>
      </p:sp>
      <p:sp>
        <p:nvSpPr>
          <p:cNvPr id="17" name="Shape 15"/>
          <p:cNvSpPr/>
          <p:nvPr/>
        </p:nvSpPr>
        <p:spPr>
          <a:xfrm>
            <a:off x="11201400" y="1828800"/>
            <a:ext cx="201168" cy="201168"/>
          </a:xfrm>
          <a:prstGeom prst="rect">
            <a:avLst/>
          </a:prstGeom>
          <a:solidFill>
            <a:srgbClr val="223141"/>
          </a:solidFill>
          <a:ln w="12700">
            <a:solidFill>
              <a:srgbClr val="333333"/>
            </a:solidFill>
            <a:prstDash val="solid"/>
          </a:ln>
        </p:spPr>
      </p:sp>
      <p:sp>
        <p:nvSpPr>
          <p:cNvPr id="18" name="Shape 16"/>
          <p:cNvSpPr/>
          <p:nvPr/>
        </p:nvSpPr>
        <p:spPr>
          <a:xfrm>
            <a:off x="11484864" y="1828800"/>
            <a:ext cx="201168" cy="201168"/>
          </a:xfrm>
          <a:prstGeom prst="rect">
            <a:avLst/>
          </a:prstGeom>
          <a:solidFill>
            <a:srgbClr val="223141"/>
          </a:solidFill>
          <a:ln w="12700">
            <a:solidFill>
              <a:srgbClr val="333333"/>
            </a:solidFill>
            <a:prstDash val="solid"/>
          </a:ln>
        </p:spPr>
      </p:sp>
      <p:sp>
        <p:nvSpPr>
          <p:cNvPr id="19" name="Shape 17"/>
          <p:cNvSpPr/>
          <p:nvPr/>
        </p:nvSpPr>
        <p:spPr>
          <a:xfrm>
            <a:off x="8366760" y="2112264"/>
            <a:ext cx="201168" cy="201168"/>
          </a:xfrm>
          <a:prstGeom prst="rect">
            <a:avLst/>
          </a:prstGeom>
          <a:solidFill>
            <a:srgbClr val="223141"/>
          </a:solidFill>
          <a:ln w="12700">
            <a:solidFill>
              <a:srgbClr val="333333"/>
            </a:solidFill>
            <a:prstDash val="solid"/>
          </a:ln>
        </p:spPr>
      </p:sp>
      <p:sp>
        <p:nvSpPr>
          <p:cNvPr id="20" name="Shape 18"/>
          <p:cNvSpPr/>
          <p:nvPr/>
        </p:nvSpPr>
        <p:spPr>
          <a:xfrm>
            <a:off x="8650224" y="2112264"/>
            <a:ext cx="201168" cy="201168"/>
          </a:xfrm>
          <a:prstGeom prst="rect">
            <a:avLst/>
          </a:prstGeom>
          <a:solidFill>
            <a:srgbClr val="223141"/>
          </a:solidFill>
          <a:ln w="12700">
            <a:solidFill>
              <a:srgbClr val="333333"/>
            </a:solidFill>
            <a:prstDash val="solid"/>
          </a:ln>
        </p:spPr>
      </p:sp>
      <p:sp>
        <p:nvSpPr>
          <p:cNvPr id="21" name="Shape 19"/>
          <p:cNvSpPr/>
          <p:nvPr/>
        </p:nvSpPr>
        <p:spPr>
          <a:xfrm>
            <a:off x="8933688" y="2112264"/>
            <a:ext cx="201168" cy="201168"/>
          </a:xfrm>
          <a:prstGeom prst="rect">
            <a:avLst/>
          </a:prstGeom>
          <a:solidFill>
            <a:srgbClr val="223141"/>
          </a:solidFill>
          <a:ln w="12700">
            <a:solidFill>
              <a:srgbClr val="333333"/>
            </a:solidFill>
            <a:prstDash val="solid"/>
          </a:ln>
        </p:spPr>
      </p:sp>
      <p:sp>
        <p:nvSpPr>
          <p:cNvPr id="22" name="Shape 20"/>
          <p:cNvSpPr/>
          <p:nvPr/>
        </p:nvSpPr>
        <p:spPr>
          <a:xfrm>
            <a:off x="9217152" y="2112264"/>
            <a:ext cx="201168" cy="201168"/>
          </a:xfrm>
          <a:prstGeom prst="rect">
            <a:avLst/>
          </a:prstGeom>
          <a:solidFill>
            <a:srgbClr val="223141"/>
          </a:solidFill>
          <a:ln w="12700">
            <a:solidFill>
              <a:srgbClr val="333333"/>
            </a:solidFill>
            <a:prstDash val="solid"/>
          </a:ln>
        </p:spPr>
      </p:sp>
      <p:sp>
        <p:nvSpPr>
          <p:cNvPr id="23" name="Shape 21"/>
          <p:cNvSpPr/>
          <p:nvPr/>
        </p:nvSpPr>
        <p:spPr>
          <a:xfrm>
            <a:off x="9500616" y="2112264"/>
            <a:ext cx="201168" cy="201168"/>
          </a:xfrm>
          <a:prstGeom prst="rect">
            <a:avLst/>
          </a:prstGeom>
          <a:solidFill>
            <a:srgbClr val="223141"/>
          </a:solidFill>
          <a:ln w="12700">
            <a:solidFill>
              <a:srgbClr val="333333"/>
            </a:solidFill>
            <a:prstDash val="solid"/>
          </a:ln>
        </p:spPr>
      </p:sp>
      <p:sp>
        <p:nvSpPr>
          <p:cNvPr id="24" name="Shape 22"/>
          <p:cNvSpPr/>
          <p:nvPr/>
        </p:nvSpPr>
        <p:spPr>
          <a:xfrm>
            <a:off x="9784080" y="2112264"/>
            <a:ext cx="201168" cy="201168"/>
          </a:xfrm>
          <a:prstGeom prst="rect">
            <a:avLst/>
          </a:prstGeom>
          <a:solidFill>
            <a:srgbClr val="223141"/>
          </a:solidFill>
          <a:ln w="12700">
            <a:solidFill>
              <a:srgbClr val="333333"/>
            </a:solidFill>
            <a:prstDash val="solid"/>
          </a:ln>
        </p:spPr>
      </p:sp>
      <p:sp>
        <p:nvSpPr>
          <p:cNvPr id="25" name="Shape 23"/>
          <p:cNvSpPr/>
          <p:nvPr/>
        </p:nvSpPr>
        <p:spPr>
          <a:xfrm>
            <a:off x="10067544" y="2112264"/>
            <a:ext cx="201168" cy="201168"/>
          </a:xfrm>
          <a:prstGeom prst="rect">
            <a:avLst/>
          </a:prstGeom>
          <a:solidFill>
            <a:srgbClr val="223141"/>
          </a:solidFill>
          <a:ln w="12700">
            <a:solidFill>
              <a:srgbClr val="333333"/>
            </a:solidFill>
            <a:prstDash val="solid"/>
          </a:ln>
        </p:spPr>
      </p:sp>
      <p:sp>
        <p:nvSpPr>
          <p:cNvPr id="26" name="Shape 24"/>
          <p:cNvSpPr/>
          <p:nvPr/>
        </p:nvSpPr>
        <p:spPr>
          <a:xfrm>
            <a:off x="10351008" y="2112264"/>
            <a:ext cx="201168" cy="201168"/>
          </a:xfrm>
          <a:prstGeom prst="rect">
            <a:avLst/>
          </a:prstGeom>
          <a:solidFill>
            <a:srgbClr val="223141"/>
          </a:solidFill>
          <a:ln w="12700">
            <a:solidFill>
              <a:srgbClr val="333333"/>
            </a:solidFill>
            <a:prstDash val="solid"/>
          </a:ln>
        </p:spPr>
      </p:sp>
      <p:sp>
        <p:nvSpPr>
          <p:cNvPr id="27" name="Shape 25"/>
          <p:cNvSpPr/>
          <p:nvPr/>
        </p:nvSpPr>
        <p:spPr>
          <a:xfrm>
            <a:off x="10634472" y="2112264"/>
            <a:ext cx="201168" cy="201168"/>
          </a:xfrm>
          <a:prstGeom prst="rect">
            <a:avLst/>
          </a:prstGeom>
          <a:solidFill>
            <a:srgbClr val="223141"/>
          </a:solidFill>
          <a:ln w="12700">
            <a:solidFill>
              <a:srgbClr val="333333"/>
            </a:solidFill>
            <a:prstDash val="solid"/>
          </a:ln>
        </p:spPr>
      </p:sp>
      <p:sp>
        <p:nvSpPr>
          <p:cNvPr id="28" name="Shape 26"/>
          <p:cNvSpPr/>
          <p:nvPr/>
        </p:nvSpPr>
        <p:spPr>
          <a:xfrm>
            <a:off x="10917936" y="2112264"/>
            <a:ext cx="201168" cy="201168"/>
          </a:xfrm>
          <a:prstGeom prst="rect">
            <a:avLst/>
          </a:prstGeom>
          <a:solidFill>
            <a:srgbClr val="223141"/>
          </a:solidFill>
          <a:ln w="12700">
            <a:solidFill>
              <a:srgbClr val="333333"/>
            </a:solidFill>
            <a:prstDash val="solid"/>
          </a:ln>
        </p:spPr>
      </p:sp>
      <p:sp>
        <p:nvSpPr>
          <p:cNvPr id="29" name="Shape 27"/>
          <p:cNvSpPr/>
          <p:nvPr/>
        </p:nvSpPr>
        <p:spPr>
          <a:xfrm>
            <a:off x="11201400" y="2112264"/>
            <a:ext cx="201168" cy="201168"/>
          </a:xfrm>
          <a:prstGeom prst="rect">
            <a:avLst/>
          </a:prstGeom>
          <a:solidFill>
            <a:srgbClr val="223141"/>
          </a:solidFill>
          <a:ln w="12700">
            <a:solidFill>
              <a:srgbClr val="333333"/>
            </a:solidFill>
            <a:prstDash val="solid"/>
          </a:ln>
        </p:spPr>
      </p:sp>
      <p:sp>
        <p:nvSpPr>
          <p:cNvPr id="30" name="Shape 28"/>
          <p:cNvSpPr/>
          <p:nvPr/>
        </p:nvSpPr>
        <p:spPr>
          <a:xfrm>
            <a:off x="11484864" y="2112264"/>
            <a:ext cx="201168" cy="201168"/>
          </a:xfrm>
          <a:prstGeom prst="rect">
            <a:avLst/>
          </a:prstGeom>
          <a:solidFill>
            <a:srgbClr val="223141"/>
          </a:solidFill>
          <a:ln w="12700">
            <a:solidFill>
              <a:srgbClr val="333333"/>
            </a:solidFill>
            <a:prstDash val="solid"/>
          </a:ln>
        </p:spPr>
      </p:sp>
      <p:sp>
        <p:nvSpPr>
          <p:cNvPr id="31" name="Shape 29"/>
          <p:cNvSpPr/>
          <p:nvPr/>
        </p:nvSpPr>
        <p:spPr>
          <a:xfrm>
            <a:off x="8366760" y="2395728"/>
            <a:ext cx="201168" cy="201168"/>
          </a:xfrm>
          <a:prstGeom prst="rect">
            <a:avLst/>
          </a:prstGeom>
          <a:solidFill>
            <a:srgbClr val="223141"/>
          </a:solidFill>
          <a:ln w="12700">
            <a:solidFill>
              <a:srgbClr val="333333"/>
            </a:solidFill>
            <a:prstDash val="solid"/>
          </a:ln>
        </p:spPr>
      </p:sp>
      <p:sp>
        <p:nvSpPr>
          <p:cNvPr id="32" name="Shape 30"/>
          <p:cNvSpPr/>
          <p:nvPr/>
        </p:nvSpPr>
        <p:spPr>
          <a:xfrm>
            <a:off x="8650224" y="2395728"/>
            <a:ext cx="201168" cy="201168"/>
          </a:xfrm>
          <a:prstGeom prst="rect">
            <a:avLst/>
          </a:prstGeom>
          <a:solidFill>
            <a:srgbClr val="223141"/>
          </a:solidFill>
          <a:ln w="12700">
            <a:solidFill>
              <a:srgbClr val="333333"/>
            </a:solidFill>
            <a:prstDash val="solid"/>
          </a:ln>
        </p:spPr>
      </p:sp>
      <p:sp>
        <p:nvSpPr>
          <p:cNvPr id="33" name="Shape 31"/>
          <p:cNvSpPr/>
          <p:nvPr/>
        </p:nvSpPr>
        <p:spPr>
          <a:xfrm>
            <a:off x="8933688" y="2395728"/>
            <a:ext cx="201168" cy="201168"/>
          </a:xfrm>
          <a:prstGeom prst="rect">
            <a:avLst/>
          </a:prstGeom>
          <a:solidFill>
            <a:srgbClr val="C07A1B"/>
          </a:solidFill>
          <a:ln w="12700">
            <a:solidFill>
              <a:srgbClr val="333333"/>
            </a:solidFill>
            <a:prstDash val="solid"/>
          </a:ln>
        </p:spPr>
      </p:sp>
      <p:sp>
        <p:nvSpPr>
          <p:cNvPr id="34" name="Shape 32"/>
          <p:cNvSpPr/>
          <p:nvPr/>
        </p:nvSpPr>
        <p:spPr>
          <a:xfrm>
            <a:off x="9217152" y="2395728"/>
            <a:ext cx="201168" cy="201168"/>
          </a:xfrm>
          <a:prstGeom prst="rect">
            <a:avLst/>
          </a:prstGeom>
          <a:solidFill>
            <a:srgbClr val="C07A1B"/>
          </a:solidFill>
          <a:ln w="12700">
            <a:solidFill>
              <a:srgbClr val="333333"/>
            </a:solidFill>
            <a:prstDash val="solid"/>
          </a:ln>
        </p:spPr>
      </p:sp>
      <p:sp>
        <p:nvSpPr>
          <p:cNvPr id="35" name="Shape 33"/>
          <p:cNvSpPr/>
          <p:nvPr/>
        </p:nvSpPr>
        <p:spPr>
          <a:xfrm>
            <a:off x="9500616" y="2395728"/>
            <a:ext cx="201168" cy="201168"/>
          </a:xfrm>
          <a:prstGeom prst="rect">
            <a:avLst/>
          </a:prstGeom>
          <a:solidFill>
            <a:srgbClr val="223141"/>
          </a:solidFill>
          <a:ln w="12700">
            <a:solidFill>
              <a:srgbClr val="333333"/>
            </a:solidFill>
            <a:prstDash val="solid"/>
          </a:ln>
        </p:spPr>
      </p:sp>
      <p:sp>
        <p:nvSpPr>
          <p:cNvPr id="36" name="Shape 34"/>
          <p:cNvSpPr/>
          <p:nvPr/>
        </p:nvSpPr>
        <p:spPr>
          <a:xfrm>
            <a:off x="9784080" y="2395728"/>
            <a:ext cx="201168" cy="201168"/>
          </a:xfrm>
          <a:prstGeom prst="rect">
            <a:avLst/>
          </a:prstGeom>
          <a:solidFill>
            <a:srgbClr val="223141"/>
          </a:solidFill>
          <a:ln w="12700">
            <a:solidFill>
              <a:srgbClr val="333333"/>
            </a:solidFill>
            <a:prstDash val="solid"/>
          </a:ln>
        </p:spPr>
      </p:sp>
      <p:sp>
        <p:nvSpPr>
          <p:cNvPr id="37" name="Shape 35"/>
          <p:cNvSpPr/>
          <p:nvPr/>
        </p:nvSpPr>
        <p:spPr>
          <a:xfrm>
            <a:off x="10067544" y="2395728"/>
            <a:ext cx="201168" cy="201168"/>
          </a:xfrm>
          <a:prstGeom prst="rect">
            <a:avLst/>
          </a:prstGeom>
          <a:solidFill>
            <a:srgbClr val="223141"/>
          </a:solidFill>
          <a:ln w="12700">
            <a:solidFill>
              <a:srgbClr val="333333"/>
            </a:solidFill>
            <a:prstDash val="solid"/>
          </a:ln>
        </p:spPr>
      </p:sp>
      <p:sp>
        <p:nvSpPr>
          <p:cNvPr id="38" name="Shape 36"/>
          <p:cNvSpPr/>
          <p:nvPr/>
        </p:nvSpPr>
        <p:spPr>
          <a:xfrm>
            <a:off x="10351008" y="2395728"/>
            <a:ext cx="201168" cy="201168"/>
          </a:xfrm>
          <a:prstGeom prst="rect">
            <a:avLst/>
          </a:prstGeom>
          <a:solidFill>
            <a:srgbClr val="223141"/>
          </a:solidFill>
          <a:ln w="12700">
            <a:solidFill>
              <a:srgbClr val="333333"/>
            </a:solidFill>
            <a:prstDash val="solid"/>
          </a:ln>
        </p:spPr>
      </p:sp>
      <p:sp>
        <p:nvSpPr>
          <p:cNvPr id="39" name="Shape 37"/>
          <p:cNvSpPr/>
          <p:nvPr/>
        </p:nvSpPr>
        <p:spPr>
          <a:xfrm>
            <a:off x="10634472" y="2395728"/>
            <a:ext cx="201168" cy="201168"/>
          </a:xfrm>
          <a:prstGeom prst="rect">
            <a:avLst/>
          </a:prstGeom>
          <a:solidFill>
            <a:srgbClr val="223141"/>
          </a:solidFill>
          <a:ln w="12700">
            <a:solidFill>
              <a:srgbClr val="333333"/>
            </a:solidFill>
            <a:prstDash val="solid"/>
          </a:ln>
        </p:spPr>
      </p:sp>
      <p:sp>
        <p:nvSpPr>
          <p:cNvPr id="40" name="Shape 38"/>
          <p:cNvSpPr/>
          <p:nvPr/>
        </p:nvSpPr>
        <p:spPr>
          <a:xfrm>
            <a:off x="10917936" y="2395728"/>
            <a:ext cx="201168" cy="201168"/>
          </a:xfrm>
          <a:prstGeom prst="rect">
            <a:avLst/>
          </a:prstGeom>
          <a:solidFill>
            <a:srgbClr val="223141"/>
          </a:solidFill>
          <a:ln w="12700">
            <a:solidFill>
              <a:srgbClr val="333333"/>
            </a:solidFill>
            <a:prstDash val="solid"/>
          </a:ln>
        </p:spPr>
      </p:sp>
      <p:sp>
        <p:nvSpPr>
          <p:cNvPr id="41" name="Shape 39"/>
          <p:cNvSpPr/>
          <p:nvPr/>
        </p:nvSpPr>
        <p:spPr>
          <a:xfrm>
            <a:off x="11201400" y="2395728"/>
            <a:ext cx="201168" cy="201168"/>
          </a:xfrm>
          <a:prstGeom prst="rect">
            <a:avLst/>
          </a:prstGeom>
          <a:solidFill>
            <a:srgbClr val="223141"/>
          </a:solidFill>
          <a:ln w="12700">
            <a:solidFill>
              <a:srgbClr val="333333"/>
            </a:solidFill>
            <a:prstDash val="solid"/>
          </a:ln>
        </p:spPr>
      </p:sp>
      <p:sp>
        <p:nvSpPr>
          <p:cNvPr id="42" name="Shape 40"/>
          <p:cNvSpPr/>
          <p:nvPr/>
        </p:nvSpPr>
        <p:spPr>
          <a:xfrm>
            <a:off x="11484864" y="2395728"/>
            <a:ext cx="201168" cy="201168"/>
          </a:xfrm>
          <a:prstGeom prst="rect">
            <a:avLst/>
          </a:prstGeom>
          <a:solidFill>
            <a:srgbClr val="223141"/>
          </a:solidFill>
          <a:ln w="12700">
            <a:solidFill>
              <a:srgbClr val="333333"/>
            </a:solidFill>
            <a:prstDash val="solid"/>
          </a:ln>
        </p:spPr>
      </p:sp>
      <p:sp>
        <p:nvSpPr>
          <p:cNvPr id="43" name="Shape 41"/>
          <p:cNvSpPr/>
          <p:nvPr/>
        </p:nvSpPr>
        <p:spPr>
          <a:xfrm>
            <a:off x="8366760" y="2679192"/>
            <a:ext cx="201168" cy="201168"/>
          </a:xfrm>
          <a:prstGeom prst="rect">
            <a:avLst/>
          </a:prstGeom>
          <a:solidFill>
            <a:srgbClr val="223141"/>
          </a:solidFill>
          <a:ln w="12700">
            <a:solidFill>
              <a:srgbClr val="333333"/>
            </a:solidFill>
            <a:prstDash val="solid"/>
          </a:ln>
        </p:spPr>
      </p:sp>
      <p:sp>
        <p:nvSpPr>
          <p:cNvPr id="44" name="Shape 42"/>
          <p:cNvSpPr/>
          <p:nvPr/>
        </p:nvSpPr>
        <p:spPr>
          <a:xfrm>
            <a:off x="8650224" y="2679192"/>
            <a:ext cx="201168" cy="201168"/>
          </a:xfrm>
          <a:prstGeom prst="rect">
            <a:avLst/>
          </a:prstGeom>
          <a:solidFill>
            <a:srgbClr val="223141"/>
          </a:solidFill>
          <a:ln w="12700">
            <a:solidFill>
              <a:srgbClr val="333333"/>
            </a:solidFill>
            <a:prstDash val="solid"/>
          </a:ln>
        </p:spPr>
      </p:sp>
      <p:sp>
        <p:nvSpPr>
          <p:cNvPr id="45" name="Shape 43"/>
          <p:cNvSpPr/>
          <p:nvPr/>
        </p:nvSpPr>
        <p:spPr>
          <a:xfrm>
            <a:off x="8933688" y="2679192"/>
            <a:ext cx="201168" cy="201168"/>
          </a:xfrm>
          <a:prstGeom prst="rect">
            <a:avLst/>
          </a:prstGeom>
          <a:solidFill>
            <a:srgbClr val="C07A1B"/>
          </a:solidFill>
          <a:ln w="12700">
            <a:solidFill>
              <a:srgbClr val="333333"/>
            </a:solidFill>
            <a:prstDash val="solid"/>
          </a:ln>
        </p:spPr>
      </p:sp>
      <p:sp>
        <p:nvSpPr>
          <p:cNvPr id="46" name="Shape 44"/>
          <p:cNvSpPr/>
          <p:nvPr/>
        </p:nvSpPr>
        <p:spPr>
          <a:xfrm>
            <a:off x="9217152" y="2679192"/>
            <a:ext cx="201168" cy="201168"/>
          </a:xfrm>
          <a:prstGeom prst="rect">
            <a:avLst/>
          </a:prstGeom>
          <a:solidFill>
            <a:srgbClr val="223141"/>
          </a:solidFill>
          <a:ln w="12700">
            <a:solidFill>
              <a:srgbClr val="333333"/>
            </a:solidFill>
            <a:prstDash val="solid"/>
          </a:ln>
        </p:spPr>
      </p:sp>
      <p:sp>
        <p:nvSpPr>
          <p:cNvPr id="47" name="Shape 45"/>
          <p:cNvSpPr/>
          <p:nvPr/>
        </p:nvSpPr>
        <p:spPr>
          <a:xfrm>
            <a:off x="9500616" y="2679192"/>
            <a:ext cx="201168" cy="201168"/>
          </a:xfrm>
          <a:prstGeom prst="rect">
            <a:avLst/>
          </a:prstGeom>
          <a:solidFill>
            <a:srgbClr val="223141"/>
          </a:solidFill>
          <a:ln w="12700">
            <a:solidFill>
              <a:srgbClr val="333333"/>
            </a:solidFill>
            <a:prstDash val="solid"/>
          </a:ln>
        </p:spPr>
      </p:sp>
      <p:sp>
        <p:nvSpPr>
          <p:cNvPr id="48" name="Shape 46"/>
          <p:cNvSpPr/>
          <p:nvPr/>
        </p:nvSpPr>
        <p:spPr>
          <a:xfrm>
            <a:off x="9784080" y="2679192"/>
            <a:ext cx="201168" cy="201168"/>
          </a:xfrm>
          <a:prstGeom prst="rect">
            <a:avLst/>
          </a:prstGeom>
          <a:solidFill>
            <a:srgbClr val="223141"/>
          </a:solidFill>
          <a:ln w="12700">
            <a:solidFill>
              <a:srgbClr val="333333"/>
            </a:solidFill>
            <a:prstDash val="solid"/>
          </a:ln>
        </p:spPr>
      </p:sp>
      <p:sp>
        <p:nvSpPr>
          <p:cNvPr id="49" name="Shape 47"/>
          <p:cNvSpPr/>
          <p:nvPr/>
        </p:nvSpPr>
        <p:spPr>
          <a:xfrm>
            <a:off x="10067544" y="2679192"/>
            <a:ext cx="201168" cy="201168"/>
          </a:xfrm>
          <a:prstGeom prst="rect">
            <a:avLst/>
          </a:prstGeom>
          <a:solidFill>
            <a:srgbClr val="223141"/>
          </a:solidFill>
          <a:ln w="12700">
            <a:solidFill>
              <a:srgbClr val="333333"/>
            </a:solidFill>
            <a:prstDash val="solid"/>
          </a:ln>
        </p:spPr>
      </p:sp>
      <p:sp>
        <p:nvSpPr>
          <p:cNvPr id="50" name="Shape 48"/>
          <p:cNvSpPr/>
          <p:nvPr/>
        </p:nvSpPr>
        <p:spPr>
          <a:xfrm>
            <a:off x="10351008" y="2679192"/>
            <a:ext cx="201168" cy="201168"/>
          </a:xfrm>
          <a:prstGeom prst="rect">
            <a:avLst/>
          </a:prstGeom>
          <a:solidFill>
            <a:srgbClr val="223141"/>
          </a:solidFill>
          <a:ln w="12700">
            <a:solidFill>
              <a:srgbClr val="333333"/>
            </a:solidFill>
            <a:prstDash val="solid"/>
          </a:ln>
        </p:spPr>
      </p:sp>
      <p:sp>
        <p:nvSpPr>
          <p:cNvPr id="51" name="Shape 49"/>
          <p:cNvSpPr/>
          <p:nvPr/>
        </p:nvSpPr>
        <p:spPr>
          <a:xfrm>
            <a:off x="10634472" y="2679192"/>
            <a:ext cx="201168" cy="201168"/>
          </a:xfrm>
          <a:prstGeom prst="rect">
            <a:avLst/>
          </a:prstGeom>
          <a:solidFill>
            <a:srgbClr val="223141"/>
          </a:solidFill>
          <a:ln w="12700">
            <a:solidFill>
              <a:srgbClr val="333333"/>
            </a:solidFill>
            <a:prstDash val="solid"/>
          </a:ln>
        </p:spPr>
      </p:sp>
      <p:sp>
        <p:nvSpPr>
          <p:cNvPr id="52" name="Shape 50"/>
          <p:cNvSpPr/>
          <p:nvPr/>
        </p:nvSpPr>
        <p:spPr>
          <a:xfrm>
            <a:off x="10917936" y="2679192"/>
            <a:ext cx="201168" cy="201168"/>
          </a:xfrm>
          <a:prstGeom prst="rect">
            <a:avLst/>
          </a:prstGeom>
          <a:solidFill>
            <a:srgbClr val="223141"/>
          </a:solidFill>
          <a:ln w="12700">
            <a:solidFill>
              <a:srgbClr val="333333"/>
            </a:solidFill>
            <a:prstDash val="solid"/>
          </a:ln>
        </p:spPr>
      </p:sp>
      <p:sp>
        <p:nvSpPr>
          <p:cNvPr id="53" name="Shape 51"/>
          <p:cNvSpPr/>
          <p:nvPr/>
        </p:nvSpPr>
        <p:spPr>
          <a:xfrm>
            <a:off x="11201400" y="2679192"/>
            <a:ext cx="201168" cy="201168"/>
          </a:xfrm>
          <a:prstGeom prst="rect">
            <a:avLst/>
          </a:prstGeom>
          <a:solidFill>
            <a:srgbClr val="223141"/>
          </a:solidFill>
          <a:ln w="12700">
            <a:solidFill>
              <a:srgbClr val="333333"/>
            </a:solidFill>
            <a:prstDash val="solid"/>
          </a:ln>
        </p:spPr>
      </p:sp>
      <p:sp>
        <p:nvSpPr>
          <p:cNvPr id="54" name="Shape 52"/>
          <p:cNvSpPr/>
          <p:nvPr/>
        </p:nvSpPr>
        <p:spPr>
          <a:xfrm>
            <a:off x="11484864" y="2679192"/>
            <a:ext cx="201168" cy="201168"/>
          </a:xfrm>
          <a:prstGeom prst="rect">
            <a:avLst/>
          </a:prstGeom>
          <a:solidFill>
            <a:srgbClr val="223141"/>
          </a:solidFill>
          <a:ln w="12700">
            <a:solidFill>
              <a:srgbClr val="333333"/>
            </a:solidFill>
            <a:prstDash val="solid"/>
          </a:ln>
        </p:spPr>
      </p:sp>
      <p:sp>
        <p:nvSpPr>
          <p:cNvPr id="55" name="Shape 53"/>
          <p:cNvSpPr/>
          <p:nvPr/>
        </p:nvSpPr>
        <p:spPr>
          <a:xfrm>
            <a:off x="8366760" y="2962656"/>
            <a:ext cx="201168" cy="201168"/>
          </a:xfrm>
          <a:prstGeom prst="rect">
            <a:avLst/>
          </a:prstGeom>
          <a:solidFill>
            <a:srgbClr val="223141"/>
          </a:solidFill>
          <a:ln w="12700">
            <a:solidFill>
              <a:srgbClr val="333333"/>
            </a:solidFill>
            <a:prstDash val="solid"/>
          </a:ln>
        </p:spPr>
      </p:sp>
      <p:sp>
        <p:nvSpPr>
          <p:cNvPr id="56" name="Shape 54"/>
          <p:cNvSpPr/>
          <p:nvPr/>
        </p:nvSpPr>
        <p:spPr>
          <a:xfrm>
            <a:off x="8650224" y="2962656"/>
            <a:ext cx="201168" cy="201168"/>
          </a:xfrm>
          <a:prstGeom prst="rect">
            <a:avLst/>
          </a:prstGeom>
          <a:solidFill>
            <a:srgbClr val="223141"/>
          </a:solidFill>
          <a:ln w="12700">
            <a:solidFill>
              <a:srgbClr val="333333"/>
            </a:solidFill>
            <a:prstDash val="solid"/>
          </a:ln>
        </p:spPr>
      </p:sp>
      <p:sp>
        <p:nvSpPr>
          <p:cNvPr id="57" name="Shape 55"/>
          <p:cNvSpPr/>
          <p:nvPr/>
        </p:nvSpPr>
        <p:spPr>
          <a:xfrm>
            <a:off x="8933688" y="2962656"/>
            <a:ext cx="201168" cy="201168"/>
          </a:xfrm>
          <a:prstGeom prst="rect">
            <a:avLst/>
          </a:prstGeom>
          <a:solidFill>
            <a:srgbClr val="223141"/>
          </a:solidFill>
          <a:ln w="12700">
            <a:solidFill>
              <a:srgbClr val="333333"/>
            </a:solidFill>
            <a:prstDash val="solid"/>
          </a:ln>
        </p:spPr>
      </p:sp>
      <p:sp>
        <p:nvSpPr>
          <p:cNvPr id="58" name="Shape 56"/>
          <p:cNvSpPr/>
          <p:nvPr/>
        </p:nvSpPr>
        <p:spPr>
          <a:xfrm>
            <a:off x="9217152" y="2962656"/>
            <a:ext cx="201168" cy="201168"/>
          </a:xfrm>
          <a:prstGeom prst="rect">
            <a:avLst/>
          </a:prstGeom>
          <a:solidFill>
            <a:srgbClr val="C07A1B"/>
          </a:solidFill>
          <a:ln w="12700">
            <a:solidFill>
              <a:srgbClr val="333333"/>
            </a:solidFill>
            <a:prstDash val="solid"/>
          </a:ln>
        </p:spPr>
      </p:sp>
      <p:sp>
        <p:nvSpPr>
          <p:cNvPr id="59" name="Shape 57"/>
          <p:cNvSpPr/>
          <p:nvPr/>
        </p:nvSpPr>
        <p:spPr>
          <a:xfrm>
            <a:off x="9500616" y="2962656"/>
            <a:ext cx="201168" cy="201168"/>
          </a:xfrm>
          <a:prstGeom prst="rect">
            <a:avLst/>
          </a:prstGeom>
          <a:solidFill>
            <a:srgbClr val="223141"/>
          </a:solidFill>
          <a:ln w="12700">
            <a:solidFill>
              <a:srgbClr val="333333"/>
            </a:solidFill>
            <a:prstDash val="solid"/>
          </a:ln>
        </p:spPr>
      </p:sp>
      <p:sp>
        <p:nvSpPr>
          <p:cNvPr id="60" name="Shape 58"/>
          <p:cNvSpPr/>
          <p:nvPr/>
        </p:nvSpPr>
        <p:spPr>
          <a:xfrm>
            <a:off x="9784080" y="2962656"/>
            <a:ext cx="201168" cy="201168"/>
          </a:xfrm>
          <a:prstGeom prst="rect">
            <a:avLst/>
          </a:prstGeom>
          <a:solidFill>
            <a:srgbClr val="223141"/>
          </a:solidFill>
          <a:ln w="12700">
            <a:solidFill>
              <a:srgbClr val="333333"/>
            </a:solidFill>
            <a:prstDash val="solid"/>
          </a:ln>
        </p:spPr>
      </p:sp>
      <p:sp>
        <p:nvSpPr>
          <p:cNvPr id="61" name="Shape 59"/>
          <p:cNvSpPr/>
          <p:nvPr/>
        </p:nvSpPr>
        <p:spPr>
          <a:xfrm>
            <a:off x="10067544" y="2962656"/>
            <a:ext cx="201168" cy="201168"/>
          </a:xfrm>
          <a:prstGeom prst="rect">
            <a:avLst/>
          </a:prstGeom>
          <a:solidFill>
            <a:srgbClr val="223141"/>
          </a:solidFill>
          <a:ln w="12700">
            <a:solidFill>
              <a:srgbClr val="333333"/>
            </a:solidFill>
            <a:prstDash val="solid"/>
          </a:ln>
        </p:spPr>
      </p:sp>
      <p:sp>
        <p:nvSpPr>
          <p:cNvPr id="62" name="Shape 60"/>
          <p:cNvSpPr/>
          <p:nvPr/>
        </p:nvSpPr>
        <p:spPr>
          <a:xfrm>
            <a:off x="10351008" y="2962656"/>
            <a:ext cx="201168" cy="201168"/>
          </a:xfrm>
          <a:prstGeom prst="rect">
            <a:avLst/>
          </a:prstGeom>
          <a:solidFill>
            <a:srgbClr val="223141"/>
          </a:solidFill>
          <a:ln w="12700">
            <a:solidFill>
              <a:srgbClr val="333333"/>
            </a:solidFill>
            <a:prstDash val="solid"/>
          </a:ln>
        </p:spPr>
      </p:sp>
      <p:sp>
        <p:nvSpPr>
          <p:cNvPr id="63" name="Shape 61"/>
          <p:cNvSpPr/>
          <p:nvPr/>
        </p:nvSpPr>
        <p:spPr>
          <a:xfrm>
            <a:off x="10634472" y="2962656"/>
            <a:ext cx="201168" cy="201168"/>
          </a:xfrm>
          <a:prstGeom prst="rect">
            <a:avLst/>
          </a:prstGeom>
          <a:solidFill>
            <a:srgbClr val="223141"/>
          </a:solidFill>
          <a:ln w="12700">
            <a:solidFill>
              <a:srgbClr val="333333"/>
            </a:solidFill>
            <a:prstDash val="solid"/>
          </a:ln>
        </p:spPr>
      </p:sp>
      <p:sp>
        <p:nvSpPr>
          <p:cNvPr id="64" name="Shape 62"/>
          <p:cNvSpPr/>
          <p:nvPr/>
        </p:nvSpPr>
        <p:spPr>
          <a:xfrm>
            <a:off x="10917936" y="2962656"/>
            <a:ext cx="201168" cy="201168"/>
          </a:xfrm>
          <a:prstGeom prst="rect">
            <a:avLst/>
          </a:prstGeom>
          <a:solidFill>
            <a:srgbClr val="223141"/>
          </a:solidFill>
          <a:ln w="12700">
            <a:solidFill>
              <a:srgbClr val="333333"/>
            </a:solidFill>
            <a:prstDash val="solid"/>
          </a:ln>
        </p:spPr>
      </p:sp>
      <p:sp>
        <p:nvSpPr>
          <p:cNvPr id="65" name="Shape 63"/>
          <p:cNvSpPr/>
          <p:nvPr/>
        </p:nvSpPr>
        <p:spPr>
          <a:xfrm>
            <a:off x="11201400" y="2962656"/>
            <a:ext cx="201168" cy="201168"/>
          </a:xfrm>
          <a:prstGeom prst="rect">
            <a:avLst/>
          </a:prstGeom>
          <a:solidFill>
            <a:srgbClr val="223141"/>
          </a:solidFill>
          <a:ln w="12700">
            <a:solidFill>
              <a:srgbClr val="333333"/>
            </a:solidFill>
            <a:prstDash val="solid"/>
          </a:ln>
        </p:spPr>
      </p:sp>
      <p:sp>
        <p:nvSpPr>
          <p:cNvPr id="66" name="Shape 64"/>
          <p:cNvSpPr/>
          <p:nvPr/>
        </p:nvSpPr>
        <p:spPr>
          <a:xfrm>
            <a:off x="11484864" y="2962656"/>
            <a:ext cx="201168" cy="201168"/>
          </a:xfrm>
          <a:prstGeom prst="rect">
            <a:avLst/>
          </a:prstGeom>
          <a:solidFill>
            <a:srgbClr val="223141"/>
          </a:solidFill>
          <a:ln w="12700">
            <a:solidFill>
              <a:srgbClr val="333333"/>
            </a:solidFill>
            <a:prstDash val="solid"/>
          </a:ln>
        </p:spPr>
      </p:sp>
      <p:sp>
        <p:nvSpPr>
          <p:cNvPr id="67" name="Shape 65"/>
          <p:cNvSpPr/>
          <p:nvPr/>
        </p:nvSpPr>
        <p:spPr>
          <a:xfrm>
            <a:off x="8366760" y="3246120"/>
            <a:ext cx="201168" cy="201168"/>
          </a:xfrm>
          <a:prstGeom prst="rect">
            <a:avLst/>
          </a:prstGeom>
          <a:solidFill>
            <a:srgbClr val="223141"/>
          </a:solidFill>
          <a:ln w="12700">
            <a:solidFill>
              <a:srgbClr val="333333"/>
            </a:solidFill>
            <a:prstDash val="solid"/>
          </a:ln>
        </p:spPr>
      </p:sp>
      <p:sp>
        <p:nvSpPr>
          <p:cNvPr id="68" name="Shape 66"/>
          <p:cNvSpPr/>
          <p:nvPr/>
        </p:nvSpPr>
        <p:spPr>
          <a:xfrm>
            <a:off x="8650224" y="3246120"/>
            <a:ext cx="201168" cy="201168"/>
          </a:xfrm>
          <a:prstGeom prst="rect">
            <a:avLst/>
          </a:prstGeom>
          <a:solidFill>
            <a:srgbClr val="223141"/>
          </a:solidFill>
          <a:ln w="12700">
            <a:solidFill>
              <a:srgbClr val="333333"/>
            </a:solidFill>
            <a:prstDash val="solid"/>
          </a:ln>
        </p:spPr>
      </p:sp>
      <p:sp>
        <p:nvSpPr>
          <p:cNvPr id="69" name="Shape 67"/>
          <p:cNvSpPr/>
          <p:nvPr/>
        </p:nvSpPr>
        <p:spPr>
          <a:xfrm>
            <a:off x="8933688" y="3246120"/>
            <a:ext cx="201168" cy="201168"/>
          </a:xfrm>
          <a:prstGeom prst="rect">
            <a:avLst/>
          </a:prstGeom>
          <a:solidFill>
            <a:srgbClr val="C07A1B"/>
          </a:solidFill>
          <a:ln w="12700">
            <a:solidFill>
              <a:srgbClr val="333333"/>
            </a:solidFill>
            <a:prstDash val="solid"/>
          </a:ln>
        </p:spPr>
      </p:sp>
      <p:sp>
        <p:nvSpPr>
          <p:cNvPr id="70" name="Shape 68"/>
          <p:cNvSpPr/>
          <p:nvPr/>
        </p:nvSpPr>
        <p:spPr>
          <a:xfrm>
            <a:off x="9217152" y="3246120"/>
            <a:ext cx="201168" cy="201168"/>
          </a:xfrm>
          <a:prstGeom prst="rect">
            <a:avLst/>
          </a:prstGeom>
          <a:solidFill>
            <a:srgbClr val="C07A1B"/>
          </a:solidFill>
          <a:ln w="12700">
            <a:solidFill>
              <a:srgbClr val="333333"/>
            </a:solidFill>
            <a:prstDash val="solid"/>
          </a:ln>
        </p:spPr>
      </p:sp>
      <p:sp>
        <p:nvSpPr>
          <p:cNvPr id="71" name="Shape 69"/>
          <p:cNvSpPr/>
          <p:nvPr/>
        </p:nvSpPr>
        <p:spPr>
          <a:xfrm>
            <a:off x="9500616" y="3246120"/>
            <a:ext cx="201168" cy="201168"/>
          </a:xfrm>
          <a:prstGeom prst="rect">
            <a:avLst/>
          </a:prstGeom>
          <a:solidFill>
            <a:srgbClr val="223141"/>
          </a:solidFill>
          <a:ln w="12700">
            <a:solidFill>
              <a:srgbClr val="333333"/>
            </a:solidFill>
            <a:prstDash val="solid"/>
          </a:ln>
        </p:spPr>
      </p:sp>
      <p:sp>
        <p:nvSpPr>
          <p:cNvPr id="72" name="Shape 70"/>
          <p:cNvSpPr/>
          <p:nvPr/>
        </p:nvSpPr>
        <p:spPr>
          <a:xfrm>
            <a:off x="9784080" y="3246120"/>
            <a:ext cx="201168" cy="201168"/>
          </a:xfrm>
          <a:prstGeom prst="rect">
            <a:avLst/>
          </a:prstGeom>
          <a:solidFill>
            <a:srgbClr val="223141"/>
          </a:solidFill>
          <a:ln w="12700">
            <a:solidFill>
              <a:srgbClr val="333333"/>
            </a:solidFill>
            <a:prstDash val="solid"/>
          </a:ln>
        </p:spPr>
      </p:sp>
      <p:sp>
        <p:nvSpPr>
          <p:cNvPr id="73" name="Shape 71"/>
          <p:cNvSpPr/>
          <p:nvPr/>
        </p:nvSpPr>
        <p:spPr>
          <a:xfrm>
            <a:off x="10067544" y="3246120"/>
            <a:ext cx="201168" cy="201168"/>
          </a:xfrm>
          <a:prstGeom prst="rect">
            <a:avLst/>
          </a:prstGeom>
          <a:solidFill>
            <a:srgbClr val="223141"/>
          </a:solidFill>
          <a:ln w="12700">
            <a:solidFill>
              <a:srgbClr val="333333"/>
            </a:solidFill>
            <a:prstDash val="solid"/>
          </a:ln>
        </p:spPr>
      </p:sp>
      <p:sp>
        <p:nvSpPr>
          <p:cNvPr id="74" name="Shape 72"/>
          <p:cNvSpPr/>
          <p:nvPr/>
        </p:nvSpPr>
        <p:spPr>
          <a:xfrm>
            <a:off x="10351008" y="3246120"/>
            <a:ext cx="201168" cy="201168"/>
          </a:xfrm>
          <a:prstGeom prst="rect">
            <a:avLst/>
          </a:prstGeom>
          <a:solidFill>
            <a:srgbClr val="223141"/>
          </a:solidFill>
          <a:ln w="12700">
            <a:solidFill>
              <a:srgbClr val="333333"/>
            </a:solidFill>
            <a:prstDash val="solid"/>
          </a:ln>
        </p:spPr>
      </p:sp>
      <p:sp>
        <p:nvSpPr>
          <p:cNvPr id="75" name="Shape 73"/>
          <p:cNvSpPr/>
          <p:nvPr/>
        </p:nvSpPr>
        <p:spPr>
          <a:xfrm>
            <a:off x="10634472" y="3246120"/>
            <a:ext cx="201168" cy="201168"/>
          </a:xfrm>
          <a:prstGeom prst="rect">
            <a:avLst/>
          </a:prstGeom>
          <a:solidFill>
            <a:srgbClr val="223141"/>
          </a:solidFill>
          <a:ln w="12700">
            <a:solidFill>
              <a:srgbClr val="333333"/>
            </a:solidFill>
            <a:prstDash val="solid"/>
          </a:ln>
        </p:spPr>
      </p:sp>
      <p:sp>
        <p:nvSpPr>
          <p:cNvPr id="76" name="Shape 74"/>
          <p:cNvSpPr/>
          <p:nvPr/>
        </p:nvSpPr>
        <p:spPr>
          <a:xfrm>
            <a:off x="10917936" y="3246120"/>
            <a:ext cx="201168" cy="201168"/>
          </a:xfrm>
          <a:prstGeom prst="rect">
            <a:avLst/>
          </a:prstGeom>
          <a:solidFill>
            <a:srgbClr val="223141"/>
          </a:solidFill>
          <a:ln w="12700">
            <a:solidFill>
              <a:srgbClr val="333333"/>
            </a:solidFill>
            <a:prstDash val="solid"/>
          </a:ln>
        </p:spPr>
      </p:sp>
      <p:sp>
        <p:nvSpPr>
          <p:cNvPr id="77" name="Shape 75"/>
          <p:cNvSpPr/>
          <p:nvPr/>
        </p:nvSpPr>
        <p:spPr>
          <a:xfrm>
            <a:off x="11201400" y="3246120"/>
            <a:ext cx="201168" cy="201168"/>
          </a:xfrm>
          <a:prstGeom prst="rect">
            <a:avLst/>
          </a:prstGeom>
          <a:solidFill>
            <a:srgbClr val="223141"/>
          </a:solidFill>
          <a:ln w="12700">
            <a:solidFill>
              <a:srgbClr val="333333"/>
            </a:solidFill>
            <a:prstDash val="solid"/>
          </a:ln>
        </p:spPr>
      </p:sp>
      <p:sp>
        <p:nvSpPr>
          <p:cNvPr id="78" name="Shape 76"/>
          <p:cNvSpPr/>
          <p:nvPr/>
        </p:nvSpPr>
        <p:spPr>
          <a:xfrm>
            <a:off x="11484864" y="3246120"/>
            <a:ext cx="201168" cy="201168"/>
          </a:xfrm>
          <a:prstGeom prst="rect">
            <a:avLst/>
          </a:prstGeom>
          <a:solidFill>
            <a:srgbClr val="223141"/>
          </a:solidFill>
          <a:ln w="12700">
            <a:solidFill>
              <a:srgbClr val="333333"/>
            </a:solidFill>
            <a:prstDash val="solid"/>
          </a:ln>
        </p:spPr>
      </p:sp>
      <p:sp>
        <p:nvSpPr>
          <p:cNvPr id="79" name="Shape 77"/>
          <p:cNvSpPr/>
          <p:nvPr/>
        </p:nvSpPr>
        <p:spPr>
          <a:xfrm>
            <a:off x="8366760" y="3529584"/>
            <a:ext cx="201168" cy="201168"/>
          </a:xfrm>
          <a:prstGeom prst="rect">
            <a:avLst/>
          </a:prstGeom>
          <a:solidFill>
            <a:srgbClr val="223141"/>
          </a:solidFill>
          <a:ln w="12700">
            <a:solidFill>
              <a:srgbClr val="333333"/>
            </a:solidFill>
            <a:prstDash val="solid"/>
          </a:ln>
        </p:spPr>
      </p:sp>
      <p:sp>
        <p:nvSpPr>
          <p:cNvPr id="80" name="Shape 78"/>
          <p:cNvSpPr/>
          <p:nvPr/>
        </p:nvSpPr>
        <p:spPr>
          <a:xfrm>
            <a:off x="8650224" y="3529584"/>
            <a:ext cx="201168" cy="201168"/>
          </a:xfrm>
          <a:prstGeom prst="rect">
            <a:avLst/>
          </a:prstGeom>
          <a:solidFill>
            <a:srgbClr val="223141"/>
          </a:solidFill>
          <a:ln w="12700">
            <a:solidFill>
              <a:srgbClr val="333333"/>
            </a:solidFill>
            <a:prstDash val="solid"/>
          </a:ln>
        </p:spPr>
      </p:sp>
      <p:sp>
        <p:nvSpPr>
          <p:cNvPr id="81" name="Shape 79"/>
          <p:cNvSpPr/>
          <p:nvPr/>
        </p:nvSpPr>
        <p:spPr>
          <a:xfrm>
            <a:off x="8933688" y="3529584"/>
            <a:ext cx="201168" cy="201168"/>
          </a:xfrm>
          <a:prstGeom prst="rect">
            <a:avLst/>
          </a:prstGeom>
          <a:solidFill>
            <a:srgbClr val="223141"/>
          </a:solidFill>
          <a:ln w="12700">
            <a:solidFill>
              <a:srgbClr val="333333"/>
            </a:solidFill>
            <a:prstDash val="solid"/>
          </a:ln>
        </p:spPr>
      </p:sp>
      <p:sp>
        <p:nvSpPr>
          <p:cNvPr id="82" name="Shape 80"/>
          <p:cNvSpPr/>
          <p:nvPr/>
        </p:nvSpPr>
        <p:spPr>
          <a:xfrm>
            <a:off x="9217152" y="3529584"/>
            <a:ext cx="201168" cy="201168"/>
          </a:xfrm>
          <a:prstGeom prst="rect">
            <a:avLst/>
          </a:prstGeom>
          <a:solidFill>
            <a:srgbClr val="C07A1B"/>
          </a:solidFill>
          <a:ln w="12700">
            <a:solidFill>
              <a:srgbClr val="333333"/>
            </a:solidFill>
            <a:prstDash val="solid"/>
          </a:ln>
        </p:spPr>
      </p:sp>
      <p:sp>
        <p:nvSpPr>
          <p:cNvPr id="83" name="Shape 81"/>
          <p:cNvSpPr/>
          <p:nvPr/>
        </p:nvSpPr>
        <p:spPr>
          <a:xfrm>
            <a:off x="9500616" y="3529584"/>
            <a:ext cx="201168" cy="201168"/>
          </a:xfrm>
          <a:prstGeom prst="rect">
            <a:avLst/>
          </a:prstGeom>
          <a:solidFill>
            <a:srgbClr val="223141"/>
          </a:solidFill>
          <a:ln w="12700">
            <a:solidFill>
              <a:srgbClr val="333333"/>
            </a:solidFill>
            <a:prstDash val="solid"/>
          </a:ln>
        </p:spPr>
      </p:sp>
      <p:sp>
        <p:nvSpPr>
          <p:cNvPr id="84" name="Shape 82"/>
          <p:cNvSpPr/>
          <p:nvPr/>
        </p:nvSpPr>
        <p:spPr>
          <a:xfrm>
            <a:off x="9784080" y="3529584"/>
            <a:ext cx="201168" cy="201168"/>
          </a:xfrm>
          <a:prstGeom prst="rect">
            <a:avLst/>
          </a:prstGeom>
          <a:solidFill>
            <a:srgbClr val="223141"/>
          </a:solidFill>
          <a:ln w="12700">
            <a:solidFill>
              <a:srgbClr val="333333"/>
            </a:solidFill>
            <a:prstDash val="solid"/>
          </a:ln>
        </p:spPr>
      </p:sp>
      <p:sp>
        <p:nvSpPr>
          <p:cNvPr id="85" name="Shape 83"/>
          <p:cNvSpPr/>
          <p:nvPr/>
        </p:nvSpPr>
        <p:spPr>
          <a:xfrm>
            <a:off x="10067544" y="3529584"/>
            <a:ext cx="201168" cy="201168"/>
          </a:xfrm>
          <a:prstGeom prst="rect">
            <a:avLst/>
          </a:prstGeom>
          <a:solidFill>
            <a:srgbClr val="223141"/>
          </a:solidFill>
          <a:ln w="12700">
            <a:solidFill>
              <a:srgbClr val="333333"/>
            </a:solidFill>
            <a:prstDash val="solid"/>
          </a:ln>
        </p:spPr>
      </p:sp>
      <p:sp>
        <p:nvSpPr>
          <p:cNvPr id="86" name="Shape 84"/>
          <p:cNvSpPr/>
          <p:nvPr/>
        </p:nvSpPr>
        <p:spPr>
          <a:xfrm>
            <a:off x="10351008" y="3529584"/>
            <a:ext cx="201168" cy="201168"/>
          </a:xfrm>
          <a:prstGeom prst="rect">
            <a:avLst/>
          </a:prstGeom>
          <a:solidFill>
            <a:srgbClr val="223141"/>
          </a:solidFill>
          <a:ln w="12700">
            <a:solidFill>
              <a:srgbClr val="333333"/>
            </a:solidFill>
            <a:prstDash val="solid"/>
          </a:ln>
        </p:spPr>
      </p:sp>
      <p:sp>
        <p:nvSpPr>
          <p:cNvPr id="87" name="Shape 85"/>
          <p:cNvSpPr/>
          <p:nvPr/>
        </p:nvSpPr>
        <p:spPr>
          <a:xfrm>
            <a:off x="10634472" y="3529584"/>
            <a:ext cx="201168" cy="201168"/>
          </a:xfrm>
          <a:prstGeom prst="rect">
            <a:avLst/>
          </a:prstGeom>
          <a:solidFill>
            <a:srgbClr val="223141"/>
          </a:solidFill>
          <a:ln w="12700">
            <a:solidFill>
              <a:srgbClr val="333333"/>
            </a:solidFill>
            <a:prstDash val="solid"/>
          </a:ln>
        </p:spPr>
      </p:sp>
      <p:sp>
        <p:nvSpPr>
          <p:cNvPr id="88" name="Shape 86"/>
          <p:cNvSpPr/>
          <p:nvPr/>
        </p:nvSpPr>
        <p:spPr>
          <a:xfrm>
            <a:off x="10917936" y="3529584"/>
            <a:ext cx="201168" cy="201168"/>
          </a:xfrm>
          <a:prstGeom prst="rect">
            <a:avLst/>
          </a:prstGeom>
          <a:solidFill>
            <a:srgbClr val="223141"/>
          </a:solidFill>
          <a:ln w="12700">
            <a:solidFill>
              <a:srgbClr val="333333"/>
            </a:solidFill>
            <a:prstDash val="solid"/>
          </a:ln>
        </p:spPr>
      </p:sp>
      <p:sp>
        <p:nvSpPr>
          <p:cNvPr id="89" name="Shape 87"/>
          <p:cNvSpPr/>
          <p:nvPr/>
        </p:nvSpPr>
        <p:spPr>
          <a:xfrm>
            <a:off x="11201400" y="3529584"/>
            <a:ext cx="201168" cy="201168"/>
          </a:xfrm>
          <a:prstGeom prst="rect">
            <a:avLst/>
          </a:prstGeom>
          <a:solidFill>
            <a:srgbClr val="223141"/>
          </a:solidFill>
          <a:ln w="12700">
            <a:solidFill>
              <a:srgbClr val="333333"/>
            </a:solidFill>
            <a:prstDash val="solid"/>
          </a:ln>
        </p:spPr>
      </p:sp>
      <p:sp>
        <p:nvSpPr>
          <p:cNvPr id="90" name="Shape 88"/>
          <p:cNvSpPr/>
          <p:nvPr/>
        </p:nvSpPr>
        <p:spPr>
          <a:xfrm>
            <a:off x="11484864" y="3529584"/>
            <a:ext cx="201168" cy="201168"/>
          </a:xfrm>
          <a:prstGeom prst="rect">
            <a:avLst/>
          </a:prstGeom>
          <a:solidFill>
            <a:srgbClr val="223141"/>
          </a:solidFill>
          <a:ln w="12700">
            <a:solidFill>
              <a:srgbClr val="333333"/>
            </a:solidFill>
            <a:prstDash val="solid"/>
          </a:ln>
        </p:spPr>
      </p:sp>
      <p:sp>
        <p:nvSpPr>
          <p:cNvPr id="91" name="Shape 89"/>
          <p:cNvSpPr/>
          <p:nvPr/>
        </p:nvSpPr>
        <p:spPr>
          <a:xfrm>
            <a:off x="8366760" y="3813048"/>
            <a:ext cx="201168" cy="201168"/>
          </a:xfrm>
          <a:prstGeom prst="rect">
            <a:avLst/>
          </a:prstGeom>
          <a:solidFill>
            <a:srgbClr val="223141"/>
          </a:solidFill>
          <a:ln w="12700">
            <a:solidFill>
              <a:srgbClr val="333333"/>
            </a:solidFill>
            <a:prstDash val="solid"/>
          </a:ln>
        </p:spPr>
      </p:sp>
      <p:sp>
        <p:nvSpPr>
          <p:cNvPr id="92" name="Shape 90"/>
          <p:cNvSpPr/>
          <p:nvPr/>
        </p:nvSpPr>
        <p:spPr>
          <a:xfrm>
            <a:off x="8650224" y="3813048"/>
            <a:ext cx="201168" cy="201168"/>
          </a:xfrm>
          <a:prstGeom prst="rect">
            <a:avLst/>
          </a:prstGeom>
          <a:solidFill>
            <a:srgbClr val="223141"/>
          </a:solidFill>
          <a:ln w="12700">
            <a:solidFill>
              <a:srgbClr val="333333"/>
            </a:solidFill>
            <a:prstDash val="solid"/>
          </a:ln>
        </p:spPr>
      </p:sp>
      <p:sp>
        <p:nvSpPr>
          <p:cNvPr id="93" name="Shape 91"/>
          <p:cNvSpPr/>
          <p:nvPr/>
        </p:nvSpPr>
        <p:spPr>
          <a:xfrm>
            <a:off x="8933688" y="3813048"/>
            <a:ext cx="201168" cy="201168"/>
          </a:xfrm>
          <a:prstGeom prst="rect">
            <a:avLst/>
          </a:prstGeom>
          <a:solidFill>
            <a:srgbClr val="223141"/>
          </a:solidFill>
          <a:ln w="12700">
            <a:solidFill>
              <a:srgbClr val="333333"/>
            </a:solidFill>
            <a:prstDash val="solid"/>
          </a:ln>
        </p:spPr>
      </p:sp>
      <p:sp>
        <p:nvSpPr>
          <p:cNvPr id="94" name="Shape 92"/>
          <p:cNvSpPr/>
          <p:nvPr/>
        </p:nvSpPr>
        <p:spPr>
          <a:xfrm>
            <a:off x="9217152" y="3813048"/>
            <a:ext cx="201168" cy="201168"/>
          </a:xfrm>
          <a:prstGeom prst="rect">
            <a:avLst/>
          </a:prstGeom>
          <a:solidFill>
            <a:srgbClr val="223141"/>
          </a:solidFill>
          <a:ln w="12700">
            <a:solidFill>
              <a:srgbClr val="333333"/>
            </a:solidFill>
            <a:prstDash val="solid"/>
          </a:ln>
        </p:spPr>
      </p:sp>
      <p:sp>
        <p:nvSpPr>
          <p:cNvPr id="95" name="Shape 93"/>
          <p:cNvSpPr/>
          <p:nvPr/>
        </p:nvSpPr>
        <p:spPr>
          <a:xfrm>
            <a:off x="9500616" y="3813048"/>
            <a:ext cx="201168" cy="201168"/>
          </a:xfrm>
          <a:prstGeom prst="rect">
            <a:avLst/>
          </a:prstGeom>
          <a:solidFill>
            <a:srgbClr val="223141"/>
          </a:solidFill>
          <a:ln w="12700">
            <a:solidFill>
              <a:srgbClr val="333333"/>
            </a:solidFill>
            <a:prstDash val="solid"/>
          </a:ln>
        </p:spPr>
      </p:sp>
      <p:sp>
        <p:nvSpPr>
          <p:cNvPr id="96" name="Shape 94"/>
          <p:cNvSpPr/>
          <p:nvPr/>
        </p:nvSpPr>
        <p:spPr>
          <a:xfrm>
            <a:off x="9784080" y="3813048"/>
            <a:ext cx="201168" cy="201168"/>
          </a:xfrm>
          <a:prstGeom prst="rect">
            <a:avLst/>
          </a:prstGeom>
          <a:solidFill>
            <a:srgbClr val="223141"/>
          </a:solidFill>
          <a:ln w="12700">
            <a:solidFill>
              <a:srgbClr val="333333"/>
            </a:solidFill>
            <a:prstDash val="solid"/>
          </a:ln>
        </p:spPr>
      </p:sp>
      <p:sp>
        <p:nvSpPr>
          <p:cNvPr id="97" name="Shape 95"/>
          <p:cNvSpPr/>
          <p:nvPr/>
        </p:nvSpPr>
        <p:spPr>
          <a:xfrm>
            <a:off x="10067544" y="3813048"/>
            <a:ext cx="201168" cy="201168"/>
          </a:xfrm>
          <a:prstGeom prst="rect">
            <a:avLst/>
          </a:prstGeom>
          <a:solidFill>
            <a:srgbClr val="223141"/>
          </a:solidFill>
          <a:ln w="12700">
            <a:solidFill>
              <a:srgbClr val="333333"/>
            </a:solidFill>
            <a:prstDash val="solid"/>
          </a:ln>
        </p:spPr>
      </p:sp>
      <p:sp>
        <p:nvSpPr>
          <p:cNvPr id="98" name="Shape 96"/>
          <p:cNvSpPr/>
          <p:nvPr/>
        </p:nvSpPr>
        <p:spPr>
          <a:xfrm>
            <a:off x="10351008" y="3813048"/>
            <a:ext cx="201168" cy="201168"/>
          </a:xfrm>
          <a:prstGeom prst="rect">
            <a:avLst/>
          </a:prstGeom>
          <a:solidFill>
            <a:srgbClr val="223141"/>
          </a:solidFill>
          <a:ln w="12700">
            <a:solidFill>
              <a:srgbClr val="333333"/>
            </a:solidFill>
            <a:prstDash val="solid"/>
          </a:ln>
        </p:spPr>
      </p:sp>
      <p:sp>
        <p:nvSpPr>
          <p:cNvPr id="99" name="Shape 97"/>
          <p:cNvSpPr/>
          <p:nvPr/>
        </p:nvSpPr>
        <p:spPr>
          <a:xfrm>
            <a:off x="10634472" y="3813048"/>
            <a:ext cx="201168" cy="201168"/>
          </a:xfrm>
          <a:prstGeom prst="rect">
            <a:avLst/>
          </a:prstGeom>
          <a:solidFill>
            <a:srgbClr val="223141"/>
          </a:solidFill>
          <a:ln w="12700">
            <a:solidFill>
              <a:srgbClr val="333333"/>
            </a:solidFill>
            <a:prstDash val="solid"/>
          </a:ln>
        </p:spPr>
      </p:sp>
      <p:sp>
        <p:nvSpPr>
          <p:cNvPr id="100" name="Shape 98"/>
          <p:cNvSpPr/>
          <p:nvPr/>
        </p:nvSpPr>
        <p:spPr>
          <a:xfrm>
            <a:off x="10917936" y="3813048"/>
            <a:ext cx="201168" cy="201168"/>
          </a:xfrm>
          <a:prstGeom prst="rect">
            <a:avLst/>
          </a:prstGeom>
          <a:solidFill>
            <a:srgbClr val="223141"/>
          </a:solidFill>
          <a:ln w="12700">
            <a:solidFill>
              <a:srgbClr val="333333"/>
            </a:solidFill>
            <a:prstDash val="solid"/>
          </a:ln>
        </p:spPr>
      </p:sp>
      <p:sp>
        <p:nvSpPr>
          <p:cNvPr id="101" name="Shape 99"/>
          <p:cNvSpPr/>
          <p:nvPr/>
        </p:nvSpPr>
        <p:spPr>
          <a:xfrm>
            <a:off x="11201400" y="3813048"/>
            <a:ext cx="201168" cy="201168"/>
          </a:xfrm>
          <a:prstGeom prst="rect">
            <a:avLst/>
          </a:prstGeom>
          <a:solidFill>
            <a:srgbClr val="223141"/>
          </a:solidFill>
          <a:ln w="12700">
            <a:solidFill>
              <a:srgbClr val="333333"/>
            </a:solidFill>
            <a:prstDash val="solid"/>
          </a:ln>
        </p:spPr>
      </p:sp>
      <p:sp>
        <p:nvSpPr>
          <p:cNvPr id="102" name="Shape 100"/>
          <p:cNvSpPr/>
          <p:nvPr/>
        </p:nvSpPr>
        <p:spPr>
          <a:xfrm>
            <a:off x="11484864" y="3813048"/>
            <a:ext cx="201168" cy="201168"/>
          </a:xfrm>
          <a:prstGeom prst="rect">
            <a:avLst/>
          </a:prstGeom>
          <a:solidFill>
            <a:srgbClr val="223141"/>
          </a:solidFill>
          <a:ln w="12700">
            <a:solidFill>
              <a:srgbClr val="333333"/>
            </a:solidFill>
            <a:prstDash val="solid"/>
          </a:ln>
        </p:spPr>
      </p:sp>
      <p:sp>
        <p:nvSpPr>
          <p:cNvPr id="103" name="Shape 101"/>
          <p:cNvSpPr/>
          <p:nvPr/>
        </p:nvSpPr>
        <p:spPr>
          <a:xfrm>
            <a:off x="8366760" y="4096512"/>
            <a:ext cx="201168" cy="201168"/>
          </a:xfrm>
          <a:prstGeom prst="rect">
            <a:avLst/>
          </a:prstGeom>
          <a:solidFill>
            <a:srgbClr val="223141"/>
          </a:solidFill>
          <a:ln w="12700">
            <a:solidFill>
              <a:srgbClr val="333333"/>
            </a:solidFill>
            <a:prstDash val="solid"/>
          </a:ln>
        </p:spPr>
      </p:sp>
      <p:sp>
        <p:nvSpPr>
          <p:cNvPr id="104" name="Shape 102"/>
          <p:cNvSpPr/>
          <p:nvPr/>
        </p:nvSpPr>
        <p:spPr>
          <a:xfrm>
            <a:off x="8650224" y="4096512"/>
            <a:ext cx="201168" cy="201168"/>
          </a:xfrm>
          <a:prstGeom prst="rect">
            <a:avLst/>
          </a:prstGeom>
          <a:solidFill>
            <a:srgbClr val="223141"/>
          </a:solidFill>
          <a:ln w="12700">
            <a:solidFill>
              <a:srgbClr val="333333"/>
            </a:solidFill>
            <a:prstDash val="solid"/>
          </a:ln>
        </p:spPr>
      </p:sp>
      <p:sp>
        <p:nvSpPr>
          <p:cNvPr id="105" name="Shape 103"/>
          <p:cNvSpPr/>
          <p:nvPr/>
        </p:nvSpPr>
        <p:spPr>
          <a:xfrm>
            <a:off x="8933688" y="4096512"/>
            <a:ext cx="201168" cy="201168"/>
          </a:xfrm>
          <a:prstGeom prst="rect">
            <a:avLst/>
          </a:prstGeom>
          <a:solidFill>
            <a:srgbClr val="223141"/>
          </a:solidFill>
          <a:ln w="12700">
            <a:solidFill>
              <a:srgbClr val="333333"/>
            </a:solidFill>
            <a:prstDash val="solid"/>
          </a:ln>
        </p:spPr>
      </p:sp>
      <p:sp>
        <p:nvSpPr>
          <p:cNvPr id="106" name="Shape 104"/>
          <p:cNvSpPr/>
          <p:nvPr/>
        </p:nvSpPr>
        <p:spPr>
          <a:xfrm>
            <a:off x="9217152" y="4096512"/>
            <a:ext cx="201168" cy="201168"/>
          </a:xfrm>
          <a:prstGeom prst="rect">
            <a:avLst/>
          </a:prstGeom>
          <a:solidFill>
            <a:srgbClr val="223141"/>
          </a:solidFill>
          <a:ln w="12700">
            <a:solidFill>
              <a:srgbClr val="333333"/>
            </a:solidFill>
            <a:prstDash val="solid"/>
          </a:ln>
        </p:spPr>
      </p:sp>
      <p:sp>
        <p:nvSpPr>
          <p:cNvPr id="107" name="Shape 105"/>
          <p:cNvSpPr/>
          <p:nvPr/>
        </p:nvSpPr>
        <p:spPr>
          <a:xfrm>
            <a:off x="9500616" y="4096512"/>
            <a:ext cx="201168" cy="201168"/>
          </a:xfrm>
          <a:prstGeom prst="rect">
            <a:avLst/>
          </a:prstGeom>
          <a:solidFill>
            <a:srgbClr val="223141"/>
          </a:solidFill>
          <a:ln w="12700">
            <a:solidFill>
              <a:srgbClr val="333333"/>
            </a:solidFill>
            <a:prstDash val="solid"/>
          </a:ln>
        </p:spPr>
      </p:sp>
      <p:sp>
        <p:nvSpPr>
          <p:cNvPr id="108" name="Shape 106"/>
          <p:cNvSpPr/>
          <p:nvPr/>
        </p:nvSpPr>
        <p:spPr>
          <a:xfrm>
            <a:off x="9784080" y="4096512"/>
            <a:ext cx="201168" cy="201168"/>
          </a:xfrm>
          <a:prstGeom prst="rect">
            <a:avLst/>
          </a:prstGeom>
          <a:solidFill>
            <a:srgbClr val="223141"/>
          </a:solidFill>
          <a:ln w="12700">
            <a:solidFill>
              <a:srgbClr val="333333"/>
            </a:solidFill>
            <a:prstDash val="solid"/>
          </a:ln>
        </p:spPr>
      </p:sp>
      <p:sp>
        <p:nvSpPr>
          <p:cNvPr id="109" name="Shape 107"/>
          <p:cNvSpPr/>
          <p:nvPr/>
        </p:nvSpPr>
        <p:spPr>
          <a:xfrm>
            <a:off x="10067544" y="4096512"/>
            <a:ext cx="201168" cy="201168"/>
          </a:xfrm>
          <a:prstGeom prst="rect">
            <a:avLst/>
          </a:prstGeom>
          <a:solidFill>
            <a:srgbClr val="223141"/>
          </a:solidFill>
          <a:ln w="12700">
            <a:solidFill>
              <a:srgbClr val="333333"/>
            </a:solidFill>
            <a:prstDash val="solid"/>
          </a:ln>
        </p:spPr>
      </p:sp>
      <p:sp>
        <p:nvSpPr>
          <p:cNvPr id="110" name="Shape 108"/>
          <p:cNvSpPr/>
          <p:nvPr/>
        </p:nvSpPr>
        <p:spPr>
          <a:xfrm>
            <a:off x="10351008" y="4096512"/>
            <a:ext cx="201168" cy="201168"/>
          </a:xfrm>
          <a:prstGeom prst="rect">
            <a:avLst/>
          </a:prstGeom>
          <a:solidFill>
            <a:srgbClr val="223141"/>
          </a:solidFill>
          <a:ln w="12700">
            <a:solidFill>
              <a:srgbClr val="333333"/>
            </a:solidFill>
            <a:prstDash val="solid"/>
          </a:ln>
        </p:spPr>
      </p:sp>
      <p:sp>
        <p:nvSpPr>
          <p:cNvPr id="111" name="Shape 109"/>
          <p:cNvSpPr/>
          <p:nvPr/>
        </p:nvSpPr>
        <p:spPr>
          <a:xfrm>
            <a:off x="10634472" y="4096512"/>
            <a:ext cx="201168" cy="201168"/>
          </a:xfrm>
          <a:prstGeom prst="rect">
            <a:avLst/>
          </a:prstGeom>
          <a:solidFill>
            <a:srgbClr val="223141"/>
          </a:solidFill>
          <a:ln w="12700">
            <a:solidFill>
              <a:srgbClr val="333333"/>
            </a:solidFill>
            <a:prstDash val="solid"/>
          </a:ln>
        </p:spPr>
      </p:sp>
      <p:sp>
        <p:nvSpPr>
          <p:cNvPr id="112" name="Shape 110"/>
          <p:cNvSpPr/>
          <p:nvPr/>
        </p:nvSpPr>
        <p:spPr>
          <a:xfrm>
            <a:off x="10917936" y="4096512"/>
            <a:ext cx="201168" cy="201168"/>
          </a:xfrm>
          <a:prstGeom prst="rect">
            <a:avLst/>
          </a:prstGeom>
          <a:solidFill>
            <a:srgbClr val="223141"/>
          </a:solidFill>
          <a:ln w="12700">
            <a:solidFill>
              <a:srgbClr val="333333"/>
            </a:solidFill>
            <a:prstDash val="solid"/>
          </a:ln>
        </p:spPr>
      </p:sp>
      <p:sp>
        <p:nvSpPr>
          <p:cNvPr id="113" name="Shape 111"/>
          <p:cNvSpPr/>
          <p:nvPr/>
        </p:nvSpPr>
        <p:spPr>
          <a:xfrm>
            <a:off x="11201400" y="4096512"/>
            <a:ext cx="201168" cy="201168"/>
          </a:xfrm>
          <a:prstGeom prst="rect">
            <a:avLst/>
          </a:prstGeom>
          <a:solidFill>
            <a:srgbClr val="223141"/>
          </a:solidFill>
          <a:ln w="12700">
            <a:solidFill>
              <a:srgbClr val="333333"/>
            </a:solidFill>
            <a:prstDash val="solid"/>
          </a:ln>
        </p:spPr>
      </p:sp>
      <p:sp>
        <p:nvSpPr>
          <p:cNvPr id="114" name="Shape 112"/>
          <p:cNvSpPr/>
          <p:nvPr/>
        </p:nvSpPr>
        <p:spPr>
          <a:xfrm>
            <a:off x="11484864" y="4096512"/>
            <a:ext cx="201168" cy="201168"/>
          </a:xfrm>
          <a:prstGeom prst="rect">
            <a:avLst/>
          </a:prstGeom>
          <a:solidFill>
            <a:srgbClr val="223141"/>
          </a:solidFill>
          <a:ln w="12700">
            <a:solidFill>
              <a:srgbClr val="333333"/>
            </a:solidFill>
            <a:prstDash val="solid"/>
          </a:ln>
        </p:spPr>
      </p:sp>
      <p:sp>
        <p:nvSpPr>
          <p:cNvPr id="115" name="Shape 113"/>
          <p:cNvSpPr/>
          <p:nvPr/>
        </p:nvSpPr>
        <p:spPr>
          <a:xfrm>
            <a:off x="8366760" y="4379976"/>
            <a:ext cx="201168" cy="201168"/>
          </a:xfrm>
          <a:prstGeom prst="rect">
            <a:avLst/>
          </a:prstGeom>
          <a:solidFill>
            <a:srgbClr val="223141"/>
          </a:solidFill>
          <a:ln w="12700">
            <a:solidFill>
              <a:srgbClr val="333333"/>
            </a:solidFill>
            <a:prstDash val="solid"/>
          </a:ln>
        </p:spPr>
      </p:sp>
      <p:sp>
        <p:nvSpPr>
          <p:cNvPr id="116" name="Shape 114"/>
          <p:cNvSpPr/>
          <p:nvPr/>
        </p:nvSpPr>
        <p:spPr>
          <a:xfrm>
            <a:off x="8650224" y="4379976"/>
            <a:ext cx="201168" cy="201168"/>
          </a:xfrm>
          <a:prstGeom prst="rect">
            <a:avLst/>
          </a:prstGeom>
          <a:solidFill>
            <a:srgbClr val="223141"/>
          </a:solidFill>
          <a:ln w="12700">
            <a:solidFill>
              <a:srgbClr val="333333"/>
            </a:solidFill>
            <a:prstDash val="solid"/>
          </a:ln>
        </p:spPr>
      </p:sp>
      <p:sp>
        <p:nvSpPr>
          <p:cNvPr id="117" name="Shape 115"/>
          <p:cNvSpPr/>
          <p:nvPr/>
        </p:nvSpPr>
        <p:spPr>
          <a:xfrm>
            <a:off x="8933688" y="4379976"/>
            <a:ext cx="201168" cy="201168"/>
          </a:xfrm>
          <a:prstGeom prst="rect">
            <a:avLst/>
          </a:prstGeom>
          <a:solidFill>
            <a:srgbClr val="223141"/>
          </a:solidFill>
          <a:ln w="12700">
            <a:solidFill>
              <a:srgbClr val="333333"/>
            </a:solidFill>
            <a:prstDash val="solid"/>
          </a:ln>
        </p:spPr>
      </p:sp>
      <p:sp>
        <p:nvSpPr>
          <p:cNvPr id="118" name="Shape 116"/>
          <p:cNvSpPr/>
          <p:nvPr/>
        </p:nvSpPr>
        <p:spPr>
          <a:xfrm>
            <a:off x="9217152" y="4379976"/>
            <a:ext cx="201168" cy="201168"/>
          </a:xfrm>
          <a:prstGeom prst="rect">
            <a:avLst/>
          </a:prstGeom>
          <a:solidFill>
            <a:srgbClr val="223141"/>
          </a:solidFill>
          <a:ln w="12700">
            <a:solidFill>
              <a:srgbClr val="333333"/>
            </a:solidFill>
            <a:prstDash val="solid"/>
          </a:ln>
        </p:spPr>
      </p:sp>
      <p:sp>
        <p:nvSpPr>
          <p:cNvPr id="119" name="Shape 117"/>
          <p:cNvSpPr/>
          <p:nvPr/>
        </p:nvSpPr>
        <p:spPr>
          <a:xfrm>
            <a:off x="9500616" y="4379976"/>
            <a:ext cx="201168" cy="201168"/>
          </a:xfrm>
          <a:prstGeom prst="rect">
            <a:avLst/>
          </a:prstGeom>
          <a:solidFill>
            <a:srgbClr val="223141"/>
          </a:solidFill>
          <a:ln w="12700">
            <a:solidFill>
              <a:srgbClr val="333333"/>
            </a:solidFill>
            <a:prstDash val="solid"/>
          </a:ln>
        </p:spPr>
      </p:sp>
      <p:sp>
        <p:nvSpPr>
          <p:cNvPr id="120" name="Shape 118"/>
          <p:cNvSpPr/>
          <p:nvPr/>
        </p:nvSpPr>
        <p:spPr>
          <a:xfrm>
            <a:off x="9784080" y="4379976"/>
            <a:ext cx="201168" cy="201168"/>
          </a:xfrm>
          <a:prstGeom prst="rect">
            <a:avLst/>
          </a:prstGeom>
          <a:solidFill>
            <a:srgbClr val="223141"/>
          </a:solidFill>
          <a:ln w="12700">
            <a:solidFill>
              <a:srgbClr val="333333"/>
            </a:solidFill>
            <a:prstDash val="solid"/>
          </a:ln>
        </p:spPr>
      </p:sp>
      <p:sp>
        <p:nvSpPr>
          <p:cNvPr id="121" name="Shape 119"/>
          <p:cNvSpPr/>
          <p:nvPr/>
        </p:nvSpPr>
        <p:spPr>
          <a:xfrm>
            <a:off x="10067544" y="4379976"/>
            <a:ext cx="201168" cy="201168"/>
          </a:xfrm>
          <a:prstGeom prst="rect">
            <a:avLst/>
          </a:prstGeom>
          <a:solidFill>
            <a:srgbClr val="223141"/>
          </a:solidFill>
          <a:ln w="12700">
            <a:solidFill>
              <a:srgbClr val="333333"/>
            </a:solidFill>
            <a:prstDash val="solid"/>
          </a:ln>
        </p:spPr>
      </p:sp>
      <p:sp>
        <p:nvSpPr>
          <p:cNvPr id="122" name="Shape 120"/>
          <p:cNvSpPr/>
          <p:nvPr/>
        </p:nvSpPr>
        <p:spPr>
          <a:xfrm>
            <a:off x="10351008" y="4379976"/>
            <a:ext cx="201168" cy="201168"/>
          </a:xfrm>
          <a:prstGeom prst="rect">
            <a:avLst/>
          </a:prstGeom>
          <a:solidFill>
            <a:srgbClr val="223141"/>
          </a:solidFill>
          <a:ln w="12700">
            <a:solidFill>
              <a:srgbClr val="333333"/>
            </a:solidFill>
            <a:prstDash val="solid"/>
          </a:ln>
        </p:spPr>
      </p:sp>
      <p:sp>
        <p:nvSpPr>
          <p:cNvPr id="123" name="Shape 121"/>
          <p:cNvSpPr/>
          <p:nvPr/>
        </p:nvSpPr>
        <p:spPr>
          <a:xfrm>
            <a:off x="10634472" y="4379976"/>
            <a:ext cx="201168" cy="201168"/>
          </a:xfrm>
          <a:prstGeom prst="rect">
            <a:avLst/>
          </a:prstGeom>
          <a:solidFill>
            <a:srgbClr val="223141"/>
          </a:solidFill>
          <a:ln w="12700">
            <a:solidFill>
              <a:srgbClr val="333333"/>
            </a:solidFill>
            <a:prstDash val="solid"/>
          </a:ln>
        </p:spPr>
      </p:sp>
      <p:sp>
        <p:nvSpPr>
          <p:cNvPr id="124" name="Shape 122"/>
          <p:cNvSpPr/>
          <p:nvPr/>
        </p:nvSpPr>
        <p:spPr>
          <a:xfrm>
            <a:off x="10917936" y="4379976"/>
            <a:ext cx="201168" cy="201168"/>
          </a:xfrm>
          <a:prstGeom prst="rect">
            <a:avLst/>
          </a:prstGeom>
          <a:solidFill>
            <a:srgbClr val="223141"/>
          </a:solidFill>
          <a:ln w="12700">
            <a:solidFill>
              <a:srgbClr val="333333"/>
            </a:solidFill>
            <a:prstDash val="solid"/>
          </a:ln>
        </p:spPr>
      </p:sp>
      <p:sp>
        <p:nvSpPr>
          <p:cNvPr id="125" name="Shape 123"/>
          <p:cNvSpPr/>
          <p:nvPr/>
        </p:nvSpPr>
        <p:spPr>
          <a:xfrm>
            <a:off x="11201400" y="4379976"/>
            <a:ext cx="201168" cy="201168"/>
          </a:xfrm>
          <a:prstGeom prst="rect">
            <a:avLst/>
          </a:prstGeom>
          <a:solidFill>
            <a:srgbClr val="223141"/>
          </a:solidFill>
          <a:ln w="12700">
            <a:solidFill>
              <a:srgbClr val="333333"/>
            </a:solidFill>
            <a:prstDash val="solid"/>
          </a:ln>
        </p:spPr>
      </p:sp>
      <p:sp>
        <p:nvSpPr>
          <p:cNvPr id="126" name="Shape 124"/>
          <p:cNvSpPr/>
          <p:nvPr/>
        </p:nvSpPr>
        <p:spPr>
          <a:xfrm>
            <a:off x="11484864" y="4379976"/>
            <a:ext cx="201168" cy="201168"/>
          </a:xfrm>
          <a:prstGeom prst="rect">
            <a:avLst/>
          </a:prstGeom>
          <a:solidFill>
            <a:srgbClr val="223141"/>
          </a:solidFill>
          <a:ln w="12700">
            <a:solidFill>
              <a:srgbClr val="333333"/>
            </a:solidFill>
            <a:prstDash val="solid"/>
          </a:ln>
        </p:spPr>
      </p:sp>
      <p:sp>
        <p:nvSpPr>
          <p:cNvPr id="127" name="Shape 125"/>
          <p:cNvSpPr/>
          <p:nvPr/>
        </p:nvSpPr>
        <p:spPr>
          <a:xfrm>
            <a:off x="8366760" y="4663440"/>
            <a:ext cx="201168" cy="201168"/>
          </a:xfrm>
          <a:prstGeom prst="rect">
            <a:avLst/>
          </a:prstGeom>
          <a:solidFill>
            <a:srgbClr val="223141"/>
          </a:solidFill>
          <a:ln w="12700">
            <a:solidFill>
              <a:srgbClr val="333333"/>
            </a:solidFill>
            <a:prstDash val="solid"/>
          </a:ln>
        </p:spPr>
      </p:sp>
      <p:sp>
        <p:nvSpPr>
          <p:cNvPr id="128" name="Shape 126"/>
          <p:cNvSpPr/>
          <p:nvPr/>
        </p:nvSpPr>
        <p:spPr>
          <a:xfrm>
            <a:off x="8650224" y="4663440"/>
            <a:ext cx="201168" cy="201168"/>
          </a:xfrm>
          <a:prstGeom prst="rect">
            <a:avLst/>
          </a:prstGeom>
          <a:solidFill>
            <a:srgbClr val="223141"/>
          </a:solidFill>
          <a:ln w="12700">
            <a:solidFill>
              <a:srgbClr val="333333"/>
            </a:solidFill>
            <a:prstDash val="solid"/>
          </a:ln>
        </p:spPr>
      </p:sp>
      <p:sp>
        <p:nvSpPr>
          <p:cNvPr id="129" name="Shape 127"/>
          <p:cNvSpPr/>
          <p:nvPr/>
        </p:nvSpPr>
        <p:spPr>
          <a:xfrm>
            <a:off x="8933688" y="4663440"/>
            <a:ext cx="201168" cy="201168"/>
          </a:xfrm>
          <a:prstGeom prst="rect">
            <a:avLst/>
          </a:prstGeom>
          <a:solidFill>
            <a:srgbClr val="223141"/>
          </a:solidFill>
          <a:ln w="12700">
            <a:solidFill>
              <a:srgbClr val="333333"/>
            </a:solidFill>
            <a:prstDash val="solid"/>
          </a:ln>
        </p:spPr>
      </p:sp>
      <p:sp>
        <p:nvSpPr>
          <p:cNvPr id="130" name="Shape 128"/>
          <p:cNvSpPr/>
          <p:nvPr/>
        </p:nvSpPr>
        <p:spPr>
          <a:xfrm>
            <a:off x="9217152" y="4663440"/>
            <a:ext cx="201168" cy="201168"/>
          </a:xfrm>
          <a:prstGeom prst="rect">
            <a:avLst/>
          </a:prstGeom>
          <a:solidFill>
            <a:srgbClr val="223141"/>
          </a:solidFill>
          <a:ln w="12700">
            <a:solidFill>
              <a:srgbClr val="333333"/>
            </a:solidFill>
            <a:prstDash val="solid"/>
          </a:ln>
        </p:spPr>
      </p:sp>
      <p:sp>
        <p:nvSpPr>
          <p:cNvPr id="131" name="Shape 129"/>
          <p:cNvSpPr/>
          <p:nvPr/>
        </p:nvSpPr>
        <p:spPr>
          <a:xfrm>
            <a:off x="9500616" y="4663440"/>
            <a:ext cx="201168" cy="201168"/>
          </a:xfrm>
          <a:prstGeom prst="rect">
            <a:avLst/>
          </a:prstGeom>
          <a:solidFill>
            <a:srgbClr val="223141"/>
          </a:solidFill>
          <a:ln w="12700">
            <a:solidFill>
              <a:srgbClr val="333333"/>
            </a:solidFill>
            <a:prstDash val="solid"/>
          </a:ln>
        </p:spPr>
      </p:sp>
      <p:sp>
        <p:nvSpPr>
          <p:cNvPr id="132" name="Shape 130"/>
          <p:cNvSpPr/>
          <p:nvPr/>
        </p:nvSpPr>
        <p:spPr>
          <a:xfrm>
            <a:off x="9784080" y="4663440"/>
            <a:ext cx="201168" cy="201168"/>
          </a:xfrm>
          <a:prstGeom prst="rect">
            <a:avLst/>
          </a:prstGeom>
          <a:solidFill>
            <a:srgbClr val="223141"/>
          </a:solidFill>
          <a:ln w="12700">
            <a:solidFill>
              <a:srgbClr val="333333"/>
            </a:solidFill>
            <a:prstDash val="solid"/>
          </a:ln>
        </p:spPr>
      </p:sp>
      <p:sp>
        <p:nvSpPr>
          <p:cNvPr id="133" name="Shape 131"/>
          <p:cNvSpPr/>
          <p:nvPr/>
        </p:nvSpPr>
        <p:spPr>
          <a:xfrm>
            <a:off x="10067544" y="4663440"/>
            <a:ext cx="201168" cy="201168"/>
          </a:xfrm>
          <a:prstGeom prst="rect">
            <a:avLst/>
          </a:prstGeom>
          <a:solidFill>
            <a:srgbClr val="223141"/>
          </a:solidFill>
          <a:ln w="12700">
            <a:solidFill>
              <a:srgbClr val="333333"/>
            </a:solidFill>
            <a:prstDash val="solid"/>
          </a:ln>
        </p:spPr>
      </p:sp>
      <p:sp>
        <p:nvSpPr>
          <p:cNvPr id="134" name="Shape 132"/>
          <p:cNvSpPr/>
          <p:nvPr/>
        </p:nvSpPr>
        <p:spPr>
          <a:xfrm>
            <a:off x="10351008" y="4663440"/>
            <a:ext cx="201168" cy="201168"/>
          </a:xfrm>
          <a:prstGeom prst="rect">
            <a:avLst/>
          </a:prstGeom>
          <a:solidFill>
            <a:srgbClr val="223141"/>
          </a:solidFill>
          <a:ln w="12700">
            <a:solidFill>
              <a:srgbClr val="333333"/>
            </a:solidFill>
            <a:prstDash val="solid"/>
          </a:ln>
        </p:spPr>
      </p:sp>
      <p:sp>
        <p:nvSpPr>
          <p:cNvPr id="135" name="Shape 133"/>
          <p:cNvSpPr/>
          <p:nvPr/>
        </p:nvSpPr>
        <p:spPr>
          <a:xfrm>
            <a:off x="10634472" y="4663440"/>
            <a:ext cx="201168" cy="201168"/>
          </a:xfrm>
          <a:prstGeom prst="rect">
            <a:avLst/>
          </a:prstGeom>
          <a:solidFill>
            <a:srgbClr val="223141"/>
          </a:solidFill>
          <a:ln w="12700">
            <a:solidFill>
              <a:srgbClr val="333333"/>
            </a:solidFill>
            <a:prstDash val="solid"/>
          </a:ln>
        </p:spPr>
      </p:sp>
      <p:sp>
        <p:nvSpPr>
          <p:cNvPr id="136" name="Shape 134"/>
          <p:cNvSpPr/>
          <p:nvPr/>
        </p:nvSpPr>
        <p:spPr>
          <a:xfrm>
            <a:off x="10917936" y="4663440"/>
            <a:ext cx="201168" cy="201168"/>
          </a:xfrm>
          <a:prstGeom prst="rect">
            <a:avLst/>
          </a:prstGeom>
          <a:solidFill>
            <a:srgbClr val="223141"/>
          </a:solidFill>
          <a:ln w="12700">
            <a:solidFill>
              <a:srgbClr val="333333"/>
            </a:solidFill>
            <a:prstDash val="solid"/>
          </a:ln>
        </p:spPr>
      </p:sp>
      <p:sp>
        <p:nvSpPr>
          <p:cNvPr id="137" name="Shape 135"/>
          <p:cNvSpPr/>
          <p:nvPr/>
        </p:nvSpPr>
        <p:spPr>
          <a:xfrm>
            <a:off x="11201400" y="4663440"/>
            <a:ext cx="201168" cy="201168"/>
          </a:xfrm>
          <a:prstGeom prst="rect">
            <a:avLst/>
          </a:prstGeom>
          <a:solidFill>
            <a:srgbClr val="223141"/>
          </a:solidFill>
          <a:ln w="12700">
            <a:solidFill>
              <a:srgbClr val="333333"/>
            </a:solidFill>
            <a:prstDash val="solid"/>
          </a:ln>
        </p:spPr>
      </p:sp>
      <p:sp>
        <p:nvSpPr>
          <p:cNvPr id="138" name="Shape 136"/>
          <p:cNvSpPr/>
          <p:nvPr/>
        </p:nvSpPr>
        <p:spPr>
          <a:xfrm>
            <a:off x="11484864" y="4663440"/>
            <a:ext cx="201168" cy="201168"/>
          </a:xfrm>
          <a:prstGeom prst="rect">
            <a:avLst/>
          </a:prstGeom>
          <a:solidFill>
            <a:srgbClr val="223141"/>
          </a:solidFill>
          <a:ln w="12700">
            <a:solidFill>
              <a:srgbClr val="333333"/>
            </a:solidFill>
            <a:prstDash val="solid"/>
          </a:ln>
        </p:spPr>
      </p:sp>
      <p:sp>
        <p:nvSpPr>
          <p:cNvPr id="139" name="Shape 137"/>
          <p:cNvSpPr/>
          <p:nvPr/>
        </p:nvSpPr>
        <p:spPr>
          <a:xfrm>
            <a:off x="8366760" y="4946904"/>
            <a:ext cx="201168" cy="201168"/>
          </a:xfrm>
          <a:prstGeom prst="rect">
            <a:avLst/>
          </a:prstGeom>
          <a:solidFill>
            <a:srgbClr val="223141"/>
          </a:solidFill>
          <a:ln w="12700">
            <a:solidFill>
              <a:srgbClr val="333333"/>
            </a:solidFill>
            <a:prstDash val="solid"/>
          </a:ln>
        </p:spPr>
      </p:sp>
      <p:sp>
        <p:nvSpPr>
          <p:cNvPr id="140" name="Shape 138"/>
          <p:cNvSpPr/>
          <p:nvPr/>
        </p:nvSpPr>
        <p:spPr>
          <a:xfrm>
            <a:off x="8650224" y="4946904"/>
            <a:ext cx="201168" cy="201168"/>
          </a:xfrm>
          <a:prstGeom prst="rect">
            <a:avLst/>
          </a:prstGeom>
          <a:solidFill>
            <a:srgbClr val="223141"/>
          </a:solidFill>
          <a:ln w="12700">
            <a:solidFill>
              <a:srgbClr val="333333"/>
            </a:solidFill>
            <a:prstDash val="solid"/>
          </a:ln>
        </p:spPr>
      </p:sp>
      <p:sp>
        <p:nvSpPr>
          <p:cNvPr id="141" name="Shape 139"/>
          <p:cNvSpPr/>
          <p:nvPr/>
        </p:nvSpPr>
        <p:spPr>
          <a:xfrm>
            <a:off x="8933688" y="4946904"/>
            <a:ext cx="201168" cy="201168"/>
          </a:xfrm>
          <a:prstGeom prst="rect">
            <a:avLst/>
          </a:prstGeom>
          <a:solidFill>
            <a:srgbClr val="223141"/>
          </a:solidFill>
          <a:ln w="12700">
            <a:solidFill>
              <a:srgbClr val="333333"/>
            </a:solidFill>
            <a:prstDash val="solid"/>
          </a:ln>
        </p:spPr>
      </p:sp>
      <p:sp>
        <p:nvSpPr>
          <p:cNvPr id="142" name="Shape 140"/>
          <p:cNvSpPr/>
          <p:nvPr/>
        </p:nvSpPr>
        <p:spPr>
          <a:xfrm>
            <a:off x="9217152" y="4946904"/>
            <a:ext cx="201168" cy="201168"/>
          </a:xfrm>
          <a:prstGeom prst="rect">
            <a:avLst/>
          </a:prstGeom>
          <a:solidFill>
            <a:srgbClr val="223141"/>
          </a:solidFill>
          <a:ln w="12700">
            <a:solidFill>
              <a:srgbClr val="333333"/>
            </a:solidFill>
            <a:prstDash val="solid"/>
          </a:ln>
        </p:spPr>
      </p:sp>
      <p:sp>
        <p:nvSpPr>
          <p:cNvPr id="143" name="Shape 141"/>
          <p:cNvSpPr/>
          <p:nvPr/>
        </p:nvSpPr>
        <p:spPr>
          <a:xfrm>
            <a:off x="9500616" y="4946904"/>
            <a:ext cx="201168" cy="201168"/>
          </a:xfrm>
          <a:prstGeom prst="rect">
            <a:avLst/>
          </a:prstGeom>
          <a:solidFill>
            <a:srgbClr val="223141"/>
          </a:solidFill>
          <a:ln w="12700">
            <a:solidFill>
              <a:srgbClr val="333333"/>
            </a:solidFill>
            <a:prstDash val="solid"/>
          </a:ln>
        </p:spPr>
      </p:sp>
      <p:sp>
        <p:nvSpPr>
          <p:cNvPr id="144" name="Shape 142"/>
          <p:cNvSpPr/>
          <p:nvPr/>
        </p:nvSpPr>
        <p:spPr>
          <a:xfrm>
            <a:off x="9784080" y="4946904"/>
            <a:ext cx="201168" cy="201168"/>
          </a:xfrm>
          <a:prstGeom prst="rect">
            <a:avLst/>
          </a:prstGeom>
          <a:solidFill>
            <a:srgbClr val="223141"/>
          </a:solidFill>
          <a:ln w="12700">
            <a:solidFill>
              <a:srgbClr val="333333"/>
            </a:solidFill>
            <a:prstDash val="solid"/>
          </a:ln>
        </p:spPr>
      </p:sp>
      <p:sp>
        <p:nvSpPr>
          <p:cNvPr id="145" name="Shape 143"/>
          <p:cNvSpPr/>
          <p:nvPr/>
        </p:nvSpPr>
        <p:spPr>
          <a:xfrm>
            <a:off x="10067544" y="4946904"/>
            <a:ext cx="201168" cy="201168"/>
          </a:xfrm>
          <a:prstGeom prst="rect">
            <a:avLst/>
          </a:prstGeom>
          <a:solidFill>
            <a:srgbClr val="223141"/>
          </a:solidFill>
          <a:ln w="12700">
            <a:solidFill>
              <a:srgbClr val="333333"/>
            </a:solidFill>
            <a:prstDash val="solid"/>
          </a:ln>
        </p:spPr>
      </p:sp>
      <p:sp>
        <p:nvSpPr>
          <p:cNvPr id="146" name="Shape 144"/>
          <p:cNvSpPr/>
          <p:nvPr/>
        </p:nvSpPr>
        <p:spPr>
          <a:xfrm>
            <a:off x="10351008" y="4946904"/>
            <a:ext cx="201168" cy="201168"/>
          </a:xfrm>
          <a:prstGeom prst="rect">
            <a:avLst/>
          </a:prstGeom>
          <a:solidFill>
            <a:srgbClr val="223141"/>
          </a:solidFill>
          <a:ln w="12700">
            <a:solidFill>
              <a:srgbClr val="333333"/>
            </a:solidFill>
            <a:prstDash val="solid"/>
          </a:ln>
        </p:spPr>
      </p:sp>
      <p:sp>
        <p:nvSpPr>
          <p:cNvPr id="147" name="Shape 145"/>
          <p:cNvSpPr/>
          <p:nvPr/>
        </p:nvSpPr>
        <p:spPr>
          <a:xfrm>
            <a:off x="10634472" y="4946904"/>
            <a:ext cx="201168" cy="201168"/>
          </a:xfrm>
          <a:prstGeom prst="rect">
            <a:avLst/>
          </a:prstGeom>
          <a:solidFill>
            <a:srgbClr val="223141"/>
          </a:solidFill>
          <a:ln w="12700">
            <a:solidFill>
              <a:srgbClr val="333333"/>
            </a:solidFill>
            <a:prstDash val="solid"/>
          </a:ln>
        </p:spPr>
      </p:sp>
      <p:sp>
        <p:nvSpPr>
          <p:cNvPr id="148" name="Shape 146"/>
          <p:cNvSpPr/>
          <p:nvPr/>
        </p:nvSpPr>
        <p:spPr>
          <a:xfrm>
            <a:off x="10917936" y="4946904"/>
            <a:ext cx="201168" cy="201168"/>
          </a:xfrm>
          <a:prstGeom prst="rect">
            <a:avLst/>
          </a:prstGeom>
          <a:solidFill>
            <a:srgbClr val="223141"/>
          </a:solidFill>
          <a:ln w="12700">
            <a:solidFill>
              <a:srgbClr val="333333"/>
            </a:solidFill>
            <a:prstDash val="solid"/>
          </a:ln>
        </p:spPr>
      </p:sp>
      <p:sp>
        <p:nvSpPr>
          <p:cNvPr id="149" name="Shape 147"/>
          <p:cNvSpPr/>
          <p:nvPr/>
        </p:nvSpPr>
        <p:spPr>
          <a:xfrm>
            <a:off x="11201400" y="4946904"/>
            <a:ext cx="201168" cy="201168"/>
          </a:xfrm>
          <a:prstGeom prst="rect">
            <a:avLst/>
          </a:prstGeom>
          <a:solidFill>
            <a:srgbClr val="223141"/>
          </a:solidFill>
          <a:ln w="12700">
            <a:solidFill>
              <a:srgbClr val="333333"/>
            </a:solidFill>
            <a:prstDash val="solid"/>
          </a:ln>
        </p:spPr>
      </p:sp>
      <p:sp>
        <p:nvSpPr>
          <p:cNvPr id="150" name="Shape 148"/>
          <p:cNvSpPr/>
          <p:nvPr/>
        </p:nvSpPr>
        <p:spPr>
          <a:xfrm>
            <a:off x="11484864" y="4946904"/>
            <a:ext cx="201168" cy="201168"/>
          </a:xfrm>
          <a:prstGeom prst="rect">
            <a:avLst/>
          </a:prstGeom>
          <a:solidFill>
            <a:srgbClr val="223141"/>
          </a:solidFill>
          <a:ln w="12700">
            <a:solidFill>
              <a:srgbClr val="333333"/>
            </a:solidFill>
            <a:prstDash val="solid"/>
          </a:ln>
        </p:spPr>
      </p:sp>
      <p:sp>
        <p:nvSpPr>
          <p:cNvPr id="151" name="Text 149"/>
          <p:cNvSpPr txBox="1"/>
          <p:nvPr/>
        </p:nvSpPr>
        <p:spPr>
          <a:xfrm>
            <a:off x="8366760" y="5257800"/>
            <a:ext cx="3108960" cy="274320"/>
          </a:xfrm>
          <a:prstGeom prst="rect">
            <a:avLst/>
          </a:prstGeom>
          <a:noFill/>
          <a:ln/>
        </p:spPr>
        <p:txBody>
          <a:bodyPr wrap="square" lIns="0" tIns="0" rIns="0" bIns="0" rtlCol="0" anchor="ctr"/>
          <a:lstStyle/>
          <a:p>
            <a:pPr indent="0" marL="0">
              <a:buNone/>
            </a:pPr>
            <a:r>
              <a:rPr lang="en-US" sz="1100" dirty="0">
                <a:solidFill>
                  <a:srgbClr val="8DA0B0"/>
                </a:solidFill>
                <a:latin typeface="Courier New" pitchFamily="34" charset="0"/>
                <a:ea typeface="Courier New" pitchFamily="34" charset="-122"/>
                <a:cs typeface="Courier New" pitchFamily="34" charset="-120"/>
              </a:rPr>
              <a:t>31 of 1,334 tests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640080" y="384048"/>
            <a:ext cx="10881360" cy="256032"/>
          </a:xfrm>
          <a:prstGeom prst="rect">
            <a:avLst/>
          </a:prstGeom>
          <a:noFill/>
          <a:ln/>
        </p:spPr>
        <p:txBody>
          <a:bodyPr wrap="square" lIns="0" tIns="0" rIns="0" bIns="0" rtlCol="0" anchor="ctr"/>
          <a:lstStyle/>
          <a:p>
            <a:pPr indent="0" marL="0">
              <a:buNone/>
            </a:pPr>
            <a:r>
              <a:rPr lang="en-US" sz="1100" b="1" spc="200" kern="0" dirty="0">
                <a:solidFill>
                  <a:srgbClr val="62727F"/>
                </a:solidFill>
                <a:latin typeface="Calibri" pitchFamily="34" charset="0"/>
                <a:ea typeface="Calibri" pitchFamily="34" charset="-122"/>
                <a:cs typeface="Calibri" pitchFamily="34" charset="-120"/>
              </a:rPr>
              <a:t>THE PROBLEM</a:t>
            </a:r>
            <a:endParaRPr lang="en-US" sz="1100" dirty="0"/>
          </a:p>
        </p:txBody>
      </p:sp>
      <p:sp>
        <p:nvSpPr>
          <p:cNvPr id="3" name="Text 1"/>
          <p:cNvSpPr txBox="1"/>
          <p:nvPr/>
        </p:nvSpPr>
        <p:spPr>
          <a:xfrm>
            <a:off x="640080" y="658368"/>
            <a:ext cx="10881360" cy="777240"/>
          </a:xfrm>
          <a:prstGeom prst="rect">
            <a:avLst/>
          </a:prstGeom>
          <a:noFill/>
          <a:ln/>
        </p:spPr>
        <p:txBody>
          <a:bodyPr wrap="square" lIns="0" tIns="0" rIns="0" bIns="0" rtlCol="0" anchor="ctr"/>
          <a:lstStyle/>
          <a:p>
            <a:pPr indent="0" marL="0">
              <a:buNone/>
            </a:pPr>
            <a:r>
              <a:rPr lang="en-US" sz="3400" b="1" dirty="0">
                <a:solidFill>
                  <a:srgbClr val="17232F"/>
                </a:solidFill>
                <a:latin typeface="Cambria" pitchFamily="34" charset="0"/>
                <a:ea typeface="Cambria" pitchFamily="34" charset="-122"/>
                <a:cs typeface="Cambria" pitchFamily="34" charset="-120"/>
              </a:rPr>
              <a:t>You change one line. Every test runs.</a:t>
            </a:r>
            <a:endParaRPr lang="en-US" sz="3400" dirty="0"/>
          </a:p>
        </p:txBody>
      </p:sp>
      <p:sp>
        <p:nvSpPr>
          <p:cNvPr id="4" name="Text 2"/>
          <p:cNvSpPr txBox="1"/>
          <p:nvPr/>
        </p:nvSpPr>
        <p:spPr>
          <a:xfrm>
            <a:off x="640080" y="1691640"/>
            <a:ext cx="6035040" cy="2651760"/>
          </a:xfrm>
          <a:prstGeom prst="rect">
            <a:avLst/>
          </a:prstGeom>
          <a:noFill/>
          <a:ln/>
        </p:spPr>
        <p:txBody>
          <a:bodyPr wrap="square" lIns="0" tIns="0" rIns="0" bIns="0" rtlCol="0" anchor="ctr"/>
          <a:lstStyle/>
          <a:p>
            <a:pPr indent="0" marL="0">
              <a:lnSpc>
                <a:spcPts val="2200"/>
              </a:lnSpc>
              <a:spcAft>
                <a:spcPts val="1000"/>
              </a:spcAft>
              <a:buNone/>
            </a:pPr>
            <a:r>
              <a:rPr lang="en-US" sz="1400" dirty="0">
                <a:solidFill>
                  <a:srgbClr val="17232F"/>
                </a:solidFill>
                <a:latin typeface="Calibri" pitchFamily="34" charset="0"/>
                <a:ea typeface="Calibri" pitchFamily="34" charset="-122"/>
                <a:cs typeface="Calibri" pitchFamily="34" charset="-120"/>
              </a:rPr>
              <a:t>A mature project accumulates thousands of automated checks. They run on every change, before it is allowed in.</a:t>
            </a:r>
            <a:endParaRPr lang="en-US" sz="1400" dirty="0"/>
          </a:p>
          <a:p>
            <a:pPr indent="0" marL="0">
              <a:lnSpc>
                <a:spcPts val="2200"/>
              </a:lnSpc>
              <a:spcAft>
                <a:spcPts val="1000"/>
              </a:spcAft>
              <a:buNone/>
            </a:pPr>
            <a:r>
              <a:rPr lang="en-US" sz="1400" dirty="0">
                <a:solidFill>
                  <a:srgbClr val="17232F"/>
                </a:solidFill>
                <a:latin typeface="Calibri" pitchFamily="34" charset="0"/>
                <a:ea typeface="Calibri" pitchFamily="34" charset="-122"/>
                <a:cs typeface="Calibri" pitchFamily="34" charset="-120"/>
              </a:rPr>
              <a:t>Change one line in a leaf function and perhaps thirty tests are connected to it. The rest examine the payment system, the export path, the CLI — areas the change cannot reach. They pass. They always pass. They ran anyway.</a:t>
            </a:r>
            <a:endParaRPr lang="en-US" sz="1400" dirty="0"/>
          </a:p>
          <a:p>
            <a:pPr indent="0" marL="0">
              <a:lnSpc>
                <a:spcPts val="2200"/>
              </a:lnSpc>
              <a:buNone/>
            </a:pPr>
            <a:r>
              <a:rPr lang="en-US" sz="1400" dirty="0">
                <a:solidFill>
                  <a:srgbClr val="17232F"/>
                </a:solidFill>
                <a:latin typeface="Calibri" pitchFamily="34" charset="0"/>
                <a:ea typeface="Calibri" pitchFamily="34" charset="-122"/>
                <a:cs typeface="Calibri" pitchFamily="34" charset="-120"/>
              </a:rPr>
              <a:t>Teams tolerate this because the alternative looks dangerous: skip the wrong test and a defect ships while the build reports success.</a:t>
            </a:r>
            <a:endParaRPr lang="en-US" sz="1400" dirty="0"/>
          </a:p>
        </p:txBody>
      </p:sp>
      <p:sp>
        <p:nvSpPr>
          <p:cNvPr id="5" name="Text 3"/>
          <p:cNvSpPr txBox="1"/>
          <p:nvPr/>
        </p:nvSpPr>
        <p:spPr>
          <a:xfrm>
            <a:off x="640080" y="4526280"/>
            <a:ext cx="6035040" cy="822960"/>
          </a:xfrm>
          <a:prstGeom prst="rect">
            <a:avLst/>
          </a:prstGeom>
          <a:noFill/>
          <a:ln/>
        </p:spPr>
        <p:txBody>
          <a:bodyPr wrap="square" lIns="0" tIns="0" rIns="0" bIns="0" rtlCol="0" anchor="ctr"/>
          <a:lstStyle/>
          <a:p>
            <a:pPr indent="0" marL="0">
              <a:buNone/>
            </a:pPr>
            <a:r>
              <a:rPr lang="en-US" sz="1600" b="1" i="1" dirty="0">
                <a:solidFill>
                  <a:srgbClr val="D1453B"/>
                </a:solidFill>
                <a:latin typeface="Cambria" pitchFamily="34" charset="0"/>
                <a:ea typeface="Cambria" pitchFamily="34" charset="-122"/>
                <a:cs typeface="Cambria" pitchFamily="34" charset="-120"/>
              </a:rPr>
              <a:t>That is the actual gap: not speed, but speed with measured evidence of how safely it can be applied.</a:t>
            </a:r>
            <a:endParaRPr lang="en-US" sz="1600" dirty="0"/>
          </a:p>
        </p:txBody>
      </p:sp>
      <p:sp>
        <p:nvSpPr>
          <p:cNvPr id="6" name="Shape 4"/>
          <p:cNvSpPr/>
          <p:nvPr/>
        </p:nvSpPr>
        <p:spPr>
          <a:xfrm>
            <a:off x="7223760" y="1691640"/>
            <a:ext cx="4297680" cy="3657600"/>
          </a:xfrm>
          <a:prstGeom prst="roundRect">
            <a:avLst>
              <a:gd name="adj" fmla="val 2000"/>
            </a:avLst>
          </a:prstGeom>
          <a:solidFill>
            <a:srgbClr val="F3F5F7"/>
          </a:solidFill>
          <a:ln w="12700">
            <a:solidFill>
              <a:srgbClr val="333333"/>
            </a:solidFill>
            <a:prstDash val="solid"/>
          </a:ln>
        </p:spPr>
      </p:sp>
      <p:sp>
        <p:nvSpPr>
          <p:cNvPr id="7" name="Text 5"/>
          <p:cNvSpPr txBox="1"/>
          <p:nvPr/>
        </p:nvSpPr>
        <p:spPr>
          <a:xfrm>
            <a:off x="7498080" y="1874520"/>
            <a:ext cx="3749040" cy="274320"/>
          </a:xfrm>
          <a:prstGeom prst="rect">
            <a:avLst/>
          </a:prstGeom>
          <a:noFill/>
          <a:ln/>
        </p:spPr>
        <p:txBody>
          <a:bodyPr wrap="square" lIns="0" tIns="0" rIns="0" bIns="0" rtlCol="0" anchor="ctr"/>
          <a:lstStyle/>
          <a:p>
            <a:pPr indent="0" marL="0">
              <a:buNone/>
            </a:pPr>
            <a:r>
              <a:rPr lang="en-US" sz="1200" b="1" dirty="0">
                <a:solidFill>
                  <a:srgbClr val="17232F"/>
                </a:solidFill>
                <a:latin typeface="Calibri" pitchFamily="34" charset="0"/>
                <a:ea typeface="Calibri" pitchFamily="34" charset="-122"/>
                <a:cs typeface="Calibri" pitchFamily="34" charset="-120"/>
              </a:rPr>
              <a:t>attrs — one line changed</a:t>
            </a:r>
            <a:endParaRPr lang="en-US" sz="1200" dirty="0"/>
          </a:p>
        </p:txBody>
      </p:sp>
      <p:sp>
        <p:nvSpPr>
          <p:cNvPr id="8" name="Shape 6"/>
          <p:cNvSpPr/>
          <p:nvPr/>
        </p:nvSpPr>
        <p:spPr>
          <a:xfrm>
            <a:off x="7498080" y="2286000"/>
            <a:ext cx="219456" cy="219456"/>
          </a:xfrm>
          <a:prstGeom prst="rect">
            <a:avLst/>
          </a:prstGeom>
          <a:solidFill>
            <a:srgbClr val="C9D3DA"/>
          </a:solidFill>
          <a:ln w="12700">
            <a:solidFill>
              <a:srgbClr val="333333"/>
            </a:solidFill>
            <a:prstDash val="solid"/>
          </a:ln>
        </p:spPr>
      </p:sp>
      <p:sp>
        <p:nvSpPr>
          <p:cNvPr id="9" name="Shape 7"/>
          <p:cNvSpPr/>
          <p:nvPr/>
        </p:nvSpPr>
        <p:spPr>
          <a:xfrm>
            <a:off x="7799832" y="2286000"/>
            <a:ext cx="219456" cy="219456"/>
          </a:xfrm>
          <a:prstGeom prst="rect">
            <a:avLst/>
          </a:prstGeom>
          <a:solidFill>
            <a:srgbClr val="C9D3DA"/>
          </a:solidFill>
          <a:ln w="12700">
            <a:solidFill>
              <a:srgbClr val="333333"/>
            </a:solidFill>
            <a:prstDash val="solid"/>
          </a:ln>
        </p:spPr>
      </p:sp>
      <p:sp>
        <p:nvSpPr>
          <p:cNvPr id="10" name="Shape 8"/>
          <p:cNvSpPr/>
          <p:nvPr/>
        </p:nvSpPr>
        <p:spPr>
          <a:xfrm>
            <a:off x="8101584" y="2286000"/>
            <a:ext cx="219456" cy="219456"/>
          </a:xfrm>
          <a:prstGeom prst="rect">
            <a:avLst/>
          </a:prstGeom>
          <a:solidFill>
            <a:srgbClr val="C9D3DA"/>
          </a:solidFill>
          <a:ln w="12700">
            <a:solidFill>
              <a:srgbClr val="333333"/>
            </a:solidFill>
            <a:prstDash val="solid"/>
          </a:ln>
        </p:spPr>
      </p:sp>
      <p:sp>
        <p:nvSpPr>
          <p:cNvPr id="11" name="Shape 9"/>
          <p:cNvSpPr/>
          <p:nvPr/>
        </p:nvSpPr>
        <p:spPr>
          <a:xfrm>
            <a:off x="8403336" y="2286000"/>
            <a:ext cx="219456" cy="219456"/>
          </a:xfrm>
          <a:prstGeom prst="rect">
            <a:avLst/>
          </a:prstGeom>
          <a:solidFill>
            <a:srgbClr val="C9D3DA"/>
          </a:solidFill>
          <a:ln w="12700">
            <a:solidFill>
              <a:srgbClr val="333333"/>
            </a:solidFill>
            <a:prstDash val="solid"/>
          </a:ln>
        </p:spPr>
      </p:sp>
      <p:sp>
        <p:nvSpPr>
          <p:cNvPr id="12" name="Shape 10"/>
          <p:cNvSpPr/>
          <p:nvPr/>
        </p:nvSpPr>
        <p:spPr>
          <a:xfrm>
            <a:off x="8705088" y="2286000"/>
            <a:ext cx="219456" cy="219456"/>
          </a:xfrm>
          <a:prstGeom prst="rect">
            <a:avLst/>
          </a:prstGeom>
          <a:solidFill>
            <a:srgbClr val="C9D3DA"/>
          </a:solidFill>
          <a:ln w="12700">
            <a:solidFill>
              <a:srgbClr val="333333"/>
            </a:solidFill>
            <a:prstDash val="solid"/>
          </a:ln>
        </p:spPr>
      </p:sp>
      <p:sp>
        <p:nvSpPr>
          <p:cNvPr id="13" name="Shape 11"/>
          <p:cNvSpPr/>
          <p:nvPr/>
        </p:nvSpPr>
        <p:spPr>
          <a:xfrm>
            <a:off x="9006840" y="2286000"/>
            <a:ext cx="219456" cy="219456"/>
          </a:xfrm>
          <a:prstGeom prst="rect">
            <a:avLst/>
          </a:prstGeom>
          <a:solidFill>
            <a:srgbClr val="C9D3DA"/>
          </a:solidFill>
          <a:ln w="12700">
            <a:solidFill>
              <a:srgbClr val="333333"/>
            </a:solidFill>
            <a:prstDash val="solid"/>
          </a:ln>
        </p:spPr>
      </p:sp>
      <p:sp>
        <p:nvSpPr>
          <p:cNvPr id="14" name="Shape 12"/>
          <p:cNvSpPr/>
          <p:nvPr/>
        </p:nvSpPr>
        <p:spPr>
          <a:xfrm>
            <a:off x="9308592" y="2286000"/>
            <a:ext cx="219456" cy="219456"/>
          </a:xfrm>
          <a:prstGeom prst="rect">
            <a:avLst/>
          </a:prstGeom>
          <a:solidFill>
            <a:srgbClr val="C9D3DA"/>
          </a:solidFill>
          <a:ln w="12700">
            <a:solidFill>
              <a:srgbClr val="333333"/>
            </a:solidFill>
            <a:prstDash val="solid"/>
          </a:ln>
        </p:spPr>
      </p:sp>
      <p:sp>
        <p:nvSpPr>
          <p:cNvPr id="15" name="Shape 13"/>
          <p:cNvSpPr/>
          <p:nvPr/>
        </p:nvSpPr>
        <p:spPr>
          <a:xfrm>
            <a:off x="9610344" y="2286000"/>
            <a:ext cx="219456" cy="219456"/>
          </a:xfrm>
          <a:prstGeom prst="rect">
            <a:avLst/>
          </a:prstGeom>
          <a:solidFill>
            <a:srgbClr val="C9D3DA"/>
          </a:solidFill>
          <a:ln w="12700">
            <a:solidFill>
              <a:srgbClr val="333333"/>
            </a:solidFill>
            <a:prstDash val="solid"/>
          </a:ln>
        </p:spPr>
      </p:sp>
      <p:sp>
        <p:nvSpPr>
          <p:cNvPr id="16" name="Shape 14"/>
          <p:cNvSpPr/>
          <p:nvPr/>
        </p:nvSpPr>
        <p:spPr>
          <a:xfrm>
            <a:off x="9912096" y="2286000"/>
            <a:ext cx="219456" cy="219456"/>
          </a:xfrm>
          <a:prstGeom prst="rect">
            <a:avLst/>
          </a:prstGeom>
          <a:solidFill>
            <a:srgbClr val="C9D3DA"/>
          </a:solidFill>
          <a:ln w="12700">
            <a:solidFill>
              <a:srgbClr val="333333"/>
            </a:solidFill>
            <a:prstDash val="solid"/>
          </a:ln>
        </p:spPr>
      </p:sp>
      <p:sp>
        <p:nvSpPr>
          <p:cNvPr id="17" name="Shape 15"/>
          <p:cNvSpPr/>
          <p:nvPr/>
        </p:nvSpPr>
        <p:spPr>
          <a:xfrm>
            <a:off x="10213848" y="2286000"/>
            <a:ext cx="219456" cy="219456"/>
          </a:xfrm>
          <a:prstGeom prst="rect">
            <a:avLst/>
          </a:prstGeom>
          <a:solidFill>
            <a:srgbClr val="C9D3DA"/>
          </a:solidFill>
          <a:ln w="12700">
            <a:solidFill>
              <a:srgbClr val="333333"/>
            </a:solidFill>
            <a:prstDash val="solid"/>
          </a:ln>
        </p:spPr>
      </p:sp>
      <p:sp>
        <p:nvSpPr>
          <p:cNvPr id="18" name="Shape 16"/>
          <p:cNvSpPr/>
          <p:nvPr/>
        </p:nvSpPr>
        <p:spPr>
          <a:xfrm>
            <a:off x="10515600" y="2286000"/>
            <a:ext cx="219456" cy="219456"/>
          </a:xfrm>
          <a:prstGeom prst="rect">
            <a:avLst/>
          </a:prstGeom>
          <a:solidFill>
            <a:srgbClr val="C9D3DA"/>
          </a:solidFill>
          <a:ln w="12700">
            <a:solidFill>
              <a:srgbClr val="333333"/>
            </a:solidFill>
            <a:prstDash val="solid"/>
          </a:ln>
        </p:spPr>
      </p:sp>
      <p:sp>
        <p:nvSpPr>
          <p:cNvPr id="19" name="Shape 17"/>
          <p:cNvSpPr/>
          <p:nvPr/>
        </p:nvSpPr>
        <p:spPr>
          <a:xfrm>
            <a:off x="10817352" y="2286000"/>
            <a:ext cx="219456" cy="219456"/>
          </a:xfrm>
          <a:prstGeom prst="rect">
            <a:avLst/>
          </a:prstGeom>
          <a:solidFill>
            <a:srgbClr val="C9D3DA"/>
          </a:solidFill>
          <a:ln w="12700">
            <a:solidFill>
              <a:srgbClr val="333333"/>
            </a:solidFill>
            <a:prstDash val="solid"/>
          </a:ln>
        </p:spPr>
      </p:sp>
      <p:sp>
        <p:nvSpPr>
          <p:cNvPr id="20" name="Shape 18"/>
          <p:cNvSpPr/>
          <p:nvPr/>
        </p:nvSpPr>
        <p:spPr>
          <a:xfrm>
            <a:off x="11119104" y="2286000"/>
            <a:ext cx="219456" cy="219456"/>
          </a:xfrm>
          <a:prstGeom prst="rect">
            <a:avLst/>
          </a:prstGeom>
          <a:solidFill>
            <a:srgbClr val="C9D3DA"/>
          </a:solidFill>
          <a:ln w="12700">
            <a:solidFill>
              <a:srgbClr val="333333"/>
            </a:solidFill>
            <a:prstDash val="solid"/>
          </a:ln>
        </p:spPr>
      </p:sp>
      <p:sp>
        <p:nvSpPr>
          <p:cNvPr id="21" name="Shape 19"/>
          <p:cNvSpPr/>
          <p:nvPr/>
        </p:nvSpPr>
        <p:spPr>
          <a:xfrm>
            <a:off x="11420856" y="2286000"/>
            <a:ext cx="219456" cy="219456"/>
          </a:xfrm>
          <a:prstGeom prst="rect">
            <a:avLst/>
          </a:prstGeom>
          <a:solidFill>
            <a:srgbClr val="C9D3DA"/>
          </a:solidFill>
          <a:ln w="12700">
            <a:solidFill>
              <a:srgbClr val="333333"/>
            </a:solidFill>
            <a:prstDash val="solid"/>
          </a:ln>
        </p:spPr>
      </p:sp>
      <p:sp>
        <p:nvSpPr>
          <p:cNvPr id="22" name="Shape 20"/>
          <p:cNvSpPr/>
          <p:nvPr/>
        </p:nvSpPr>
        <p:spPr>
          <a:xfrm>
            <a:off x="7498080" y="2587752"/>
            <a:ext cx="219456" cy="219456"/>
          </a:xfrm>
          <a:prstGeom prst="rect">
            <a:avLst/>
          </a:prstGeom>
          <a:solidFill>
            <a:srgbClr val="C9D3DA"/>
          </a:solidFill>
          <a:ln w="12700">
            <a:solidFill>
              <a:srgbClr val="333333"/>
            </a:solidFill>
            <a:prstDash val="solid"/>
          </a:ln>
        </p:spPr>
      </p:sp>
      <p:sp>
        <p:nvSpPr>
          <p:cNvPr id="23" name="Shape 21"/>
          <p:cNvSpPr/>
          <p:nvPr/>
        </p:nvSpPr>
        <p:spPr>
          <a:xfrm>
            <a:off x="7799832" y="2587752"/>
            <a:ext cx="219456" cy="219456"/>
          </a:xfrm>
          <a:prstGeom prst="rect">
            <a:avLst/>
          </a:prstGeom>
          <a:solidFill>
            <a:srgbClr val="C9D3DA"/>
          </a:solidFill>
          <a:ln w="12700">
            <a:solidFill>
              <a:srgbClr val="333333"/>
            </a:solidFill>
            <a:prstDash val="solid"/>
          </a:ln>
        </p:spPr>
      </p:sp>
      <p:sp>
        <p:nvSpPr>
          <p:cNvPr id="24" name="Shape 22"/>
          <p:cNvSpPr/>
          <p:nvPr/>
        </p:nvSpPr>
        <p:spPr>
          <a:xfrm>
            <a:off x="8101584" y="2587752"/>
            <a:ext cx="219456" cy="219456"/>
          </a:xfrm>
          <a:prstGeom prst="rect">
            <a:avLst/>
          </a:prstGeom>
          <a:solidFill>
            <a:srgbClr val="D1453B"/>
          </a:solidFill>
          <a:ln w="12700">
            <a:solidFill>
              <a:srgbClr val="333333"/>
            </a:solidFill>
            <a:prstDash val="solid"/>
          </a:ln>
        </p:spPr>
      </p:sp>
      <p:sp>
        <p:nvSpPr>
          <p:cNvPr id="25" name="Shape 23"/>
          <p:cNvSpPr/>
          <p:nvPr/>
        </p:nvSpPr>
        <p:spPr>
          <a:xfrm>
            <a:off x="8403336" y="2587752"/>
            <a:ext cx="219456" cy="219456"/>
          </a:xfrm>
          <a:prstGeom prst="rect">
            <a:avLst/>
          </a:prstGeom>
          <a:solidFill>
            <a:srgbClr val="D1453B"/>
          </a:solidFill>
          <a:ln w="12700">
            <a:solidFill>
              <a:srgbClr val="333333"/>
            </a:solidFill>
            <a:prstDash val="solid"/>
          </a:ln>
        </p:spPr>
      </p:sp>
      <p:sp>
        <p:nvSpPr>
          <p:cNvPr id="26" name="Shape 24"/>
          <p:cNvSpPr/>
          <p:nvPr/>
        </p:nvSpPr>
        <p:spPr>
          <a:xfrm>
            <a:off x="8705088" y="2587752"/>
            <a:ext cx="219456" cy="219456"/>
          </a:xfrm>
          <a:prstGeom prst="rect">
            <a:avLst/>
          </a:prstGeom>
          <a:solidFill>
            <a:srgbClr val="C9D3DA"/>
          </a:solidFill>
          <a:ln w="12700">
            <a:solidFill>
              <a:srgbClr val="333333"/>
            </a:solidFill>
            <a:prstDash val="solid"/>
          </a:ln>
        </p:spPr>
      </p:sp>
      <p:sp>
        <p:nvSpPr>
          <p:cNvPr id="27" name="Shape 25"/>
          <p:cNvSpPr/>
          <p:nvPr/>
        </p:nvSpPr>
        <p:spPr>
          <a:xfrm>
            <a:off x="9006840" y="2587752"/>
            <a:ext cx="219456" cy="219456"/>
          </a:xfrm>
          <a:prstGeom prst="rect">
            <a:avLst/>
          </a:prstGeom>
          <a:solidFill>
            <a:srgbClr val="C9D3DA"/>
          </a:solidFill>
          <a:ln w="12700">
            <a:solidFill>
              <a:srgbClr val="333333"/>
            </a:solidFill>
            <a:prstDash val="solid"/>
          </a:ln>
        </p:spPr>
      </p:sp>
      <p:sp>
        <p:nvSpPr>
          <p:cNvPr id="28" name="Shape 26"/>
          <p:cNvSpPr/>
          <p:nvPr/>
        </p:nvSpPr>
        <p:spPr>
          <a:xfrm>
            <a:off x="9308592" y="2587752"/>
            <a:ext cx="219456" cy="219456"/>
          </a:xfrm>
          <a:prstGeom prst="rect">
            <a:avLst/>
          </a:prstGeom>
          <a:solidFill>
            <a:srgbClr val="C9D3DA"/>
          </a:solidFill>
          <a:ln w="12700">
            <a:solidFill>
              <a:srgbClr val="333333"/>
            </a:solidFill>
            <a:prstDash val="solid"/>
          </a:ln>
        </p:spPr>
      </p:sp>
      <p:sp>
        <p:nvSpPr>
          <p:cNvPr id="29" name="Shape 27"/>
          <p:cNvSpPr/>
          <p:nvPr/>
        </p:nvSpPr>
        <p:spPr>
          <a:xfrm>
            <a:off x="9610344" y="2587752"/>
            <a:ext cx="219456" cy="219456"/>
          </a:xfrm>
          <a:prstGeom prst="rect">
            <a:avLst/>
          </a:prstGeom>
          <a:solidFill>
            <a:srgbClr val="C9D3DA"/>
          </a:solidFill>
          <a:ln w="12700">
            <a:solidFill>
              <a:srgbClr val="333333"/>
            </a:solidFill>
            <a:prstDash val="solid"/>
          </a:ln>
        </p:spPr>
      </p:sp>
      <p:sp>
        <p:nvSpPr>
          <p:cNvPr id="30" name="Shape 28"/>
          <p:cNvSpPr/>
          <p:nvPr/>
        </p:nvSpPr>
        <p:spPr>
          <a:xfrm>
            <a:off x="9912096" y="2587752"/>
            <a:ext cx="219456" cy="219456"/>
          </a:xfrm>
          <a:prstGeom prst="rect">
            <a:avLst/>
          </a:prstGeom>
          <a:solidFill>
            <a:srgbClr val="C9D3DA"/>
          </a:solidFill>
          <a:ln w="12700">
            <a:solidFill>
              <a:srgbClr val="333333"/>
            </a:solidFill>
            <a:prstDash val="solid"/>
          </a:ln>
        </p:spPr>
      </p:sp>
      <p:sp>
        <p:nvSpPr>
          <p:cNvPr id="31" name="Shape 29"/>
          <p:cNvSpPr/>
          <p:nvPr/>
        </p:nvSpPr>
        <p:spPr>
          <a:xfrm>
            <a:off x="10213848" y="2587752"/>
            <a:ext cx="219456" cy="219456"/>
          </a:xfrm>
          <a:prstGeom prst="rect">
            <a:avLst/>
          </a:prstGeom>
          <a:solidFill>
            <a:srgbClr val="C9D3DA"/>
          </a:solidFill>
          <a:ln w="12700">
            <a:solidFill>
              <a:srgbClr val="333333"/>
            </a:solidFill>
            <a:prstDash val="solid"/>
          </a:ln>
        </p:spPr>
      </p:sp>
      <p:sp>
        <p:nvSpPr>
          <p:cNvPr id="32" name="Shape 30"/>
          <p:cNvSpPr/>
          <p:nvPr/>
        </p:nvSpPr>
        <p:spPr>
          <a:xfrm>
            <a:off x="10515600" y="2587752"/>
            <a:ext cx="219456" cy="219456"/>
          </a:xfrm>
          <a:prstGeom prst="rect">
            <a:avLst/>
          </a:prstGeom>
          <a:solidFill>
            <a:srgbClr val="C9D3DA"/>
          </a:solidFill>
          <a:ln w="12700">
            <a:solidFill>
              <a:srgbClr val="333333"/>
            </a:solidFill>
            <a:prstDash val="solid"/>
          </a:ln>
        </p:spPr>
      </p:sp>
      <p:sp>
        <p:nvSpPr>
          <p:cNvPr id="33" name="Shape 31"/>
          <p:cNvSpPr/>
          <p:nvPr/>
        </p:nvSpPr>
        <p:spPr>
          <a:xfrm>
            <a:off x="10817352" y="2587752"/>
            <a:ext cx="219456" cy="219456"/>
          </a:xfrm>
          <a:prstGeom prst="rect">
            <a:avLst/>
          </a:prstGeom>
          <a:solidFill>
            <a:srgbClr val="C9D3DA"/>
          </a:solidFill>
          <a:ln w="12700">
            <a:solidFill>
              <a:srgbClr val="333333"/>
            </a:solidFill>
            <a:prstDash val="solid"/>
          </a:ln>
        </p:spPr>
      </p:sp>
      <p:sp>
        <p:nvSpPr>
          <p:cNvPr id="34" name="Shape 32"/>
          <p:cNvSpPr/>
          <p:nvPr/>
        </p:nvSpPr>
        <p:spPr>
          <a:xfrm>
            <a:off x="11119104" y="2587752"/>
            <a:ext cx="219456" cy="219456"/>
          </a:xfrm>
          <a:prstGeom prst="rect">
            <a:avLst/>
          </a:prstGeom>
          <a:solidFill>
            <a:srgbClr val="C9D3DA"/>
          </a:solidFill>
          <a:ln w="12700">
            <a:solidFill>
              <a:srgbClr val="333333"/>
            </a:solidFill>
            <a:prstDash val="solid"/>
          </a:ln>
        </p:spPr>
      </p:sp>
      <p:sp>
        <p:nvSpPr>
          <p:cNvPr id="35" name="Shape 33"/>
          <p:cNvSpPr/>
          <p:nvPr/>
        </p:nvSpPr>
        <p:spPr>
          <a:xfrm>
            <a:off x="11420856" y="2587752"/>
            <a:ext cx="219456" cy="219456"/>
          </a:xfrm>
          <a:prstGeom prst="rect">
            <a:avLst/>
          </a:prstGeom>
          <a:solidFill>
            <a:srgbClr val="C9D3DA"/>
          </a:solidFill>
          <a:ln w="12700">
            <a:solidFill>
              <a:srgbClr val="333333"/>
            </a:solidFill>
            <a:prstDash val="solid"/>
          </a:ln>
        </p:spPr>
      </p:sp>
      <p:sp>
        <p:nvSpPr>
          <p:cNvPr id="36" name="Shape 34"/>
          <p:cNvSpPr/>
          <p:nvPr/>
        </p:nvSpPr>
        <p:spPr>
          <a:xfrm>
            <a:off x="7498080" y="2889504"/>
            <a:ext cx="219456" cy="219456"/>
          </a:xfrm>
          <a:prstGeom prst="rect">
            <a:avLst/>
          </a:prstGeom>
          <a:solidFill>
            <a:srgbClr val="C9D3DA"/>
          </a:solidFill>
          <a:ln w="12700">
            <a:solidFill>
              <a:srgbClr val="333333"/>
            </a:solidFill>
            <a:prstDash val="solid"/>
          </a:ln>
        </p:spPr>
      </p:sp>
      <p:sp>
        <p:nvSpPr>
          <p:cNvPr id="37" name="Shape 35"/>
          <p:cNvSpPr/>
          <p:nvPr/>
        </p:nvSpPr>
        <p:spPr>
          <a:xfrm>
            <a:off x="7799832" y="2889504"/>
            <a:ext cx="219456" cy="219456"/>
          </a:xfrm>
          <a:prstGeom prst="rect">
            <a:avLst/>
          </a:prstGeom>
          <a:solidFill>
            <a:srgbClr val="C9D3DA"/>
          </a:solidFill>
          <a:ln w="12700">
            <a:solidFill>
              <a:srgbClr val="333333"/>
            </a:solidFill>
            <a:prstDash val="solid"/>
          </a:ln>
        </p:spPr>
      </p:sp>
      <p:sp>
        <p:nvSpPr>
          <p:cNvPr id="38" name="Shape 36"/>
          <p:cNvSpPr/>
          <p:nvPr/>
        </p:nvSpPr>
        <p:spPr>
          <a:xfrm>
            <a:off x="8101584" y="2889504"/>
            <a:ext cx="219456" cy="219456"/>
          </a:xfrm>
          <a:prstGeom prst="rect">
            <a:avLst/>
          </a:prstGeom>
          <a:solidFill>
            <a:srgbClr val="D1453B"/>
          </a:solidFill>
          <a:ln w="12700">
            <a:solidFill>
              <a:srgbClr val="333333"/>
            </a:solidFill>
            <a:prstDash val="solid"/>
          </a:ln>
        </p:spPr>
      </p:sp>
      <p:sp>
        <p:nvSpPr>
          <p:cNvPr id="39" name="Shape 37"/>
          <p:cNvSpPr/>
          <p:nvPr/>
        </p:nvSpPr>
        <p:spPr>
          <a:xfrm>
            <a:off x="8403336" y="2889504"/>
            <a:ext cx="219456" cy="219456"/>
          </a:xfrm>
          <a:prstGeom prst="rect">
            <a:avLst/>
          </a:prstGeom>
          <a:solidFill>
            <a:srgbClr val="C9D3DA"/>
          </a:solidFill>
          <a:ln w="12700">
            <a:solidFill>
              <a:srgbClr val="333333"/>
            </a:solidFill>
            <a:prstDash val="solid"/>
          </a:ln>
        </p:spPr>
      </p:sp>
      <p:sp>
        <p:nvSpPr>
          <p:cNvPr id="40" name="Shape 38"/>
          <p:cNvSpPr/>
          <p:nvPr/>
        </p:nvSpPr>
        <p:spPr>
          <a:xfrm>
            <a:off x="8705088" y="2889504"/>
            <a:ext cx="219456" cy="219456"/>
          </a:xfrm>
          <a:prstGeom prst="rect">
            <a:avLst/>
          </a:prstGeom>
          <a:solidFill>
            <a:srgbClr val="C9D3DA"/>
          </a:solidFill>
          <a:ln w="12700">
            <a:solidFill>
              <a:srgbClr val="333333"/>
            </a:solidFill>
            <a:prstDash val="solid"/>
          </a:ln>
        </p:spPr>
      </p:sp>
      <p:sp>
        <p:nvSpPr>
          <p:cNvPr id="41" name="Shape 39"/>
          <p:cNvSpPr/>
          <p:nvPr/>
        </p:nvSpPr>
        <p:spPr>
          <a:xfrm>
            <a:off x="9006840" y="2889504"/>
            <a:ext cx="219456" cy="219456"/>
          </a:xfrm>
          <a:prstGeom prst="rect">
            <a:avLst/>
          </a:prstGeom>
          <a:solidFill>
            <a:srgbClr val="C9D3DA"/>
          </a:solidFill>
          <a:ln w="12700">
            <a:solidFill>
              <a:srgbClr val="333333"/>
            </a:solidFill>
            <a:prstDash val="solid"/>
          </a:ln>
        </p:spPr>
      </p:sp>
      <p:sp>
        <p:nvSpPr>
          <p:cNvPr id="42" name="Shape 40"/>
          <p:cNvSpPr/>
          <p:nvPr/>
        </p:nvSpPr>
        <p:spPr>
          <a:xfrm>
            <a:off x="9308592" y="2889504"/>
            <a:ext cx="219456" cy="219456"/>
          </a:xfrm>
          <a:prstGeom prst="rect">
            <a:avLst/>
          </a:prstGeom>
          <a:solidFill>
            <a:srgbClr val="C9D3DA"/>
          </a:solidFill>
          <a:ln w="12700">
            <a:solidFill>
              <a:srgbClr val="333333"/>
            </a:solidFill>
            <a:prstDash val="solid"/>
          </a:ln>
        </p:spPr>
      </p:sp>
      <p:sp>
        <p:nvSpPr>
          <p:cNvPr id="43" name="Shape 41"/>
          <p:cNvSpPr/>
          <p:nvPr/>
        </p:nvSpPr>
        <p:spPr>
          <a:xfrm>
            <a:off x="9610344" y="2889504"/>
            <a:ext cx="219456" cy="219456"/>
          </a:xfrm>
          <a:prstGeom prst="rect">
            <a:avLst/>
          </a:prstGeom>
          <a:solidFill>
            <a:srgbClr val="C9D3DA"/>
          </a:solidFill>
          <a:ln w="12700">
            <a:solidFill>
              <a:srgbClr val="333333"/>
            </a:solidFill>
            <a:prstDash val="solid"/>
          </a:ln>
        </p:spPr>
      </p:sp>
      <p:sp>
        <p:nvSpPr>
          <p:cNvPr id="44" name="Shape 42"/>
          <p:cNvSpPr/>
          <p:nvPr/>
        </p:nvSpPr>
        <p:spPr>
          <a:xfrm>
            <a:off x="9912096" y="2889504"/>
            <a:ext cx="219456" cy="219456"/>
          </a:xfrm>
          <a:prstGeom prst="rect">
            <a:avLst/>
          </a:prstGeom>
          <a:solidFill>
            <a:srgbClr val="C9D3DA"/>
          </a:solidFill>
          <a:ln w="12700">
            <a:solidFill>
              <a:srgbClr val="333333"/>
            </a:solidFill>
            <a:prstDash val="solid"/>
          </a:ln>
        </p:spPr>
      </p:sp>
      <p:sp>
        <p:nvSpPr>
          <p:cNvPr id="45" name="Shape 43"/>
          <p:cNvSpPr/>
          <p:nvPr/>
        </p:nvSpPr>
        <p:spPr>
          <a:xfrm>
            <a:off x="10213848" y="2889504"/>
            <a:ext cx="219456" cy="219456"/>
          </a:xfrm>
          <a:prstGeom prst="rect">
            <a:avLst/>
          </a:prstGeom>
          <a:solidFill>
            <a:srgbClr val="C9D3DA"/>
          </a:solidFill>
          <a:ln w="12700">
            <a:solidFill>
              <a:srgbClr val="333333"/>
            </a:solidFill>
            <a:prstDash val="solid"/>
          </a:ln>
        </p:spPr>
      </p:sp>
      <p:sp>
        <p:nvSpPr>
          <p:cNvPr id="46" name="Shape 44"/>
          <p:cNvSpPr/>
          <p:nvPr/>
        </p:nvSpPr>
        <p:spPr>
          <a:xfrm>
            <a:off x="10515600" y="2889504"/>
            <a:ext cx="219456" cy="219456"/>
          </a:xfrm>
          <a:prstGeom prst="rect">
            <a:avLst/>
          </a:prstGeom>
          <a:solidFill>
            <a:srgbClr val="C9D3DA"/>
          </a:solidFill>
          <a:ln w="12700">
            <a:solidFill>
              <a:srgbClr val="333333"/>
            </a:solidFill>
            <a:prstDash val="solid"/>
          </a:ln>
        </p:spPr>
      </p:sp>
      <p:sp>
        <p:nvSpPr>
          <p:cNvPr id="47" name="Shape 45"/>
          <p:cNvSpPr/>
          <p:nvPr/>
        </p:nvSpPr>
        <p:spPr>
          <a:xfrm>
            <a:off x="10817352" y="2889504"/>
            <a:ext cx="219456" cy="219456"/>
          </a:xfrm>
          <a:prstGeom prst="rect">
            <a:avLst/>
          </a:prstGeom>
          <a:solidFill>
            <a:srgbClr val="C9D3DA"/>
          </a:solidFill>
          <a:ln w="12700">
            <a:solidFill>
              <a:srgbClr val="333333"/>
            </a:solidFill>
            <a:prstDash val="solid"/>
          </a:ln>
        </p:spPr>
      </p:sp>
      <p:sp>
        <p:nvSpPr>
          <p:cNvPr id="48" name="Shape 46"/>
          <p:cNvSpPr/>
          <p:nvPr/>
        </p:nvSpPr>
        <p:spPr>
          <a:xfrm>
            <a:off x="11119104" y="2889504"/>
            <a:ext cx="219456" cy="219456"/>
          </a:xfrm>
          <a:prstGeom prst="rect">
            <a:avLst/>
          </a:prstGeom>
          <a:solidFill>
            <a:srgbClr val="C9D3DA"/>
          </a:solidFill>
          <a:ln w="12700">
            <a:solidFill>
              <a:srgbClr val="333333"/>
            </a:solidFill>
            <a:prstDash val="solid"/>
          </a:ln>
        </p:spPr>
      </p:sp>
      <p:sp>
        <p:nvSpPr>
          <p:cNvPr id="49" name="Shape 47"/>
          <p:cNvSpPr/>
          <p:nvPr/>
        </p:nvSpPr>
        <p:spPr>
          <a:xfrm>
            <a:off x="11420856" y="2889504"/>
            <a:ext cx="219456" cy="219456"/>
          </a:xfrm>
          <a:prstGeom prst="rect">
            <a:avLst/>
          </a:prstGeom>
          <a:solidFill>
            <a:srgbClr val="C9D3DA"/>
          </a:solidFill>
          <a:ln w="12700">
            <a:solidFill>
              <a:srgbClr val="333333"/>
            </a:solidFill>
            <a:prstDash val="solid"/>
          </a:ln>
        </p:spPr>
      </p:sp>
      <p:sp>
        <p:nvSpPr>
          <p:cNvPr id="50" name="Shape 48"/>
          <p:cNvSpPr/>
          <p:nvPr/>
        </p:nvSpPr>
        <p:spPr>
          <a:xfrm>
            <a:off x="7498080" y="3191256"/>
            <a:ext cx="219456" cy="219456"/>
          </a:xfrm>
          <a:prstGeom prst="rect">
            <a:avLst/>
          </a:prstGeom>
          <a:solidFill>
            <a:srgbClr val="C9D3DA"/>
          </a:solidFill>
          <a:ln w="12700">
            <a:solidFill>
              <a:srgbClr val="333333"/>
            </a:solidFill>
            <a:prstDash val="solid"/>
          </a:ln>
        </p:spPr>
      </p:sp>
      <p:sp>
        <p:nvSpPr>
          <p:cNvPr id="51" name="Shape 49"/>
          <p:cNvSpPr/>
          <p:nvPr/>
        </p:nvSpPr>
        <p:spPr>
          <a:xfrm>
            <a:off x="7799832" y="3191256"/>
            <a:ext cx="219456" cy="219456"/>
          </a:xfrm>
          <a:prstGeom prst="rect">
            <a:avLst/>
          </a:prstGeom>
          <a:solidFill>
            <a:srgbClr val="C9D3DA"/>
          </a:solidFill>
          <a:ln w="12700">
            <a:solidFill>
              <a:srgbClr val="333333"/>
            </a:solidFill>
            <a:prstDash val="solid"/>
          </a:ln>
        </p:spPr>
      </p:sp>
      <p:sp>
        <p:nvSpPr>
          <p:cNvPr id="52" name="Shape 50"/>
          <p:cNvSpPr/>
          <p:nvPr/>
        </p:nvSpPr>
        <p:spPr>
          <a:xfrm>
            <a:off x="8101584" y="3191256"/>
            <a:ext cx="219456" cy="219456"/>
          </a:xfrm>
          <a:prstGeom prst="rect">
            <a:avLst/>
          </a:prstGeom>
          <a:solidFill>
            <a:srgbClr val="D1453B"/>
          </a:solidFill>
          <a:ln w="12700">
            <a:solidFill>
              <a:srgbClr val="333333"/>
            </a:solidFill>
            <a:prstDash val="solid"/>
          </a:ln>
        </p:spPr>
      </p:sp>
      <p:sp>
        <p:nvSpPr>
          <p:cNvPr id="53" name="Shape 51"/>
          <p:cNvSpPr/>
          <p:nvPr/>
        </p:nvSpPr>
        <p:spPr>
          <a:xfrm>
            <a:off x="8403336" y="3191256"/>
            <a:ext cx="219456" cy="219456"/>
          </a:xfrm>
          <a:prstGeom prst="rect">
            <a:avLst/>
          </a:prstGeom>
          <a:solidFill>
            <a:srgbClr val="C9D3DA"/>
          </a:solidFill>
          <a:ln w="12700">
            <a:solidFill>
              <a:srgbClr val="333333"/>
            </a:solidFill>
            <a:prstDash val="solid"/>
          </a:ln>
        </p:spPr>
      </p:sp>
      <p:sp>
        <p:nvSpPr>
          <p:cNvPr id="54" name="Shape 52"/>
          <p:cNvSpPr/>
          <p:nvPr/>
        </p:nvSpPr>
        <p:spPr>
          <a:xfrm>
            <a:off x="8705088" y="3191256"/>
            <a:ext cx="219456" cy="219456"/>
          </a:xfrm>
          <a:prstGeom prst="rect">
            <a:avLst/>
          </a:prstGeom>
          <a:solidFill>
            <a:srgbClr val="C9D3DA"/>
          </a:solidFill>
          <a:ln w="12700">
            <a:solidFill>
              <a:srgbClr val="333333"/>
            </a:solidFill>
            <a:prstDash val="solid"/>
          </a:ln>
        </p:spPr>
      </p:sp>
      <p:sp>
        <p:nvSpPr>
          <p:cNvPr id="55" name="Shape 53"/>
          <p:cNvSpPr/>
          <p:nvPr/>
        </p:nvSpPr>
        <p:spPr>
          <a:xfrm>
            <a:off x="9006840" y="3191256"/>
            <a:ext cx="219456" cy="219456"/>
          </a:xfrm>
          <a:prstGeom prst="rect">
            <a:avLst/>
          </a:prstGeom>
          <a:solidFill>
            <a:srgbClr val="C9D3DA"/>
          </a:solidFill>
          <a:ln w="12700">
            <a:solidFill>
              <a:srgbClr val="333333"/>
            </a:solidFill>
            <a:prstDash val="solid"/>
          </a:ln>
        </p:spPr>
      </p:sp>
      <p:sp>
        <p:nvSpPr>
          <p:cNvPr id="56" name="Shape 54"/>
          <p:cNvSpPr/>
          <p:nvPr/>
        </p:nvSpPr>
        <p:spPr>
          <a:xfrm>
            <a:off x="9308592" y="3191256"/>
            <a:ext cx="219456" cy="219456"/>
          </a:xfrm>
          <a:prstGeom prst="rect">
            <a:avLst/>
          </a:prstGeom>
          <a:solidFill>
            <a:srgbClr val="C9D3DA"/>
          </a:solidFill>
          <a:ln w="12700">
            <a:solidFill>
              <a:srgbClr val="333333"/>
            </a:solidFill>
            <a:prstDash val="solid"/>
          </a:ln>
        </p:spPr>
      </p:sp>
      <p:sp>
        <p:nvSpPr>
          <p:cNvPr id="57" name="Shape 55"/>
          <p:cNvSpPr/>
          <p:nvPr/>
        </p:nvSpPr>
        <p:spPr>
          <a:xfrm>
            <a:off x="9610344" y="3191256"/>
            <a:ext cx="219456" cy="219456"/>
          </a:xfrm>
          <a:prstGeom prst="rect">
            <a:avLst/>
          </a:prstGeom>
          <a:solidFill>
            <a:srgbClr val="C9D3DA"/>
          </a:solidFill>
          <a:ln w="12700">
            <a:solidFill>
              <a:srgbClr val="333333"/>
            </a:solidFill>
            <a:prstDash val="solid"/>
          </a:ln>
        </p:spPr>
      </p:sp>
      <p:sp>
        <p:nvSpPr>
          <p:cNvPr id="58" name="Shape 56"/>
          <p:cNvSpPr/>
          <p:nvPr/>
        </p:nvSpPr>
        <p:spPr>
          <a:xfrm>
            <a:off x="9912096" y="3191256"/>
            <a:ext cx="219456" cy="219456"/>
          </a:xfrm>
          <a:prstGeom prst="rect">
            <a:avLst/>
          </a:prstGeom>
          <a:solidFill>
            <a:srgbClr val="C9D3DA"/>
          </a:solidFill>
          <a:ln w="12700">
            <a:solidFill>
              <a:srgbClr val="333333"/>
            </a:solidFill>
            <a:prstDash val="solid"/>
          </a:ln>
        </p:spPr>
      </p:sp>
      <p:sp>
        <p:nvSpPr>
          <p:cNvPr id="59" name="Shape 57"/>
          <p:cNvSpPr/>
          <p:nvPr/>
        </p:nvSpPr>
        <p:spPr>
          <a:xfrm>
            <a:off x="10213848" y="3191256"/>
            <a:ext cx="219456" cy="219456"/>
          </a:xfrm>
          <a:prstGeom prst="rect">
            <a:avLst/>
          </a:prstGeom>
          <a:solidFill>
            <a:srgbClr val="C9D3DA"/>
          </a:solidFill>
          <a:ln w="12700">
            <a:solidFill>
              <a:srgbClr val="333333"/>
            </a:solidFill>
            <a:prstDash val="solid"/>
          </a:ln>
        </p:spPr>
      </p:sp>
      <p:sp>
        <p:nvSpPr>
          <p:cNvPr id="60" name="Shape 58"/>
          <p:cNvSpPr/>
          <p:nvPr/>
        </p:nvSpPr>
        <p:spPr>
          <a:xfrm>
            <a:off x="10515600" y="3191256"/>
            <a:ext cx="219456" cy="219456"/>
          </a:xfrm>
          <a:prstGeom prst="rect">
            <a:avLst/>
          </a:prstGeom>
          <a:solidFill>
            <a:srgbClr val="C9D3DA"/>
          </a:solidFill>
          <a:ln w="12700">
            <a:solidFill>
              <a:srgbClr val="333333"/>
            </a:solidFill>
            <a:prstDash val="solid"/>
          </a:ln>
        </p:spPr>
      </p:sp>
      <p:sp>
        <p:nvSpPr>
          <p:cNvPr id="61" name="Shape 59"/>
          <p:cNvSpPr/>
          <p:nvPr/>
        </p:nvSpPr>
        <p:spPr>
          <a:xfrm>
            <a:off x="10817352" y="3191256"/>
            <a:ext cx="219456" cy="219456"/>
          </a:xfrm>
          <a:prstGeom prst="rect">
            <a:avLst/>
          </a:prstGeom>
          <a:solidFill>
            <a:srgbClr val="C9D3DA"/>
          </a:solidFill>
          <a:ln w="12700">
            <a:solidFill>
              <a:srgbClr val="333333"/>
            </a:solidFill>
            <a:prstDash val="solid"/>
          </a:ln>
        </p:spPr>
      </p:sp>
      <p:sp>
        <p:nvSpPr>
          <p:cNvPr id="62" name="Shape 60"/>
          <p:cNvSpPr/>
          <p:nvPr/>
        </p:nvSpPr>
        <p:spPr>
          <a:xfrm>
            <a:off x="11119104" y="3191256"/>
            <a:ext cx="219456" cy="219456"/>
          </a:xfrm>
          <a:prstGeom prst="rect">
            <a:avLst/>
          </a:prstGeom>
          <a:solidFill>
            <a:srgbClr val="C9D3DA"/>
          </a:solidFill>
          <a:ln w="12700">
            <a:solidFill>
              <a:srgbClr val="333333"/>
            </a:solidFill>
            <a:prstDash val="solid"/>
          </a:ln>
        </p:spPr>
      </p:sp>
      <p:sp>
        <p:nvSpPr>
          <p:cNvPr id="63" name="Shape 61"/>
          <p:cNvSpPr/>
          <p:nvPr/>
        </p:nvSpPr>
        <p:spPr>
          <a:xfrm>
            <a:off x="11420856" y="3191256"/>
            <a:ext cx="219456" cy="219456"/>
          </a:xfrm>
          <a:prstGeom prst="rect">
            <a:avLst/>
          </a:prstGeom>
          <a:solidFill>
            <a:srgbClr val="C9D3DA"/>
          </a:solidFill>
          <a:ln w="12700">
            <a:solidFill>
              <a:srgbClr val="333333"/>
            </a:solidFill>
            <a:prstDash val="solid"/>
          </a:ln>
        </p:spPr>
      </p:sp>
      <p:sp>
        <p:nvSpPr>
          <p:cNvPr id="64" name="Shape 62"/>
          <p:cNvSpPr/>
          <p:nvPr/>
        </p:nvSpPr>
        <p:spPr>
          <a:xfrm>
            <a:off x="7498080" y="3493008"/>
            <a:ext cx="219456" cy="219456"/>
          </a:xfrm>
          <a:prstGeom prst="rect">
            <a:avLst/>
          </a:prstGeom>
          <a:solidFill>
            <a:srgbClr val="C9D3DA"/>
          </a:solidFill>
          <a:ln w="12700">
            <a:solidFill>
              <a:srgbClr val="333333"/>
            </a:solidFill>
            <a:prstDash val="solid"/>
          </a:ln>
        </p:spPr>
      </p:sp>
      <p:sp>
        <p:nvSpPr>
          <p:cNvPr id="65" name="Shape 63"/>
          <p:cNvSpPr/>
          <p:nvPr/>
        </p:nvSpPr>
        <p:spPr>
          <a:xfrm>
            <a:off x="7799832" y="3493008"/>
            <a:ext cx="219456" cy="219456"/>
          </a:xfrm>
          <a:prstGeom prst="rect">
            <a:avLst/>
          </a:prstGeom>
          <a:solidFill>
            <a:srgbClr val="C9D3DA"/>
          </a:solidFill>
          <a:ln w="12700">
            <a:solidFill>
              <a:srgbClr val="333333"/>
            </a:solidFill>
            <a:prstDash val="solid"/>
          </a:ln>
        </p:spPr>
      </p:sp>
      <p:sp>
        <p:nvSpPr>
          <p:cNvPr id="66" name="Shape 64"/>
          <p:cNvSpPr/>
          <p:nvPr/>
        </p:nvSpPr>
        <p:spPr>
          <a:xfrm>
            <a:off x="8101584" y="3493008"/>
            <a:ext cx="219456" cy="219456"/>
          </a:xfrm>
          <a:prstGeom prst="rect">
            <a:avLst/>
          </a:prstGeom>
          <a:solidFill>
            <a:srgbClr val="D1453B"/>
          </a:solidFill>
          <a:ln w="12700">
            <a:solidFill>
              <a:srgbClr val="333333"/>
            </a:solidFill>
            <a:prstDash val="solid"/>
          </a:ln>
        </p:spPr>
      </p:sp>
      <p:sp>
        <p:nvSpPr>
          <p:cNvPr id="67" name="Shape 65"/>
          <p:cNvSpPr/>
          <p:nvPr/>
        </p:nvSpPr>
        <p:spPr>
          <a:xfrm>
            <a:off x="8403336" y="3493008"/>
            <a:ext cx="219456" cy="219456"/>
          </a:xfrm>
          <a:prstGeom prst="rect">
            <a:avLst/>
          </a:prstGeom>
          <a:solidFill>
            <a:srgbClr val="C9D3DA"/>
          </a:solidFill>
          <a:ln w="12700">
            <a:solidFill>
              <a:srgbClr val="333333"/>
            </a:solidFill>
            <a:prstDash val="solid"/>
          </a:ln>
        </p:spPr>
      </p:sp>
      <p:sp>
        <p:nvSpPr>
          <p:cNvPr id="68" name="Shape 66"/>
          <p:cNvSpPr/>
          <p:nvPr/>
        </p:nvSpPr>
        <p:spPr>
          <a:xfrm>
            <a:off x="8705088" y="3493008"/>
            <a:ext cx="219456" cy="219456"/>
          </a:xfrm>
          <a:prstGeom prst="rect">
            <a:avLst/>
          </a:prstGeom>
          <a:solidFill>
            <a:srgbClr val="C9D3DA"/>
          </a:solidFill>
          <a:ln w="12700">
            <a:solidFill>
              <a:srgbClr val="333333"/>
            </a:solidFill>
            <a:prstDash val="solid"/>
          </a:ln>
        </p:spPr>
      </p:sp>
      <p:sp>
        <p:nvSpPr>
          <p:cNvPr id="69" name="Shape 67"/>
          <p:cNvSpPr/>
          <p:nvPr/>
        </p:nvSpPr>
        <p:spPr>
          <a:xfrm>
            <a:off x="9006840" y="3493008"/>
            <a:ext cx="219456" cy="219456"/>
          </a:xfrm>
          <a:prstGeom prst="rect">
            <a:avLst/>
          </a:prstGeom>
          <a:solidFill>
            <a:srgbClr val="C9D3DA"/>
          </a:solidFill>
          <a:ln w="12700">
            <a:solidFill>
              <a:srgbClr val="333333"/>
            </a:solidFill>
            <a:prstDash val="solid"/>
          </a:ln>
        </p:spPr>
      </p:sp>
      <p:sp>
        <p:nvSpPr>
          <p:cNvPr id="70" name="Shape 68"/>
          <p:cNvSpPr/>
          <p:nvPr/>
        </p:nvSpPr>
        <p:spPr>
          <a:xfrm>
            <a:off x="9308592" y="3493008"/>
            <a:ext cx="219456" cy="219456"/>
          </a:xfrm>
          <a:prstGeom prst="rect">
            <a:avLst/>
          </a:prstGeom>
          <a:solidFill>
            <a:srgbClr val="C9D3DA"/>
          </a:solidFill>
          <a:ln w="12700">
            <a:solidFill>
              <a:srgbClr val="333333"/>
            </a:solidFill>
            <a:prstDash val="solid"/>
          </a:ln>
        </p:spPr>
      </p:sp>
      <p:sp>
        <p:nvSpPr>
          <p:cNvPr id="71" name="Shape 69"/>
          <p:cNvSpPr/>
          <p:nvPr/>
        </p:nvSpPr>
        <p:spPr>
          <a:xfrm>
            <a:off x="9610344" y="3493008"/>
            <a:ext cx="219456" cy="219456"/>
          </a:xfrm>
          <a:prstGeom prst="rect">
            <a:avLst/>
          </a:prstGeom>
          <a:solidFill>
            <a:srgbClr val="C9D3DA"/>
          </a:solidFill>
          <a:ln w="12700">
            <a:solidFill>
              <a:srgbClr val="333333"/>
            </a:solidFill>
            <a:prstDash val="solid"/>
          </a:ln>
        </p:spPr>
      </p:sp>
      <p:sp>
        <p:nvSpPr>
          <p:cNvPr id="72" name="Shape 70"/>
          <p:cNvSpPr/>
          <p:nvPr/>
        </p:nvSpPr>
        <p:spPr>
          <a:xfrm>
            <a:off x="9912096" y="3493008"/>
            <a:ext cx="219456" cy="219456"/>
          </a:xfrm>
          <a:prstGeom prst="rect">
            <a:avLst/>
          </a:prstGeom>
          <a:solidFill>
            <a:srgbClr val="C9D3DA"/>
          </a:solidFill>
          <a:ln w="12700">
            <a:solidFill>
              <a:srgbClr val="333333"/>
            </a:solidFill>
            <a:prstDash val="solid"/>
          </a:ln>
        </p:spPr>
      </p:sp>
      <p:sp>
        <p:nvSpPr>
          <p:cNvPr id="73" name="Shape 71"/>
          <p:cNvSpPr/>
          <p:nvPr/>
        </p:nvSpPr>
        <p:spPr>
          <a:xfrm>
            <a:off x="10213848" y="3493008"/>
            <a:ext cx="219456" cy="219456"/>
          </a:xfrm>
          <a:prstGeom prst="rect">
            <a:avLst/>
          </a:prstGeom>
          <a:solidFill>
            <a:srgbClr val="C9D3DA"/>
          </a:solidFill>
          <a:ln w="12700">
            <a:solidFill>
              <a:srgbClr val="333333"/>
            </a:solidFill>
            <a:prstDash val="solid"/>
          </a:ln>
        </p:spPr>
      </p:sp>
      <p:sp>
        <p:nvSpPr>
          <p:cNvPr id="74" name="Shape 72"/>
          <p:cNvSpPr/>
          <p:nvPr/>
        </p:nvSpPr>
        <p:spPr>
          <a:xfrm>
            <a:off x="10515600" y="3493008"/>
            <a:ext cx="219456" cy="219456"/>
          </a:xfrm>
          <a:prstGeom prst="rect">
            <a:avLst/>
          </a:prstGeom>
          <a:solidFill>
            <a:srgbClr val="C9D3DA"/>
          </a:solidFill>
          <a:ln w="12700">
            <a:solidFill>
              <a:srgbClr val="333333"/>
            </a:solidFill>
            <a:prstDash val="solid"/>
          </a:ln>
        </p:spPr>
      </p:sp>
      <p:sp>
        <p:nvSpPr>
          <p:cNvPr id="75" name="Shape 73"/>
          <p:cNvSpPr/>
          <p:nvPr/>
        </p:nvSpPr>
        <p:spPr>
          <a:xfrm>
            <a:off x="10817352" y="3493008"/>
            <a:ext cx="219456" cy="219456"/>
          </a:xfrm>
          <a:prstGeom prst="rect">
            <a:avLst/>
          </a:prstGeom>
          <a:solidFill>
            <a:srgbClr val="C9D3DA"/>
          </a:solidFill>
          <a:ln w="12700">
            <a:solidFill>
              <a:srgbClr val="333333"/>
            </a:solidFill>
            <a:prstDash val="solid"/>
          </a:ln>
        </p:spPr>
      </p:sp>
      <p:sp>
        <p:nvSpPr>
          <p:cNvPr id="76" name="Shape 74"/>
          <p:cNvSpPr/>
          <p:nvPr/>
        </p:nvSpPr>
        <p:spPr>
          <a:xfrm>
            <a:off x="11119104" y="3493008"/>
            <a:ext cx="219456" cy="219456"/>
          </a:xfrm>
          <a:prstGeom prst="rect">
            <a:avLst/>
          </a:prstGeom>
          <a:solidFill>
            <a:srgbClr val="C9D3DA"/>
          </a:solidFill>
          <a:ln w="12700">
            <a:solidFill>
              <a:srgbClr val="333333"/>
            </a:solidFill>
            <a:prstDash val="solid"/>
          </a:ln>
        </p:spPr>
      </p:sp>
      <p:sp>
        <p:nvSpPr>
          <p:cNvPr id="77" name="Shape 75"/>
          <p:cNvSpPr/>
          <p:nvPr/>
        </p:nvSpPr>
        <p:spPr>
          <a:xfrm>
            <a:off x="11420856" y="3493008"/>
            <a:ext cx="219456" cy="219456"/>
          </a:xfrm>
          <a:prstGeom prst="rect">
            <a:avLst/>
          </a:prstGeom>
          <a:solidFill>
            <a:srgbClr val="C9D3DA"/>
          </a:solidFill>
          <a:ln w="12700">
            <a:solidFill>
              <a:srgbClr val="333333"/>
            </a:solidFill>
            <a:prstDash val="solid"/>
          </a:ln>
        </p:spPr>
      </p:sp>
      <p:sp>
        <p:nvSpPr>
          <p:cNvPr id="78" name="Shape 76"/>
          <p:cNvSpPr/>
          <p:nvPr/>
        </p:nvSpPr>
        <p:spPr>
          <a:xfrm>
            <a:off x="7498080" y="3794760"/>
            <a:ext cx="219456" cy="219456"/>
          </a:xfrm>
          <a:prstGeom prst="rect">
            <a:avLst/>
          </a:prstGeom>
          <a:solidFill>
            <a:srgbClr val="C9D3DA"/>
          </a:solidFill>
          <a:ln w="12700">
            <a:solidFill>
              <a:srgbClr val="333333"/>
            </a:solidFill>
            <a:prstDash val="solid"/>
          </a:ln>
        </p:spPr>
      </p:sp>
      <p:sp>
        <p:nvSpPr>
          <p:cNvPr id="79" name="Shape 77"/>
          <p:cNvSpPr/>
          <p:nvPr/>
        </p:nvSpPr>
        <p:spPr>
          <a:xfrm>
            <a:off x="7799832" y="3794760"/>
            <a:ext cx="219456" cy="219456"/>
          </a:xfrm>
          <a:prstGeom prst="rect">
            <a:avLst/>
          </a:prstGeom>
          <a:solidFill>
            <a:srgbClr val="C9D3DA"/>
          </a:solidFill>
          <a:ln w="12700">
            <a:solidFill>
              <a:srgbClr val="333333"/>
            </a:solidFill>
            <a:prstDash val="solid"/>
          </a:ln>
        </p:spPr>
      </p:sp>
      <p:sp>
        <p:nvSpPr>
          <p:cNvPr id="80" name="Shape 78"/>
          <p:cNvSpPr/>
          <p:nvPr/>
        </p:nvSpPr>
        <p:spPr>
          <a:xfrm>
            <a:off x="8101584" y="3794760"/>
            <a:ext cx="219456" cy="219456"/>
          </a:xfrm>
          <a:prstGeom prst="rect">
            <a:avLst/>
          </a:prstGeom>
          <a:solidFill>
            <a:srgbClr val="D1453B"/>
          </a:solidFill>
          <a:ln w="12700">
            <a:solidFill>
              <a:srgbClr val="333333"/>
            </a:solidFill>
            <a:prstDash val="solid"/>
          </a:ln>
        </p:spPr>
      </p:sp>
      <p:sp>
        <p:nvSpPr>
          <p:cNvPr id="81" name="Shape 79"/>
          <p:cNvSpPr/>
          <p:nvPr/>
        </p:nvSpPr>
        <p:spPr>
          <a:xfrm>
            <a:off x="8403336" y="3794760"/>
            <a:ext cx="219456" cy="219456"/>
          </a:xfrm>
          <a:prstGeom prst="rect">
            <a:avLst/>
          </a:prstGeom>
          <a:solidFill>
            <a:srgbClr val="C9D3DA"/>
          </a:solidFill>
          <a:ln w="12700">
            <a:solidFill>
              <a:srgbClr val="333333"/>
            </a:solidFill>
            <a:prstDash val="solid"/>
          </a:ln>
        </p:spPr>
      </p:sp>
      <p:sp>
        <p:nvSpPr>
          <p:cNvPr id="82" name="Shape 80"/>
          <p:cNvSpPr/>
          <p:nvPr/>
        </p:nvSpPr>
        <p:spPr>
          <a:xfrm>
            <a:off x="8705088" y="3794760"/>
            <a:ext cx="219456" cy="219456"/>
          </a:xfrm>
          <a:prstGeom prst="rect">
            <a:avLst/>
          </a:prstGeom>
          <a:solidFill>
            <a:srgbClr val="C9D3DA"/>
          </a:solidFill>
          <a:ln w="12700">
            <a:solidFill>
              <a:srgbClr val="333333"/>
            </a:solidFill>
            <a:prstDash val="solid"/>
          </a:ln>
        </p:spPr>
      </p:sp>
      <p:sp>
        <p:nvSpPr>
          <p:cNvPr id="83" name="Shape 81"/>
          <p:cNvSpPr/>
          <p:nvPr/>
        </p:nvSpPr>
        <p:spPr>
          <a:xfrm>
            <a:off x="9006840" y="3794760"/>
            <a:ext cx="219456" cy="219456"/>
          </a:xfrm>
          <a:prstGeom prst="rect">
            <a:avLst/>
          </a:prstGeom>
          <a:solidFill>
            <a:srgbClr val="C9D3DA"/>
          </a:solidFill>
          <a:ln w="12700">
            <a:solidFill>
              <a:srgbClr val="333333"/>
            </a:solidFill>
            <a:prstDash val="solid"/>
          </a:ln>
        </p:spPr>
      </p:sp>
      <p:sp>
        <p:nvSpPr>
          <p:cNvPr id="84" name="Shape 82"/>
          <p:cNvSpPr/>
          <p:nvPr/>
        </p:nvSpPr>
        <p:spPr>
          <a:xfrm>
            <a:off x="9308592" y="3794760"/>
            <a:ext cx="219456" cy="219456"/>
          </a:xfrm>
          <a:prstGeom prst="rect">
            <a:avLst/>
          </a:prstGeom>
          <a:solidFill>
            <a:srgbClr val="C9D3DA"/>
          </a:solidFill>
          <a:ln w="12700">
            <a:solidFill>
              <a:srgbClr val="333333"/>
            </a:solidFill>
            <a:prstDash val="solid"/>
          </a:ln>
        </p:spPr>
      </p:sp>
      <p:sp>
        <p:nvSpPr>
          <p:cNvPr id="85" name="Shape 83"/>
          <p:cNvSpPr/>
          <p:nvPr/>
        </p:nvSpPr>
        <p:spPr>
          <a:xfrm>
            <a:off x="9610344" y="3794760"/>
            <a:ext cx="219456" cy="219456"/>
          </a:xfrm>
          <a:prstGeom prst="rect">
            <a:avLst/>
          </a:prstGeom>
          <a:solidFill>
            <a:srgbClr val="C9D3DA"/>
          </a:solidFill>
          <a:ln w="12700">
            <a:solidFill>
              <a:srgbClr val="333333"/>
            </a:solidFill>
            <a:prstDash val="solid"/>
          </a:ln>
        </p:spPr>
      </p:sp>
      <p:sp>
        <p:nvSpPr>
          <p:cNvPr id="86" name="Shape 84"/>
          <p:cNvSpPr/>
          <p:nvPr/>
        </p:nvSpPr>
        <p:spPr>
          <a:xfrm>
            <a:off x="9912096" y="3794760"/>
            <a:ext cx="219456" cy="219456"/>
          </a:xfrm>
          <a:prstGeom prst="rect">
            <a:avLst/>
          </a:prstGeom>
          <a:solidFill>
            <a:srgbClr val="C9D3DA"/>
          </a:solidFill>
          <a:ln w="12700">
            <a:solidFill>
              <a:srgbClr val="333333"/>
            </a:solidFill>
            <a:prstDash val="solid"/>
          </a:ln>
        </p:spPr>
      </p:sp>
      <p:sp>
        <p:nvSpPr>
          <p:cNvPr id="87" name="Shape 85"/>
          <p:cNvSpPr/>
          <p:nvPr/>
        </p:nvSpPr>
        <p:spPr>
          <a:xfrm>
            <a:off x="10213848" y="3794760"/>
            <a:ext cx="219456" cy="219456"/>
          </a:xfrm>
          <a:prstGeom prst="rect">
            <a:avLst/>
          </a:prstGeom>
          <a:solidFill>
            <a:srgbClr val="C9D3DA"/>
          </a:solidFill>
          <a:ln w="12700">
            <a:solidFill>
              <a:srgbClr val="333333"/>
            </a:solidFill>
            <a:prstDash val="solid"/>
          </a:ln>
        </p:spPr>
      </p:sp>
      <p:sp>
        <p:nvSpPr>
          <p:cNvPr id="88" name="Shape 86"/>
          <p:cNvSpPr/>
          <p:nvPr/>
        </p:nvSpPr>
        <p:spPr>
          <a:xfrm>
            <a:off x="10515600" y="3794760"/>
            <a:ext cx="219456" cy="219456"/>
          </a:xfrm>
          <a:prstGeom prst="rect">
            <a:avLst/>
          </a:prstGeom>
          <a:solidFill>
            <a:srgbClr val="C9D3DA"/>
          </a:solidFill>
          <a:ln w="12700">
            <a:solidFill>
              <a:srgbClr val="333333"/>
            </a:solidFill>
            <a:prstDash val="solid"/>
          </a:ln>
        </p:spPr>
      </p:sp>
      <p:sp>
        <p:nvSpPr>
          <p:cNvPr id="89" name="Shape 87"/>
          <p:cNvSpPr/>
          <p:nvPr/>
        </p:nvSpPr>
        <p:spPr>
          <a:xfrm>
            <a:off x="10817352" y="3794760"/>
            <a:ext cx="219456" cy="219456"/>
          </a:xfrm>
          <a:prstGeom prst="rect">
            <a:avLst/>
          </a:prstGeom>
          <a:solidFill>
            <a:srgbClr val="C9D3DA"/>
          </a:solidFill>
          <a:ln w="12700">
            <a:solidFill>
              <a:srgbClr val="333333"/>
            </a:solidFill>
            <a:prstDash val="solid"/>
          </a:ln>
        </p:spPr>
      </p:sp>
      <p:sp>
        <p:nvSpPr>
          <p:cNvPr id="90" name="Shape 88"/>
          <p:cNvSpPr/>
          <p:nvPr/>
        </p:nvSpPr>
        <p:spPr>
          <a:xfrm>
            <a:off x="11119104" y="3794760"/>
            <a:ext cx="219456" cy="219456"/>
          </a:xfrm>
          <a:prstGeom prst="rect">
            <a:avLst/>
          </a:prstGeom>
          <a:solidFill>
            <a:srgbClr val="C9D3DA"/>
          </a:solidFill>
          <a:ln w="12700">
            <a:solidFill>
              <a:srgbClr val="333333"/>
            </a:solidFill>
            <a:prstDash val="solid"/>
          </a:ln>
        </p:spPr>
      </p:sp>
      <p:sp>
        <p:nvSpPr>
          <p:cNvPr id="91" name="Shape 89"/>
          <p:cNvSpPr/>
          <p:nvPr/>
        </p:nvSpPr>
        <p:spPr>
          <a:xfrm>
            <a:off x="11420856" y="3794760"/>
            <a:ext cx="219456" cy="219456"/>
          </a:xfrm>
          <a:prstGeom prst="rect">
            <a:avLst/>
          </a:prstGeom>
          <a:solidFill>
            <a:srgbClr val="C9D3DA"/>
          </a:solidFill>
          <a:ln w="12700">
            <a:solidFill>
              <a:srgbClr val="333333"/>
            </a:solidFill>
            <a:prstDash val="solid"/>
          </a:ln>
        </p:spPr>
      </p:sp>
      <p:sp>
        <p:nvSpPr>
          <p:cNvPr id="92" name="Shape 90"/>
          <p:cNvSpPr/>
          <p:nvPr/>
        </p:nvSpPr>
        <p:spPr>
          <a:xfrm>
            <a:off x="7498080" y="4096512"/>
            <a:ext cx="219456" cy="219456"/>
          </a:xfrm>
          <a:prstGeom prst="rect">
            <a:avLst/>
          </a:prstGeom>
          <a:solidFill>
            <a:srgbClr val="C9D3DA"/>
          </a:solidFill>
          <a:ln w="12700">
            <a:solidFill>
              <a:srgbClr val="333333"/>
            </a:solidFill>
            <a:prstDash val="solid"/>
          </a:ln>
        </p:spPr>
      </p:sp>
      <p:sp>
        <p:nvSpPr>
          <p:cNvPr id="93" name="Shape 91"/>
          <p:cNvSpPr/>
          <p:nvPr/>
        </p:nvSpPr>
        <p:spPr>
          <a:xfrm>
            <a:off x="7799832" y="4096512"/>
            <a:ext cx="219456" cy="219456"/>
          </a:xfrm>
          <a:prstGeom prst="rect">
            <a:avLst/>
          </a:prstGeom>
          <a:solidFill>
            <a:srgbClr val="C9D3DA"/>
          </a:solidFill>
          <a:ln w="12700">
            <a:solidFill>
              <a:srgbClr val="333333"/>
            </a:solidFill>
            <a:prstDash val="solid"/>
          </a:ln>
        </p:spPr>
      </p:sp>
      <p:sp>
        <p:nvSpPr>
          <p:cNvPr id="94" name="Shape 92"/>
          <p:cNvSpPr/>
          <p:nvPr/>
        </p:nvSpPr>
        <p:spPr>
          <a:xfrm>
            <a:off x="8101584" y="4096512"/>
            <a:ext cx="219456" cy="219456"/>
          </a:xfrm>
          <a:prstGeom prst="rect">
            <a:avLst/>
          </a:prstGeom>
          <a:solidFill>
            <a:srgbClr val="D1453B"/>
          </a:solidFill>
          <a:ln w="12700">
            <a:solidFill>
              <a:srgbClr val="333333"/>
            </a:solidFill>
            <a:prstDash val="solid"/>
          </a:ln>
        </p:spPr>
      </p:sp>
      <p:sp>
        <p:nvSpPr>
          <p:cNvPr id="95" name="Shape 93"/>
          <p:cNvSpPr/>
          <p:nvPr/>
        </p:nvSpPr>
        <p:spPr>
          <a:xfrm>
            <a:off x="8403336" y="4096512"/>
            <a:ext cx="219456" cy="219456"/>
          </a:xfrm>
          <a:prstGeom prst="rect">
            <a:avLst/>
          </a:prstGeom>
          <a:solidFill>
            <a:srgbClr val="C9D3DA"/>
          </a:solidFill>
          <a:ln w="12700">
            <a:solidFill>
              <a:srgbClr val="333333"/>
            </a:solidFill>
            <a:prstDash val="solid"/>
          </a:ln>
        </p:spPr>
      </p:sp>
      <p:sp>
        <p:nvSpPr>
          <p:cNvPr id="96" name="Shape 94"/>
          <p:cNvSpPr/>
          <p:nvPr/>
        </p:nvSpPr>
        <p:spPr>
          <a:xfrm>
            <a:off x="8705088" y="4096512"/>
            <a:ext cx="219456" cy="219456"/>
          </a:xfrm>
          <a:prstGeom prst="rect">
            <a:avLst/>
          </a:prstGeom>
          <a:solidFill>
            <a:srgbClr val="C9D3DA"/>
          </a:solidFill>
          <a:ln w="12700">
            <a:solidFill>
              <a:srgbClr val="333333"/>
            </a:solidFill>
            <a:prstDash val="solid"/>
          </a:ln>
        </p:spPr>
      </p:sp>
      <p:sp>
        <p:nvSpPr>
          <p:cNvPr id="97" name="Shape 95"/>
          <p:cNvSpPr/>
          <p:nvPr/>
        </p:nvSpPr>
        <p:spPr>
          <a:xfrm>
            <a:off x="9006840" y="4096512"/>
            <a:ext cx="219456" cy="219456"/>
          </a:xfrm>
          <a:prstGeom prst="rect">
            <a:avLst/>
          </a:prstGeom>
          <a:solidFill>
            <a:srgbClr val="C9D3DA"/>
          </a:solidFill>
          <a:ln w="12700">
            <a:solidFill>
              <a:srgbClr val="333333"/>
            </a:solidFill>
            <a:prstDash val="solid"/>
          </a:ln>
        </p:spPr>
      </p:sp>
      <p:sp>
        <p:nvSpPr>
          <p:cNvPr id="98" name="Shape 96"/>
          <p:cNvSpPr/>
          <p:nvPr/>
        </p:nvSpPr>
        <p:spPr>
          <a:xfrm>
            <a:off x="9308592" y="4096512"/>
            <a:ext cx="219456" cy="219456"/>
          </a:xfrm>
          <a:prstGeom prst="rect">
            <a:avLst/>
          </a:prstGeom>
          <a:solidFill>
            <a:srgbClr val="C9D3DA"/>
          </a:solidFill>
          <a:ln w="12700">
            <a:solidFill>
              <a:srgbClr val="333333"/>
            </a:solidFill>
            <a:prstDash val="solid"/>
          </a:ln>
        </p:spPr>
      </p:sp>
      <p:sp>
        <p:nvSpPr>
          <p:cNvPr id="99" name="Shape 97"/>
          <p:cNvSpPr/>
          <p:nvPr/>
        </p:nvSpPr>
        <p:spPr>
          <a:xfrm>
            <a:off x="9610344" y="4096512"/>
            <a:ext cx="219456" cy="219456"/>
          </a:xfrm>
          <a:prstGeom prst="rect">
            <a:avLst/>
          </a:prstGeom>
          <a:solidFill>
            <a:srgbClr val="C9D3DA"/>
          </a:solidFill>
          <a:ln w="12700">
            <a:solidFill>
              <a:srgbClr val="333333"/>
            </a:solidFill>
            <a:prstDash val="solid"/>
          </a:ln>
        </p:spPr>
      </p:sp>
      <p:sp>
        <p:nvSpPr>
          <p:cNvPr id="100" name="Shape 98"/>
          <p:cNvSpPr/>
          <p:nvPr/>
        </p:nvSpPr>
        <p:spPr>
          <a:xfrm>
            <a:off x="9912096" y="4096512"/>
            <a:ext cx="219456" cy="219456"/>
          </a:xfrm>
          <a:prstGeom prst="rect">
            <a:avLst/>
          </a:prstGeom>
          <a:solidFill>
            <a:srgbClr val="C9D3DA"/>
          </a:solidFill>
          <a:ln w="12700">
            <a:solidFill>
              <a:srgbClr val="333333"/>
            </a:solidFill>
            <a:prstDash val="solid"/>
          </a:ln>
        </p:spPr>
      </p:sp>
      <p:sp>
        <p:nvSpPr>
          <p:cNvPr id="101" name="Shape 99"/>
          <p:cNvSpPr/>
          <p:nvPr/>
        </p:nvSpPr>
        <p:spPr>
          <a:xfrm>
            <a:off x="10213848" y="4096512"/>
            <a:ext cx="219456" cy="219456"/>
          </a:xfrm>
          <a:prstGeom prst="rect">
            <a:avLst/>
          </a:prstGeom>
          <a:solidFill>
            <a:srgbClr val="C9D3DA"/>
          </a:solidFill>
          <a:ln w="12700">
            <a:solidFill>
              <a:srgbClr val="333333"/>
            </a:solidFill>
            <a:prstDash val="solid"/>
          </a:ln>
        </p:spPr>
      </p:sp>
      <p:sp>
        <p:nvSpPr>
          <p:cNvPr id="102" name="Shape 100"/>
          <p:cNvSpPr/>
          <p:nvPr/>
        </p:nvSpPr>
        <p:spPr>
          <a:xfrm>
            <a:off x="10515600" y="4096512"/>
            <a:ext cx="219456" cy="219456"/>
          </a:xfrm>
          <a:prstGeom prst="rect">
            <a:avLst/>
          </a:prstGeom>
          <a:solidFill>
            <a:srgbClr val="C9D3DA"/>
          </a:solidFill>
          <a:ln w="12700">
            <a:solidFill>
              <a:srgbClr val="333333"/>
            </a:solidFill>
            <a:prstDash val="solid"/>
          </a:ln>
        </p:spPr>
      </p:sp>
      <p:sp>
        <p:nvSpPr>
          <p:cNvPr id="103" name="Shape 101"/>
          <p:cNvSpPr/>
          <p:nvPr/>
        </p:nvSpPr>
        <p:spPr>
          <a:xfrm>
            <a:off x="10817352" y="4096512"/>
            <a:ext cx="219456" cy="219456"/>
          </a:xfrm>
          <a:prstGeom prst="rect">
            <a:avLst/>
          </a:prstGeom>
          <a:solidFill>
            <a:srgbClr val="C9D3DA"/>
          </a:solidFill>
          <a:ln w="12700">
            <a:solidFill>
              <a:srgbClr val="333333"/>
            </a:solidFill>
            <a:prstDash val="solid"/>
          </a:ln>
        </p:spPr>
      </p:sp>
      <p:sp>
        <p:nvSpPr>
          <p:cNvPr id="104" name="Shape 102"/>
          <p:cNvSpPr/>
          <p:nvPr/>
        </p:nvSpPr>
        <p:spPr>
          <a:xfrm>
            <a:off x="11119104" y="4096512"/>
            <a:ext cx="219456" cy="219456"/>
          </a:xfrm>
          <a:prstGeom prst="rect">
            <a:avLst/>
          </a:prstGeom>
          <a:solidFill>
            <a:srgbClr val="C9D3DA"/>
          </a:solidFill>
          <a:ln w="12700">
            <a:solidFill>
              <a:srgbClr val="333333"/>
            </a:solidFill>
            <a:prstDash val="solid"/>
          </a:ln>
        </p:spPr>
      </p:sp>
      <p:sp>
        <p:nvSpPr>
          <p:cNvPr id="105" name="Shape 103"/>
          <p:cNvSpPr/>
          <p:nvPr/>
        </p:nvSpPr>
        <p:spPr>
          <a:xfrm>
            <a:off x="11420856" y="4096512"/>
            <a:ext cx="219456" cy="219456"/>
          </a:xfrm>
          <a:prstGeom prst="rect">
            <a:avLst/>
          </a:prstGeom>
          <a:solidFill>
            <a:srgbClr val="C9D3DA"/>
          </a:solidFill>
          <a:ln w="12700">
            <a:solidFill>
              <a:srgbClr val="333333"/>
            </a:solidFill>
            <a:prstDash val="solid"/>
          </a:ln>
        </p:spPr>
      </p:sp>
      <p:sp>
        <p:nvSpPr>
          <p:cNvPr id="106" name="Shape 104"/>
          <p:cNvSpPr/>
          <p:nvPr/>
        </p:nvSpPr>
        <p:spPr>
          <a:xfrm>
            <a:off x="7498080" y="4398264"/>
            <a:ext cx="219456" cy="219456"/>
          </a:xfrm>
          <a:prstGeom prst="rect">
            <a:avLst/>
          </a:prstGeom>
          <a:solidFill>
            <a:srgbClr val="C9D3DA"/>
          </a:solidFill>
          <a:ln w="12700">
            <a:solidFill>
              <a:srgbClr val="333333"/>
            </a:solidFill>
            <a:prstDash val="solid"/>
          </a:ln>
        </p:spPr>
      </p:sp>
      <p:sp>
        <p:nvSpPr>
          <p:cNvPr id="107" name="Shape 105"/>
          <p:cNvSpPr/>
          <p:nvPr/>
        </p:nvSpPr>
        <p:spPr>
          <a:xfrm>
            <a:off x="7799832" y="4398264"/>
            <a:ext cx="219456" cy="219456"/>
          </a:xfrm>
          <a:prstGeom prst="rect">
            <a:avLst/>
          </a:prstGeom>
          <a:solidFill>
            <a:srgbClr val="C9D3DA"/>
          </a:solidFill>
          <a:ln w="12700">
            <a:solidFill>
              <a:srgbClr val="333333"/>
            </a:solidFill>
            <a:prstDash val="solid"/>
          </a:ln>
        </p:spPr>
      </p:sp>
      <p:sp>
        <p:nvSpPr>
          <p:cNvPr id="108" name="Shape 106"/>
          <p:cNvSpPr/>
          <p:nvPr/>
        </p:nvSpPr>
        <p:spPr>
          <a:xfrm>
            <a:off x="8101584" y="4398264"/>
            <a:ext cx="219456" cy="219456"/>
          </a:xfrm>
          <a:prstGeom prst="rect">
            <a:avLst/>
          </a:prstGeom>
          <a:solidFill>
            <a:srgbClr val="C9D3DA"/>
          </a:solidFill>
          <a:ln w="12700">
            <a:solidFill>
              <a:srgbClr val="333333"/>
            </a:solidFill>
            <a:prstDash val="solid"/>
          </a:ln>
        </p:spPr>
      </p:sp>
      <p:sp>
        <p:nvSpPr>
          <p:cNvPr id="109" name="Shape 107"/>
          <p:cNvSpPr/>
          <p:nvPr/>
        </p:nvSpPr>
        <p:spPr>
          <a:xfrm>
            <a:off x="8403336" y="4398264"/>
            <a:ext cx="219456" cy="219456"/>
          </a:xfrm>
          <a:prstGeom prst="rect">
            <a:avLst/>
          </a:prstGeom>
          <a:solidFill>
            <a:srgbClr val="C9D3DA"/>
          </a:solidFill>
          <a:ln w="12700">
            <a:solidFill>
              <a:srgbClr val="333333"/>
            </a:solidFill>
            <a:prstDash val="solid"/>
          </a:ln>
        </p:spPr>
      </p:sp>
      <p:sp>
        <p:nvSpPr>
          <p:cNvPr id="110" name="Shape 108"/>
          <p:cNvSpPr/>
          <p:nvPr/>
        </p:nvSpPr>
        <p:spPr>
          <a:xfrm>
            <a:off x="8705088" y="4398264"/>
            <a:ext cx="219456" cy="219456"/>
          </a:xfrm>
          <a:prstGeom prst="rect">
            <a:avLst/>
          </a:prstGeom>
          <a:solidFill>
            <a:srgbClr val="C9D3DA"/>
          </a:solidFill>
          <a:ln w="12700">
            <a:solidFill>
              <a:srgbClr val="333333"/>
            </a:solidFill>
            <a:prstDash val="solid"/>
          </a:ln>
        </p:spPr>
      </p:sp>
      <p:sp>
        <p:nvSpPr>
          <p:cNvPr id="111" name="Shape 109"/>
          <p:cNvSpPr/>
          <p:nvPr/>
        </p:nvSpPr>
        <p:spPr>
          <a:xfrm>
            <a:off x="9006840" y="4398264"/>
            <a:ext cx="219456" cy="219456"/>
          </a:xfrm>
          <a:prstGeom prst="rect">
            <a:avLst/>
          </a:prstGeom>
          <a:solidFill>
            <a:srgbClr val="C9D3DA"/>
          </a:solidFill>
          <a:ln w="12700">
            <a:solidFill>
              <a:srgbClr val="333333"/>
            </a:solidFill>
            <a:prstDash val="solid"/>
          </a:ln>
        </p:spPr>
      </p:sp>
      <p:sp>
        <p:nvSpPr>
          <p:cNvPr id="112" name="Shape 110"/>
          <p:cNvSpPr/>
          <p:nvPr/>
        </p:nvSpPr>
        <p:spPr>
          <a:xfrm>
            <a:off x="9308592" y="4398264"/>
            <a:ext cx="219456" cy="219456"/>
          </a:xfrm>
          <a:prstGeom prst="rect">
            <a:avLst/>
          </a:prstGeom>
          <a:solidFill>
            <a:srgbClr val="C9D3DA"/>
          </a:solidFill>
          <a:ln w="12700">
            <a:solidFill>
              <a:srgbClr val="333333"/>
            </a:solidFill>
            <a:prstDash val="solid"/>
          </a:ln>
        </p:spPr>
      </p:sp>
      <p:sp>
        <p:nvSpPr>
          <p:cNvPr id="113" name="Shape 111"/>
          <p:cNvSpPr/>
          <p:nvPr/>
        </p:nvSpPr>
        <p:spPr>
          <a:xfrm>
            <a:off x="9610344" y="4398264"/>
            <a:ext cx="219456" cy="219456"/>
          </a:xfrm>
          <a:prstGeom prst="rect">
            <a:avLst/>
          </a:prstGeom>
          <a:solidFill>
            <a:srgbClr val="C9D3DA"/>
          </a:solidFill>
          <a:ln w="12700">
            <a:solidFill>
              <a:srgbClr val="333333"/>
            </a:solidFill>
            <a:prstDash val="solid"/>
          </a:ln>
        </p:spPr>
      </p:sp>
      <p:sp>
        <p:nvSpPr>
          <p:cNvPr id="114" name="Shape 112"/>
          <p:cNvSpPr/>
          <p:nvPr/>
        </p:nvSpPr>
        <p:spPr>
          <a:xfrm>
            <a:off x="9912096" y="4398264"/>
            <a:ext cx="219456" cy="219456"/>
          </a:xfrm>
          <a:prstGeom prst="rect">
            <a:avLst/>
          </a:prstGeom>
          <a:solidFill>
            <a:srgbClr val="C9D3DA"/>
          </a:solidFill>
          <a:ln w="12700">
            <a:solidFill>
              <a:srgbClr val="333333"/>
            </a:solidFill>
            <a:prstDash val="solid"/>
          </a:ln>
        </p:spPr>
      </p:sp>
      <p:sp>
        <p:nvSpPr>
          <p:cNvPr id="115" name="Shape 113"/>
          <p:cNvSpPr/>
          <p:nvPr/>
        </p:nvSpPr>
        <p:spPr>
          <a:xfrm>
            <a:off x="10213848" y="4398264"/>
            <a:ext cx="219456" cy="219456"/>
          </a:xfrm>
          <a:prstGeom prst="rect">
            <a:avLst/>
          </a:prstGeom>
          <a:solidFill>
            <a:srgbClr val="C9D3DA"/>
          </a:solidFill>
          <a:ln w="12700">
            <a:solidFill>
              <a:srgbClr val="333333"/>
            </a:solidFill>
            <a:prstDash val="solid"/>
          </a:ln>
        </p:spPr>
      </p:sp>
      <p:sp>
        <p:nvSpPr>
          <p:cNvPr id="116" name="Shape 114"/>
          <p:cNvSpPr/>
          <p:nvPr/>
        </p:nvSpPr>
        <p:spPr>
          <a:xfrm>
            <a:off x="10515600" y="4398264"/>
            <a:ext cx="219456" cy="219456"/>
          </a:xfrm>
          <a:prstGeom prst="rect">
            <a:avLst/>
          </a:prstGeom>
          <a:solidFill>
            <a:srgbClr val="C9D3DA"/>
          </a:solidFill>
          <a:ln w="12700">
            <a:solidFill>
              <a:srgbClr val="333333"/>
            </a:solidFill>
            <a:prstDash val="solid"/>
          </a:ln>
        </p:spPr>
      </p:sp>
      <p:sp>
        <p:nvSpPr>
          <p:cNvPr id="117" name="Shape 115"/>
          <p:cNvSpPr/>
          <p:nvPr/>
        </p:nvSpPr>
        <p:spPr>
          <a:xfrm>
            <a:off x="10817352" y="4398264"/>
            <a:ext cx="219456" cy="219456"/>
          </a:xfrm>
          <a:prstGeom prst="rect">
            <a:avLst/>
          </a:prstGeom>
          <a:solidFill>
            <a:srgbClr val="C9D3DA"/>
          </a:solidFill>
          <a:ln w="12700">
            <a:solidFill>
              <a:srgbClr val="333333"/>
            </a:solidFill>
            <a:prstDash val="solid"/>
          </a:ln>
        </p:spPr>
      </p:sp>
      <p:sp>
        <p:nvSpPr>
          <p:cNvPr id="118" name="Shape 116"/>
          <p:cNvSpPr/>
          <p:nvPr/>
        </p:nvSpPr>
        <p:spPr>
          <a:xfrm>
            <a:off x="11119104" y="4398264"/>
            <a:ext cx="219456" cy="219456"/>
          </a:xfrm>
          <a:prstGeom prst="rect">
            <a:avLst/>
          </a:prstGeom>
          <a:solidFill>
            <a:srgbClr val="C9D3DA"/>
          </a:solidFill>
          <a:ln w="12700">
            <a:solidFill>
              <a:srgbClr val="333333"/>
            </a:solidFill>
            <a:prstDash val="solid"/>
          </a:ln>
        </p:spPr>
      </p:sp>
      <p:sp>
        <p:nvSpPr>
          <p:cNvPr id="119" name="Shape 117"/>
          <p:cNvSpPr/>
          <p:nvPr/>
        </p:nvSpPr>
        <p:spPr>
          <a:xfrm>
            <a:off x="11420856" y="4398264"/>
            <a:ext cx="219456" cy="219456"/>
          </a:xfrm>
          <a:prstGeom prst="rect">
            <a:avLst/>
          </a:prstGeom>
          <a:solidFill>
            <a:srgbClr val="C9D3DA"/>
          </a:solidFill>
          <a:ln w="12700">
            <a:solidFill>
              <a:srgbClr val="333333"/>
            </a:solidFill>
            <a:prstDash val="solid"/>
          </a:ln>
        </p:spPr>
      </p:sp>
      <p:sp>
        <p:nvSpPr>
          <p:cNvPr id="120" name="Text 118"/>
          <p:cNvSpPr txBox="1"/>
          <p:nvPr/>
        </p:nvSpPr>
        <p:spPr>
          <a:xfrm>
            <a:off x="7498080" y="4709160"/>
            <a:ext cx="3840480" cy="256032"/>
          </a:xfrm>
          <a:prstGeom prst="rect">
            <a:avLst/>
          </a:prstGeom>
          <a:noFill/>
          <a:ln/>
        </p:spPr>
        <p:txBody>
          <a:bodyPr wrap="square" lIns="0" tIns="0" rIns="0" bIns="0" rtlCol="0" anchor="ctr"/>
          <a:lstStyle/>
          <a:p>
            <a:pPr indent="0" marL="0">
              <a:buNone/>
            </a:pPr>
            <a:r>
              <a:rPr lang="en-US" sz="1000" dirty="0">
                <a:solidFill>
                  <a:srgbClr val="62727F"/>
                </a:solidFill>
                <a:latin typeface="Calibri" pitchFamily="34" charset="0"/>
                <a:ea typeface="Calibri" pitchFamily="34" charset="-122"/>
                <a:cs typeface="Calibri" pitchFamily="34" charset="-120"/>
              </a:rPr>
              <a:t>each square ≈ 12 tests · 31 of 1,334 selected</a:t>
            </a:r>
            <a:endParaRPr lang="en-US" sz="1000" dirty="0"/>
          </a:p>
        </p:txBody>
      </p:sp>
      <p:sp>
        <p:nvSpPr>
          <p:cNvPr id="121" name="Text 119"/>
          <p:cNvSpPr txBox="1"/>
          <p:nvPr/>
        </p:nvSpPr>
        <p:spPr>
          <a:xfrm>
            <a:off x="7498080" y="4983480"/>
            <a:ext cx="3840480" cy="320040"/>
          </a:xfrm>
          <a:prstGeom prst="rect">
            <a:avLst/>
          </a:prstGeom>
          <a:noFill/>
          <a:ln/>
        </p:spPr>
        <p:txBody>
          <a:bodyPr wrap="square" lIns="0" tIns="0" rIns="0" bIns="0" rtlCol="0" anchor="ctr"/>
          <a:lstStyle/>
          <a:p>
            <a:pPr indent="0" marL="0">
              <a:buNone/>
            </a:pPr>
            <a:r>
              <a:rPr lang="en-US" sz="1600" b="1" dirty="0">
                <a:solidFill>
                  <a:srgbClr val="2E7D62"/>
                </a:solidFill>
                <a:latin typeface="Courier New" pitchFamily="34" charset="0"/>
                <a:ea typeface="Courier New" pitchFamily="34" charset="-122"/>
                <a:cs typeface="Courier New" pitchFamily="34" charset="-120"/>
              </a:rPr>
              <a:t>3.93 s  →  0.82 s</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640080" y="384048"/>
            <a:ext cx="10881360" cy="256032"/>
          </a:xfrm>
          <a:prstGeom prst="rect">
            <a:avLst/>
          </a:prstGeom>
          <a:noFill/>
          <a:ln/>
        </p:spPr>
        <p:txBody>
          <a:bodyPr wrap="square" lIns="0" tIns="0" rIns="0" bIns="0" rtlCol="0" anchor="ctr"/>
          <a:lstStyle/>
          <a:p>
            <a:pPr indent="0" marL="0">
              <a:buNone/>
            </a:pPr>
            <a:r>
              <a:rPr lang="en-US" sz="1100" b="1" spc="200" kern="0" dirty="0">
                <a:solidFill>
                  <a:srgbClr val="62727F"/>
                </a:solidFill>
                <a:latin typeface="Calibri" pitchFamily="34" charset="0"/>
                <a:ea typeface="Calibri" pitchFamily="34" charset="-122"/>
                <a:cs typeface="Calibri" pitchFamily="34" charset="-120"/>
              </a:rPr>
              <a:t>POSITIONING</a:t>
            </a:r>
            <a:endParaRPr lang="en-US" sz="1100" dirty="0"/>
          </a:p>
        </p:txBody>
      </p:sp>
      <p:sp>
        <p:nvSpPr>
          <p:cNvPr id="3" name="Text 1"/>
          <p:cNvSpPr txBox="1"/>
          <p:nvPr/>
        </p:nvSpPr>
        <p:spPr>
          <a:xfrm>
            <a:off x="640080" y="658368"/>
            <a:ext cx="10881360" cy="777240"/>
          </a:xfrm>
          <a:prstGeom prst="rect">
            <a:avLst/>
          </a:prstGeom>
          <a:noFill/>
          <a:ln/>
        </p:spPr>
        <p:txBody>
          <a:bodyPr wrap="square" lIns="0" tIns="0" rIns="0" bIns="0" rtlCol="0" anchor="ctr"/>
          <a:lstStyle/>
          <a:p>
            <a:pPr indent="0" marL="0">
              <a:buNone/>
            </a:pPr>
            <a:r>
              <a:rPr lang="en-US" sz="3400" b="1" dirty="0">
                <a:solidFill>
                  <a:srgbClr val="17232F"/>
                </a:solidFill>
                <a:latin typeface="Cambria" pitchFamily="34" charset="0"/>
                <a:ea typeface="Cambria" pitchFamily="34" charset="-122"/>
                <a:cs typeface="Cambria" pitchFamily="34" charset="-120"/>
              </a:rPr>
              <a:t>This idea exists. The evidence does not.</a:t>
            </a:r>
            <a:endParaRPr lang="en-US" sz="3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640080" y="1691640"/>
          <a:ext cx="10881360" cy="914400"/>
        </p:xfrm>
        <a:graphic>
          <a:graphicData uri="http://schemas.openxmlformats.org/drawingml/2006/table">
            <a:tbl>
              <a:tblPr/>
              <a:tblGrid>
                <a:gridCol w="2377440"/>
                <a:gridCol w="4114800"/>
                <a:gridCol w="4389120"/>
              </a:tblGrid>
              <a:tr h="566928">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Existing work</a:t>
                      </a:r>
                      <a:endParaRPr lang="en-US" sz="1100" dirty="0">
                        <a:latin typeface="Calibri" charset="0"/>
                        <a:ea typeface="Calibri" charset="0"/>
                        <a:cs typeface="Calibri" charset="0"/>
                      </a:endParaRPr>
                    </a:p>
                  </a:txBody>
                  <a:tcPr marL="54864" marR="54864" marT="54864" marB="54864"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solidFill>
                      <a:srgbClr val="17232F"/>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What it does well</a:t>
                      </a:r>
                      <a:endParaRPr lang="en-US" sz="1100" dirty="0">
                        <a:latin typeface="Calibri" charset="0"/>
                        <a:ea typeface="Calibri" charset="0"/>
                        <a:cs typeface="Calibri" charset="0"/>
                      </a:endParaRPr>
                    </a:p>
                  </a:txBody>
                  <a:tcPr marL="54864" marR="54864" marT="54864" marB="54864"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solidFill>
                      <a:srgbClr val="17232F"/>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Where ours differs</a:t>
                      </a:r>
                      <a:endParaRPr lang="en-US" sz="1100" dirty="0">
                        <a:latin typeface="Calibri" charset="0"/>
                        <a:ea typeface="Calibri" charset="0"/>
                        <a:cs typeface="Calibri" charset="0"/>
                      </a:endParaRPr>
                    </a:p>
                  </a:txBody>
                  <a:tcPr marL="54864" marR="54864" marT="54864" marB="54864"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solidFill>
                      <a:srgbClr val="17232F"/>
                    </a:solidFill>
                  </a:tcPr>
                </a:tc>
              </a:tr>
              <a:tr h="566928">
                <a:tc>
                  <a:txBody>
                    <a:bodyPr/>
                    <a:lstStyle/>
                    <a:p>
                      <a:pPr indent="0" marL="0">
                        <a:buNone/>
                      </a:pPr>
                      <a:r>
                        <a:rPr lang="en-US" sz="1100" dirty="0">
                          <a:solidFill>
                            <a:srgbClr val="17232F"/>
                          </a:solidFill>
                          <a:latin typeface="Calibri" pitchFamily="34" charset="0"/>
                          <a:ea typeface="Calibri" pitchFamily="34" charset="-122"/>
                          <a:cs typeface="Calibri" pitchFamily="34" charset="-120"/>
                        </a:rPr>
                        <a:t>pytest-testmon</a:t>
                      </a:r>
                      <a:endParaRPr lang="en-US" sz="1100" dirty="0">
                        <a:latin typeface="Calibri" charset="0"/>
                        <a:ea typeface="Calibri" charset="0"/>
                        <a:cs typeface="Calibri" charset="0"/>
                      </a:endParaRPr>
                    </a:p>
                  </a:txBody>
                  <a:tcPr marL="54864" marR="54864" marT="54864" marB="54864"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c>
                  <a:txBody>
                    <a:bodyPr/>
                    <a:lstStyle/>
                    <a:p>
                      <a:pPr indent="0" marL="0">
                        <a:buNone/>
                      </a:pPr>
                      <a:r>
                        <a:rPr lang="en-US" sz="1100" dirty="0">
                          <a:solidFill>
                            <a:srgbClr val="17232F"/>
                          </a:solidFill>
                          <a:latin typeface="Calibri" pitchFamily="34" charset="0"/>
                          <a:ea typeface="Calibri" pitchFamily="34" charset="-122"/>
                          <a:cs typeface="Calibri" pitchFamily="34" charset="-120"/>
                        </a:rPr>
                        <a:t>Mature, integrates cleanly, solves selection effectively</a:t>
                      </a:r>
                      <a:endParaRPr lang="en-US" sz="1100" dirty="0">
                        <a:latin typeface="Calibri" charset="0"/>
                        <a:ea typeface="Calibri" charset="0"/>
                        <a:cs typeface="Calibri" charset="0"/>
                      </a:endParaRPr>
                    </a:p>
                  </a:txBody>
                  <a:tcPr marL="54864" marR="54864" marT="54864" marB="54864"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c>
                  <a:txBody>
                    <a:bodyPr/>
                    <a:lstStyle/>
                    <a:p>
                      <a:pPr indent="0" marL="0">
                        <a:buNone/>
                      </a:pPr>
                      <a:r>
                        <a:rPr lang="en-US" sz="1100" dirty="0">
                          <a:solidFill>
                            <a:srgbClr val="D1453B"/>
                          </a:solidFill>
                          <a:latin typeface="Calibri" pitchFamily="34" charset="0"/>
                          <a:ea typeface="Calibri" pitchFamily="34" charset="-122"/>
                          <a:cs typeface="Calibri" pitchFamily="34" charset="-120"/>
                        </a:rPr>
                        <a:t>Publishes no reproducible safety evaluation — adoption rests on trust</a:t>
                      </a:r>
                      <a:endParaRPr lang="en-US" sz="1100" dirty="0">
                        <a:latin typeface="Calibri" charset="0"/>
                        <a:ea typeface="Calibri" charset="0"/>
                        <a:cs typeface="Calibri" charset="0"/>
                      </a:endParaRPr>
                    </a:p>
                  </a:txBody>
                  <a:tcPr marL="54864" marR="54864" marT="54864" marB="54864"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r>
              <a:tr h="566928">
                <a:tc>
                  <a:txBody>
                    <a:bodyPr/>
                    <a:lstStyle/>
                    <a:p>
                      <a:pPr indent="0" marL="0">
                        <a:buNone/>
                      </a:pPr>
                      <a:r>
                        <a:rPr lang="en-US" sz="1100" dirty="0">
                          <a:solidFill>
                            <a:srgbClr val="17232F"/>
                          </a:solidFill>
                          <a:latin typeface="Calibri" pitchFamily="34" charset="0"/>
                          <a:ea typeface="Calibri" pitchFamily="34" charset="-122"/>
                          <a:cs typeface="Calibri" pitchFamily="34" charset="-120"/>
                        </a:rPr>
                        <a:t>Bazel, Nx</a:t>
                      </a:r>
                      <a:endParaRPr lang="en-US" sz="1100" dirty="0">
                        <a:latin typeface="Calibri" charset="0"/>
                        <a:ea typeface="Calibri" charset="0"/>
                        <a:cs typeface="Calibri" charset="0"/>
                      </a:endParaRPr>
                    </a:p>
                  </a:txBody>
                  <a:tcPr marL="54864" marR="54864" marT="54864" marB="54864"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c>
                  <a:txBody>
                    <a:bodyPr/>
                    <a:lstStyle/>
                    <a:p>
                      <a:pPr indent="0" marL="0">
                        <a:buNone/>
                      </a:pPr>
                      <a:r>
                        <a:rPr lang="en-US" sz="1100" dirty="0">
                          <a:solidFill>
                            <a:srgbClr val="17232F"/>
                          </a:solidFill>
                          <a:latin typeface="Calibri" pitchFamily="34" charset="0"/>
                          <a:ea typeface="Calibri" pitchFamily="34" charset="-122"/>
                          <a:cs typeface="Calibri" pitchFamily="34" charset="-120"/>
                        </a:rPr>
                        <a:t>Reliable at scale from an explicit build graph</a:t>
                      </a:r>
                      <a:endParaRPr lang="en-US" sz="1100" dirty="0">
                        <a:latin typeface="Calibri" charset="0"/>
                        <a:ea typeface="Calibri" charset="0"/>
                        <a:cs typeface="Calibri" charset="0"/>
                      </a:endParaRPr>
                    </a:p>
                  </a:txBody>
                  <a:tcPr marL="54864" marR="54864" marT="54864" marB="54864"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c>
                  <a:txBody>
                    <a:bodyPr/>
                    <a:lstStyle/>
                    <a:p>
                      <a:pPr indent="0" marL="0">
                        <a:buNone/>
                      </a:pPr>
                      <a:r>
                        <a:rPr lang="en-US" sz="1100" dirty="0">
                          <a:solidFill>
                            <a:srgbClr val="D1453B"/>
                          </a:solidFill>
                          <a:latin typeface="Calibri" pitchFamily="34" charset="0"/>
                          <a:ea typeface="Calibri" pitchFamily="34" charset="-122"/>
                          <a:cs typeface="Calibri" pitchFamily="34" charset="-120"/>
                        </a:rPr>
                        <a:t>Requires adopting an entire build system</a:t>
                      </a:r>
                      <a:endParaRPr lang="en-US" sz="1100" dirty="0">
                        <a:latin typeface="Calibri" charset="0"/>
                        <a:ea typeface="Calibri" charset="0"/>
                        <a:cs typeface="Calibri" charset="0"/>
                      </a:endParaRPr>
                    </a:p>
                  </a:txBody>
                  <a:tcPr marL="54864" marR="54864" marT="54864" marB="54864"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r>
              <a:tr h="566928">
                <a:tc>
                  <a:txBody>
                    <a:bodyPr/>
                    <a:lstStyle/>
                    <a:p>
                      <a:pPr indent="0" marL="0">
                        <a:buNone/>
                      </a:pPr>
                      <a:r>
                        <a:rPr lang="en-US" sz="1100" dirty="0">
                          <a:solidFill>
                            <a:srgbClr val="17232F"/>
                          </a:solidFill>
                          <a:latin typeface="Calibri" pitchFamily="34" charset="0"/>
                          <a:ea typeface="Calibri" pitchFamily="34" charset="-122"/>
                          <a:cs typeface="Calibri" pitchFamily="34" charset="-120"/>
                        </a:rPr>
                        <a:t>Launchable and similar</a:t>
                      </a:r>
                      <a:endParaRPr lang="en-US" sz="1100" dirty="0">
                        <a:latin typeface="Calibri" charset="0"/>
                        <a:ea typeface="Calibri" charset="0"/>
                        <a:cs typeface="Calibri" charset="0"/>
                      </a:endParaRPr>
                    </a:p>
                  </a:txBody>
                  <a:tcPr marL="54864" marR="54864" marT="54864" marB="54864"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c>
                  <a:txBody>
                    <a:bodyPr/>
                    <a:lstStyle/>
                    <a:p>
                      <a:pPr indent="0" marL="0">
                        <a:buNone/>
                      </a:pPr>
                      <a:r>
                        <a:rPr lang="en-US" sz="1100" dirty="0">
                          <a:solidFill>
                            <a:srgbClr val="17232F"/>
                          </a:solidFill>
                          <a:latin typeface="Calibri" pitchFamily="34" charset="0"/>
                          <a:ea typeface="Calibri" pitchFamily="34" charset="-122"/>
                          <a:cs typeface="Calibri" pitchFamily="34" charset="-120"/>
                        </a:rPr>
                        <a:t>Sophisticated selection from large historical datasets</a:t>
                      </a:r>
                      <a:endParaRPr lang="en-US" sz="1100" dirty="0">
                        <a:latin typeface="Calibri" charset="0"/>
                        <a:ea typeface="Calibri" charset="0"/>
                        <a:cs typeface="Calibri" charset="0"/>
                      </a:endParaRPr>
                    </a:p>
                  </a:txBody>
                  <a:tcPr marL="54864" marR="54864" marT="54864" marB="54864"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c>
                  <a:txBody>
                    <a:bodyPr/>
                    <a:lstStyle/>
                    <a:p>
                      <a:pPr indent="0" marL="0">
                        <a:buNone/>
                      </a:pPr>
                      <a:r>
                        <a:rPr lang="en-US" sz="1100" dirty="0">
                          <a:solidFill>
                            <a:srgbClr val="D1453B"/>
                          </a:solidFill>
                          <a:latin typeface="Calibri" pitchFamily="34" charset="0"/>
                          <a:ea typeface="Calibri" pitchFamily="34" charset="-122"/>
                          <a:cs typeface="Calibri" pitchFamily="34" charset="-120"/>
                        </a:rPr>
                        <a:t>Closed methodology; the logic cannot be inspected</a:t>
                      </a:r>
                      <a:endParaRPr lang="en-US" sz="1100" dirty="0">
                        <a:latin typeface="Calibri" charset="0"/>
                        <a:ea typeface="Calibri" charset="0"/>
                        <a:cs typeface="Calibri" charset="0"/>
                      </a:endParaRPr>
                    </a:p>
                  </a:txBody>
                  <a:tcPr marL="54864" marR="54864" marT="54864" marB="54864"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r>
              <a:tr h="566928">
                <a:tc>
                  <a:txBody>
                    <a:bodyPr/>
                    <a:lstStyle/>
                    <a:p>
                      <a:pPr indent="0" marL="0">
                        <a:buNone/>
                      </a:pPr>
                      <a:r>
                        <a:rPr lang="en-US" sz="1100" dirty="0">
                          <a:solidFill>
                            <a:srgbClr val="17232F"/>
                          </a:solidFill>
                          <a:latin typeface="Calibri" pitchFamily="34" charset="0"/>
                          <a:ea typeface="Calibri" pitchFamily="34" charset="-122"/>
                          <a:cs typeface="Calibri" pitchFamily="34" charset="-120"/>
                        </a:rPr>
                        <a:t>Academic RTS literature</a:t>
                      </a:r>
                      <a:endParaRPr lang="en-US" sz="1100" dirty="0">
                        <a:latin typeface="Calibri" charset="0"/>
                        <a:ea typeface="Calibri" charset="0"/>
                        <a:cs typeface="Calibri" charset="0"/>
                      </a:endParaRPr>
                    </a:p>
                  </a:txBody>
                  <a:tcPr marL="54864" marR="54864" marT="54864" marB="54864"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c>
                  <a:txBody>
                    <a:bodyPr/>
                    <a:lstStyle/>
                    <a:p>
                      <a:pPr indent="0" marL="0">
                        <a:buNone/>
                      </a:pPr>
                      <a:r>
                        <a:rPr lang="en-US" sz="1100" dirty="0">
                          <a:solidFill>
                            <a:srgbClr val="17232F"/>
                          </a:solidFill>
                          <a:latin typeface="Calibri" pitchFamily="34" charset="0"/>
                          <a:ea typeface="Calibri" pitchFamily="34" charset="-122"/>
                          <a:cs typeface="Calibri" pitchFamily="34" charset="-120"/>
                        </a:rPr>
                        <a:t>Decades of rigorous formal evaluation</a:t>
                      </a:r>
                      <a:endParaRPr lang="en-US" sz="1100" dirty="0">
                        <a:latin typeface="Calibri" charset="0"/>
                        <a:ea typeface="Calibri" charset="0"/>
                        <a:cs typeface="Calibri" charset="0"/>
                      </a:endParaRPr>
                    </a:p>
                  </a:txBody>
                  <a:tcPr marL="54864" marR="54864" marT="54864" marB="54864"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c>
                  <a:txBody>
                    <a:bodyPr/>
                    <a:lstStyle/>
                    <a:p>
                      <a:pPr indent="0" marL="0">
                        <a:buNone/>
                      </a:pPr>
                      <a:r>
                        <a:rPr lang="en-US" sz="1100" dirty="0">
                          <a:solidFill>
                            <a:srgbClr val="D1453B"/>
                          </a:solidFill>
                          <a:latin typeface="Calibri" pitchFamily="34" charset="0"/>
                          <a:ea typeface="Calibri" pitchFamily="34" charset="-122"/>
                          <a:cs typeface="Calibri" pitchFamily="34" charset="-120"/>
                        </a:rPr>
                        <a:t>Research prototypes, not tools practitioners install</a:t>
                      </a:r>
                      <a:endParaRPr lang="en-US" sz="1100" dirty="0">
                        <a:latin typeface="Calibri" charset="0"/>
                        <a:ea typeface="Calibri" charset="0"/>
                        <a:cs typeface="Calibri" charset="0"/>
                      </a:endParaRPr>
                    </a:p>
                  </a:txBody>
                  <a:tcPr marL="54864" marR="54864" marT="54864" marB="54864"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r>
            </a:tbl>
          </a:graphicData>
        </a:graphic>
      </p:graphicFrame>
      <p:sp>
        <p:nvSpPr>
          <p:cNvPr id="5" name="Shape 2"/>
          <p:cNvSpPr/>
          <p:nvPr/>
        </p:nvSpPr>
        <p:spPr>
          <a:xfrm>
            <a:off x="640080" y="4709160"/>
            <a:ext cx="10881360" cy="1143000"/>
          </a:xfrm>
          <a:prstGeom prst="roundRect">
            <a:avLst>
              <a:gd name="adj" fmla="val 6400"/>
            </a:avLst>
          </a:prstGeom>
          <a:solidFill>
            <a:srgbClr val="17232F"/>
          </a:solidFill>
          <a:ln w="12700">
            <a:solidFill>
              <a:srgbClr val="333333"/>
            </a:solidFill>
            <a:prstDash val="solid"/>
          </a:ln>
        </p:spPr>
      </p:sp>
      <p:sp>
        <p:nvSpPr>
          <p:cNvPr id="6" name="Text 3"/>
          <p:cNvSpPr txBox="1"/>
          <p:nvPr/>
        </p:nvSpPr>
        <p:spPr>
          <a:xfrm>
            <a:off x="960120" y="4919472"/>
            <a:ext cx="10241280" cy="77724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Our contribution: inspectable selection logic paired with a published, replayable safety evaluation on real codebases.</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640080" y="384048"/>
            <a:ext cx="10881360" cy="256032"/>
          </a:xfrm>
          <a:prstGeom prst="rect">
            <a:avLst/>
          </a:prstGeom>
          <a:noFill/>
          <a:ln/>
        </p:spPr>
        <p:txBody>
          <a:bodyPr wrap="square" lIns="0" tIns="0" rIns="0" bIns="0" rtlCol="0" anchor="ctr"/>
          <a:lstStyle/>
          <a:p>
            <a:pPr indent="0" marL="0">
              <a:buNone/>
            </a:pPr>
            <a:r>
              <a:rPr lang="en-US" sz="1100" b="1" spc="200" kern="0" dirty="0">
                <a:solidFill>
                  <a:srgbClr val="62727F"/>
                </a:solidFill>
                <a:latin typeface="Calibri" pitchFamily="34" charset="0"/>
                <a:ea typeface="Calibri" pitchFamily="34" charset="-122"/>
                <a:cs typeface="Calibri" pitchFamily="34" charset="-120"/>
              </a:rPr>
              <a:t>ARCHITECTURE</a:t>
            </a:r>
            <a:endParaRPr lang="en-US" sz="1100" dirty="0"/>
          </a:p>
        </p:txBody>
      </p:sp>
      <p:sp>
        <p:nvSpPr>
          <p:cNvPr id="3" name="Text 1"/>
          <p:cNvSpPr txBox="1"/>
          <p:nvPr/>
        </p:nvSpPr>
        <p:spPr>
          <a:xfrm>
            <a:off x="640080" y="658368"/>
            <a:ext cx="10881360" cy="777240"/>
          </a:xfrm>
          <a:prstGeom prst="rect">
            <a:avLst/>
          </a:prstGeom>
          <a:noFill/>
          <a:ln/>
        </p:spPr>
        <p:txBody>
          <a:bodyPr wrap="square" lIns="0" tIns="0" rIns="0" bIns="0" rtlCol="0" anchor="ctr"/>
          <a:lstStyle/>
          <a:p>
            <a:pPr indent="0" marL="0">
              <a:buNone/>
            </a:pPr>
            <a:r>
              <a:rPr lang="en-US" sz="3400" b="1" dirty="0">
                <a:solidFill>
                  <a:srgbClr val="17232F"/>
                </a:solidFill>
                <a:latin typeface="Cambria" pitchFamily="34" charset="0"/>
                <a:ea typeface="Cambria" pitchFamily="34" charset="-122"/>
                <a:cs typeface="Cambria" pitchFamily="34" charset="-120"/>
              </a:rPr>
              <a:t>Two phases: watch once, then ask</a:t>
            </a:r>
            <a:endParaRPr lang="en-US" sz="3400" dirty="0"/>
          </a:p>
        </p:txBody>
      </p:sp>
      <p:sp>
        <p:nvSpPr>
          <p:cNvPr id="4" name="Shape 2"/>
          <p:cNvSpPr/>
          <p:nvPr/>
        </p:nvSpPr>
        <p:spPr>
          <a:xfrm>
            <a:off x="640080" y="1691640"/>
            <a:ext cx="5120640" cy="3200400"/>
          </a:xfrm>
          <a:prstGeom prst="roundRect">
            <a:avLst>
              <a:gd name="adj" fmla="val 2286"/>
            </a:avLst>
          </a:prstGeom>
          <a:solidFill>
            <a:srgbClr val="F3F5F7"/>
          </a:solidFill>
          <a:ln w="12700">
            <a:solidFill>
              <a:srgbClr val="333333"/>
            </a:solidFill>
            <a:prstDash val="solid"/>
          </a:ln>
        </p:spPr>
      </p:sp>
      <p:sp>
        <p:nvSpPr>
          <p:cNvPr id="5" name="Shape 3"/>
          <p:cNvSpPr/>
          <p:nvPr/>
        </p:nvSpPr>
        <p:spPr>
          <a:xfrm>
            <a:off x="932688" y="1938528"/>
            <a:ext cx="502920" cy="502920"/>
          </a:xfrm>
          <a:prstGeom prst="ellipse">
            <a:avLst/>
          </a:prstGeom>
          <a:solidFill>
            <a:srgbClr val="17232F"/>
          </a:solidFill>
          <a:ln w="12700">
            <a:solidFill>
              <a:srgbClr val="333333"/>
            </a:solidFill>
            <a:prstDash val="solid"/>
          </a:ln>
        </p:spPr>
      </p:sp>
      <p:sp>
        <p:nvSpPr>
          <p:cNvPr id="6" name="Text 4"/>
          <p:cNvSpPr txBox="1"/>
          <p:nvPr/>
        </p:nvSpPr>
        <p:spPr>
          <a:xfrm>
            <a:off x="932688" y="1965960"/>
            <a:ext cx="50292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7" name="Text 5"/>
          <p:cNvSpPr txBox="1"/>
          <p:nvPr/>
        </p:nvSpPr>
        <p:spPr>
          <a:xfrm>
            <a:off x="1572768" y="1993392"/>
            <a:ext cx="3931920" cy="365760"/>
          </a:xfrm>
          <a:prstGeom prst="rect">
            <a:avLst/>
          </a:prstGeom>
          <a:noFill/>
          <a:ln/>
        </p:spPr>
        <p:txBody>
          <a:bodyPr wrap="square" lIns="0" tIns="0" rIns="0" bIns="0" rtlCol="0" anchor="ctr"/>
          <a:lstStyle/>
          <a:p>
            <a:pPr indent="0" marL="0">
              <a:buNone/>
            </a:pPr>
            <a:r>
              <a:rPr lang="en-US" sz="1800" b="1" dirty="0">
                <a:solidFill>
                  <a:srgbClr val="17232F"/>
                </a:solidFill>
                <a:latin typeface="Cambria" pitchFamily="34" charset="0"/>
                <a:ea typeface="Cambria" pitchFamily="34" charset="-122"/>
                <a:cs typeface="Cambria" pitchFamily="34" charset="-120"/>
              </a:rPr>
              <a:t>Learning — run once</a:t>
            </a:r>
            <a:endParaRPr lang="en-US" sz="1800" dirty="0"/>
          </a:p>
        </p:txBody>
      </p:sp>
      <p:sp>
        <p:nvSpPr>
          <p:cNvPr id="8" name="Text 6"/>
          <p:cNvSpPr txBox="1"/>
          <p:nvPr/>
        </p:nvSpPr>
        <p:spPr>
          <a:xfrm>
            <a:off x="960120" y="2697480"/>
            <a:ext cx="4526280" cy="1600200"/>
          </a:xfrm>
          <a:prstGeom prst="rect">
            <a:avLst/>
          </a:prstGeom>
          <a:noFill/>
          <a:ln/>
        </p:spPr>
        <p:txBody>
          <a:bodyPr wrap="square" lIns="0" tIns="0" rIns="0" bIns="0" rtlCol="0" anchor="ctr"/>
          <a:lstStyle/>
          <a:p>
            <a:pPr indent="0" marL="0">
              <a:lnSpc>
                <a:spcPts val="2000"/>
              </a:lnSpc>
              <a:buNone/>
            </a:pPr>
            <a:r>
              <a:rPr lang="en-US" sz="1300" dirty="0">
                <a:solidFill>
                  <a:srgbClr val="17232F"/>
                </a:solidFill>
                <a:latin typeface="Calibri" pitchFamily="34" charset="0"/>
                <a:ea typeface="Calibri" pitchFamily="34" charset="-122"/>
                <a:cs typeface="Calibri" pitchFamily="34" charset="-120"/>
              </a:rPr>
              <a:t>The full suite runs under coverage.py with dynamic contexts. For every source line we record which tests executed it, then invert that into a line → test map in .tia/map.db, keyed to the commit it was built at.</a:t>
            </a:r>
            <a:endParaRPr lang="en-US" sz="1300" dirty="0"/>
          </a:p>
        </p:txBody>
      </p:sp>
      <p:sp>
        <p:nvSpPr>
          <p:cNvPr id="9" name="Text 7"/>
          <p:cNvSpPr txBox="1"/>
          <p:nvPr/>
        </p:nvSpPr>
        <p:spPr>
          <a:xfrm>
            <a:off x="960120" y="4315968"/>
            <a:ext cx="4526280" cy="292608"/>
          </a:xfrm>
          <a:prstGeom prst="rect">
            <a:avLst/>
          </a:prstGeom>
          <a:noFill/>
          <a:ln/>
        </p:spPr>
        <p:txBody>
          <a:bodyPr wrap="square" lIns="0" tIns="0" rIns="0" bIns="0" rtlCol="0" anchor="ctr"/>
          <a:lstStyle/>
          <a:p>
            <a:pPr indent="0" marL="0">
              <a:buNone/>
            </a:pPr>
            <a:r>
              <a:rPr lang="en-US" sz="1100" b="1" dirty="0">
                <a:solidFill>
                  <a:srgbClr val="2E7D62"/>
                </a:solidFill>
                <a:latin typeface="Courier New" pitchFamily="34" charset="0"/>
                <a:ea typeface="Courier New" pitchFamily="34" charset="-122"/>
                <a:cs typeface="Courier New" pitchFamily="34" charset="-120"/>
              </a:rPr>
              <a:t>attrs: 10 s   ·   scrapy: 92 s</a:t>
            </a:r>
            <a:endParaRPr lang="en-US" sz="1100" dirty="0"/>
          </a:p>
        </p:txBody>
      </p:sp>
      <p:sp>
        <p:nvSpPr>
          <p:cNvPr id="10" name="Shape 8"/>
          <p:cNvSpPr/>
          <p:nvPr/>
        </p:nvSpPr>
        <p:spPr>
          <a:xfrm>
            <a:off x="6400800" y="1691640"/>
            <a:ext cx="5120640" cy="3200400"/>
          </a:xfrm>
          <a:prstGeom prst="roundRect">
            <a:avLst>
              <a:gd name="adj" fmla="val 2286"/>
            </a:avLst>
          </a:prstGeom>
          <a:solidFill>
            <a:srgbClr val="F3F5F7"/>
          </a:solidFill>
          <a:ln w="12700">
            <a:solidFill>
              <a:srgbClr val="333333"/>
            </a:solidFill>
            <a:prstDash val="solid"/>
          </a:ln>
        </p:spPr>
      </p:sp>
      <p:sp>
        <p:nvSpPr>
          <p:cNvPr id="11" name="Shape 9"/>
          <p:cNvSpPr/>
          <p:nvPr/>
        </p:nvSpPr>
        <p:spPr>
          <a:xfrm>
            <a:off x="6693408" y="1938528"/>
            <a:ext cx="502920" cy="502920"/>
          </a:xfrm>
          <a:prstGeom prst="ellipse">
            <a:avLst/>
          </a:prstGeom>
          <a:solidFill>
            <a:srgbClr val="17232F"/>
          </a:solidFill>
          <a:ln w="12700">
            <a:solidFill>
              <a:srgbClr val="333333"/>
            </a:solidFill>
            <a:prstDash val="solid"/>
          </a:ln>
        </p:spPr>
      </p:sp>
      <p:sp>
        <p:nvSpPr>
          <p:cNvPr id="12" name="Text 10"/>
          <p:cNvSpPr txBox="1"/>
          <p:nvPr/>
        </p:nvSpPr>
        <p:spPr>
          <a:xfrm>
            <a:off x="6693408" y="1965960"/>
            <a:ext cx="50292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3" name="Text 11"/>
          <p:cNvSpPr txBox="1"/>
          <p:nvPr/>
        </p:nvSpPr>
        <p:spPr>
          <a:xfrm>
            <a:off x="7333488" y="1993392"/>
            <a:ext cx="3931920" cy="365760"/>
          </a:xfrm>
          <a:prstGeom prst="rect">
            <a:avLst/>
          </a:prstGeom>
          <a:noFill/>
          <a:ln/>
        </p:spPr>
        <p:txBody>
          <a:bodyPr wrap="square" lIns="0" tIns="0" rIns="0" bIns="0" rtlCol="0" anchor="ctr"/>
          <a:lstStyle/>
          <a:p>
            <a:pPr indent="0" marL="0">
              <a:buNone/>
            </a:pPr>
            <a:r>
              <a:rPr lang="en-US" sz="1800" b="1" dirty="0">
                <a:solidFill>
                  <a:srgbClr val="17232F"/>
                </a:solidFill>
                <a:latin typeface="Cambria" pitchFamily="34" charset="0"/>
                <a:ea typeface="Cambria" pitchFamily="34" charset="-122"/>
                <a:cs typeface="Cambria" pitchFamily="34" charset="-120"/>
              </a:rPr>
              <a:t>Selection — every change</a:t>
            </a:r>
            <a:endParaRPr lang="en-US" sz="1800" dirty="0"/>
          </a:p>
        </p:txBody>
      </p:sp>
      <p:sp>
        <p:nvSpPr>
          <p:cNvPr id="14" name="Text 12"/>
          <p:cNvSpPr txBox="1"/>
          <p:nvPr/>
        </p:nvSpPr>
        <p:spPr>
          <a:xfrm>
            <a:off x="6720840" y="2697480"/>
            <a:ext cx="4526280" cy="1600200"/>
          </a:xfrm>
          <a:prstGeom prst="rect">
            <a:avLst/>
          </a:prstGeom>
          <a:noFill/>
          <a:ln/>
        </p:spPr>
        <p:txBody>
          <a:bodyPr wrap="square" lIns="0" tIns="0" rIns="0" bIns="0" rtlCol="0" anchor="ctr"/>
          <a:lstStyle/>
          <a:p>
            <a:pPr indent="0" marL="0">
              <a:lnSpc>
                <a:spcPts val="2000"/>
              </a:lnSpc>
              <a:buNone/>
            </a:pPr>
            <a:r>
              <a:rPr lang="en-US" sz="1300" dirty="0">
                <a:solidFill>
                  <a:srgbClr val="17232F"/>
                </a:solidFill>
                <a:latin typeface="Calibri" pitchFamily="34" charset="0"/>
                <a:ea typeface="Calibri" pitchFamily="34" charset="-122"/>
                <a:cs typeface="Calibri" pitchFamily="34" charset="-120"/>
              </a:rPr>
              <a:t>git reports which lines changed. Each changed path is classified. Where the map can be trusted, the changed lines are looked up and the covering tests unioned. Everything else falls back to the full suite with a reason code.</a:t>
            </a:r>
            <a:endParaRPr lang="en-US" sz="1300" dirty="0"/>
          </a:p>
        </p:txBody>
      </p:sp>
      <p:sp>
        <p:nvSpPr>
          <p:cNvPr id="15" name="Text 13"/>
          <p:cNvSpPr txBox="1"/>
          <p:nvPr/>
        </p:nvSpPr>
        <p:spPr>
          <a:xfrm>
            <a:off x="6720840" y="4315968"/>
            <a:ext cx="4526280" cy="292608"/>
          </a:xfrm>
          <a:prstGeom prst="rect">
            <a:avLst/>
          </a:prstGeom>
          <a:noFill/>
          <a:ln/>
        </p:spPr>
        <p:txBody>
          <a:bodyPr wrap="square" lIns="0" tIns="0" rIns="0" bIns="0" rtlCol="0" anchor="ctr"/>
          <a:lstStyle/>
          <a:p>
            <a:pPr indent="0" marL="0">
              <a:buNone/>
            </a:pPr>
            <a:r>
              <a:rPr lang="en-US" sz="1100" b="1" dirty="0">
                <a:solidFill>
                  <a:srgbClr val="2E7D62"/>
                </a:solidFill>
                <a:latin typeface="Courier New" pitchFamily="34" charset="0"/>
                <a:ea typeface="Courier New" pitchFamily="34" charset="-122"/>
                <a:cs typeface="Courier New" pitchFamily="34" charset="-120"/>
              </a:rPr>
              <a:t>median lookup 0.04 ms  ·  p95 1.41 ms</a:t>
            </a:r>
            <a:endParaRPr lang="en-US" sz="1100" dirty="0"/>
          </a:p>
        </p:txBody>
      </p:sp>
      <p:sp>
        <p:nvSpPr>
          <p:cNvPr id="16" name="Text 14"/>
          <p:cNvSpPr txBox="1"/>
          <p:nvPr/>
        </p:nvSpPr>
        <p:spPr>
          <a:xfrm>
            <a:off x="640080" y="5138928"/>
            <a:ext cx="10881360" cy="731520"/>
          </a:xfrm>
          <a:prstGeom prst="rect">
            <a:avLst/>
          </a:prstGeom>
          <a:noFill/>
          <a:ln/>
        </p:spPr>
        <p:txBody>
          <a:bodyPr wrap="square" lIns="0" tIns="0" rIns="0" bIns="0" rtlCol="0" anchor="ctr"/>
          <a:lstStyle/>
          <a:p>
            <a:pPr indent="0" marL="0">
              <a:buNone/>
            </a:pPr>
            <a:r>
              <a:rPr lang="en-US" sz="1300" i="1" dirty="0">
                <a:solidFill>
                  <a:srgbClr val="62727F"/>
                </a:solidFill>
                <a:latin typeface="Calibri" pitchFamily="34" charset="0"/>
                <a:ea typeface="Calibri" pitchFamily="34" charset="-122"/>
                <a:cs typeface="Calibri" pitchFamily="34" charset="-120"/>
              </a:rPr>
              <a:t>The map records what actually executed, not what the source appears to say — which is why dynamic dispatch, fixtures and monkeypatching are partly covered where static analysis sees nothing.</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7232F"/>
        </a:solidFill>
      </p:bgPr>
    </p:bg>
    <p:spTree>
      <p:nvGrpSpPr>
        <p:cNvPr id="1" name=""/>
        <p:cNvGrpSpPr/>
        <p:nvPr/>
      </p:nvGrpSpPr>
      <p:grpSpPr>
        <a:xfrm>
          <a:off x="0" y="0"/>
          <a:ext cx="0" cy="0"/>
          <a:chOff x="0" y="0"/>
          <a:chExt cx="0" cy="0"/>
        </a:xfrm>
      </p:grpSpPr>
      <p:sp>
        <p:nvSpPr>
          <p:cNvPr id="2" name="Text 0"/>
          <p:cNvSpPr txBox="1"/>
          <p:nvPr/>
        </p:nvSpPr>
        <p:spPr>
          <a:xfrm>
            <a:off x="640080" y="384048"/>
            <a:ext cx="10881360" cy="256032"/>
          </a:xfrm>
          <a:prstGeom prst="rect">
            <a:avLst/>
          </a:prstGeom>
          <a:noFill/>
          <a:ln/>
        </p:spPr>
        <p:txBody>
          <a:bodyPr wrap="square" lIns="0" tIns="0" rIns="0" bIns="0" rtlCol="0" anchor="ctr"/>
          <a:lstStyle/>
          <a:p>
            <a:pPr indent="0" marL="0">
              <a:buNone/>
            </a:pPr>
            <a:r>
              <a:rPr lang="en-US" sz="1100" b="1" spc="200" kern="0" dirty="0">
                <a:solidFill>
                  <a:srgbClr val="C07A1B"/>
                </a:solidFill>
                <a:latin typeface="Calibri" pitchFamily="34" charset="0"/>
                <a:ea typeface="Calibri" pitchFamily="34" charset="-122"/>
                <a:cs typeface="Calibri" pitchFamily="34" charset="-120"/>
              </a:rPr>
              <a:t>SAFETY BY CONSTRUCTION</a:t>
            </a:r>
            <a:endParaRPr lang="en-US" sz="1100" dirty="0"/>
          </a:p>
        </p:txBody>
      </p:sp>
      <p:sp>
        <p:nvSpPr>
          <p:cNvPr id="3" name="Text 1"/>
          <p:cNvSpPr txBox="1"/>
          <p:nvPr/>
        </p:nvSpPr>
        <p:spPr>
          <a:xfrm>
            <a:off x="640080" y="658368"/>
            <a:ext cx="10881360" cy="77724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The classifier is the guarantee</a:t>
            </a:r>
            <a:endParaRPr lang="en-US" sz="3400" dirty="0"/>
          </a:p>
        </p:txBody>
      </p:sp>
      <p:sp>
        <p:nvSpPr>
          <p:cNvPr id="4" name="Text 2"/>
          <p:cNvSpPr txBox="1"/>
          <p:nvPr/>
        </p:nvSpPr>
        <p:spPr>
          <a:xfrm>
            <a:off x="640080" y="1600200"/>
            <a:ext cx="5120640" cy="320040"/>
          </a:xfrm>
          <a:prstGeom prst="rect">
            <a:avLst/>
          </a:prstGeom>
          <a:noFill/>
          <a:ln/>
        </p:spPr>
        <p:txBody>
          <a:bodyPr wrap="square" lIns="0" tIns="0" rIns="0" bIns="0" rtlCol="0" anchor="ctr"/>
          <a:lstStyle/>
          <a:p>
            <a:pPr indent="0" marL="0">
              <a:buNone/>
            </a:pPr>
            <a:r>
              <a:rPr lang="en-US" sz="1300" b="1" dirty="0">
                <a:solidFill>
                  <a:srgbClr val="2E7D62"/>
                </a:solidFill>
                <a:latin typeface="Calibri" pitchFamily="34" charset="0"/>
                <a:ea typeface="Calibri" pitchFamily="34" charset="-122"/>
                <a:cs typeface="Calibri" pitchFamily="34" charset="-120"/>
              </a:rPr>
              <a:t>Selective where confident</a:t>
            </a:r>
            <a:endParaRPr lang="en-US" sz="1300" dirty="0"/>
          </a:p>
        </p:txBody>
      </p:sp>
      <p:sp>
        <p:nvSpPr>
          <p:cNvPr id="5" name="Text 3"/>
          <p:cNvSpPr txBox="1"/>
          <p:nvPr/>
        </p:nvSpPr>
        <p:spPr>
          <a:xfrm>
            <a:off x="640080" y="1965960"/>
            <a:ext cx="5120640" cy="1920240"/>
          </a:xfrm>
          <a:prstGeom prst="rect">
            <a:avLst/>
          </a:prstGeom>
          <a:noFill/>
          <a:ln/>
        </p:spPr>
        <p:txBody>
          <a:bodyPr wrap="square" lIns="0" tIns="0" rIns="0" bIns="0" rtlCol="0" anchor="ctr"/>
          <a:lstStyle/>
          <a:p>
            <a:pPr marL="342900" indent="-342900">
              <a:spcAft>
                <a:spcPts val="600"/>
              </a:spcAft>
              <a:buSzPct val="100000"/>
              <a:buChar char="•"/>
            </a:pPr>
            <a:r>
              <a:rPr lang="en-US" sz="1200" dirty="0">
                <a:solidFill>
                  <a:srgbClr val="CFDAE3"/>
                </a:solidFill>
                <a:latin typeface="Calibri" pitchFamily="34" charset="0"/>
                <a:ea typeface="Calibri" pitchFamily="34" charset="-122"/>
                <a:cs typeface="Calibri" pitchFamily="34" charset="-120"/>
              </a:rPr>
              <a:t>SELECTED — source in a fresh map: chosen by line</a:t>
            </a:r>
            <a:endParaRPr lang="en-US" sz="1200" dirty="0"/>
          </a:p>
          <a:p>
            <a:pPr marL="342900" indent="-342900">
              <a:spcAft>
                <a:spcPts val="600"/>
              </a:spcAft>
              <a:buSzPct val="100000"/>
              <a:buChar char="•"/>
            </a:pPr>
            <a:r>
              <a:rPr lang="en-US" sz="1200" dirty="0">
                <a:solidFill>
                  <a:srgbClr val="CFDAE3"/>
                </a:solidFill>
                <a:latin typeface="Calibri" pitchFamily="34" charset="0"/>
                <a:ea typeface="Calibri" pitchFamily="34" charset="-122"/>
                <a:cs typeface="Calibri" pitchFamily="34" charset="-120"/>
              </a:rPr>
              <a:t>TEST_CHANGED — a changed test always runs, unasked</a:t>
            </a:r>
            <a:endParaRPr lang="en-US" sz="1200" dirty="0"/>
          </a:p>
          <a:p>
            <a:pPr marL="342900" indent="-342900">
              <a:spcAft>
                <a:spcPts val="600"/>
              </a:spcAft>
              <a:buSzPct val="100000"/>
              <a:buChar char="•"/>
            </a:pPr>
            <a:r>
              <a:rPr lang="en-US" sz="1200" dirty="0">
                <a:solidFill>
                  <a:srgbClr val="CFDAE3"/>
                </a:solidFill>
                <a:latin typeface="Calibri" pitchFamily="34" charset="0"/>
                <a:ea typeface="Calibri" pitchFamily="34" charset="-122"/>
                <a:cs typeface="Calibri" pitchFamily="34" charset="-120"/>
              </a:rPr>
              <a:t>CONFTEST_CHANGED — everything at or below that directory</a:t>
            </a:r>
            <a:endParaRPr lang="en-US" sz="1200" dirty="0"/>
          </a:p>
          <a:p>
            <a:pPr marL="342900" indent="-342900">
              <a:spcAft>
                <a:spcPts val="600"/>
              </a:spcAft>
              <a:buSzPct val="100000"/>
              <a:buChar char="•"/>
            </a:pPr>
            <a:r>
              <a:rPr lang="en-US" sz="1200" dirty="0">
                <a:solidFill>
                  <a:srgbClr val="CFDAE3"/>
                </a:solidFill>
                <a:latin typeface="Calibri" pitchFamily="34" charset="0"/>
                <a:ea typeface="Calibri" pitchFamily="34" charset="-122"/>
                <a:cs typeface="Calibri" pitchFamily="34" charset="-120"/>
              </a:rPr>
              <a:t>PACKAGE_INIT — the whole package, never by line</a:t>
            </a:r>
            <a:endParaRPr lang="en-US" sz="1200" dirty="0"/>
          </a:p>
          <a:p>
            <a:pPr marL="342900" indent="-342900">
              <a:spcAft>
                <a:spcPts val="600"/>
              </a:spcAft>
              <a:buSzPct val="100000"/>
              <a:buChar char="•"/>
            </a:pPr>
            <a:r>
              <a:rPr lang="en-US" sz="1200" dirty="0">
                <a:solidFill>
                  <a:srgbClr val="CFDAE3"/>
                </a:solidFill>
                <a:latin typeface="Calibri" pitchFamily="34" charset="0"/>
                <a:ea typeface="Calibri" pitchFamily="34" charset="-122"/>
                <a:cs typeface="Calibri" pitchFamily="34" charset="-120"/>
              </a:rPr>
              <a:t>INSERTION_NO_HISTORY — inserted lines widen to the file</a:t>
            </a:r>
            <a:endParaRPr lang="en-US" sz="1200" dirty="0"/>
          </a:p>
        </p:txBody>
      </p:sp>
      <p:sp>
        <p:nvSpPr>
          <p:cNvPr id="6" name="Text 4"/>
          <p:cNvSpPr txBox="1"/>
          <p:nvPr/>
        </p:nvSpPr>
        <p:spPr>
          <a:xfrm>
            <a:off x="6309360" y="1600200"/>
            <a:ext cx="5212080" cy="320040"/>
          </a:xfrm>
          <a:prstGeom prst="rect">
            <a:avLst/>
          </a:prstGeom>
          <a:noFill/>
          <a:ln/>
        </p:spPr>
        <p:txBody>
          <a:bodyPr wrap="square" lIns="0" tIns="0" rIns="0" bIns="0" rtlCol="0" anchor="ctr"/>
          <a:lstStyle/>
          <a:p>
            <a:pPr indent="0" marL="0">
              <a:buNone/>
            </a:pPr>
            <a:r>
              <a:rPr lang="en-US" sz="1300" b="1" dirty="0">
                <a:solidFill>
                  <a:srgbClr val="C07A1B"/>
                </a:solidFill>
                <a:latin typeface="Calibri" pitchFamily="34" charset="0"/>
                <a:ea typeface="Calibri" pitchFamily="34" charset="-122"/>
                <a:cs typeface="Calibri" pitchFamily="34" charset="-120"/>
              </a:rPr>
              <a:t>Exhaustive everywhere else</a:t>
            </a:r>
            <a:endParaRPr lang="en-US" sz="1300" dirty="0"/>
          </a:p>
        </p:txBody>
      </p:sp>
      <p:sp>
        <p:nvSpPr>
          <p:cNvPr id="7" name="Text 5"/>
          <p:cNvSpPr txBox="1"/>
          <p:nvPr/>
        </p:nvSpPr>
        <p:spPr>
          <a:xfrm>
            <a:off x="6309360" y="1965960"/>
            <a:ext cx="5212080" cy="1920240"/>
          </a:xfrm>
          <a:prstGeom prst="rect">
            <a:avLst/>
          </a:prstGeom>
          <a:noFill/>
          <a:ln/>
        </p:spPr>
        <p:txBody>
          <a:bodyPr wrap="square" lIns="0" tIns="0" rIns="0" bIns="0" rtlCol="0" anchor="ctr"/>
          <a:lstStyle/>
          <a:p>
            <a:pPr marL="342900" indent="-342900">
              <a:spcAft>
                <a:spcPts val="600"/>
              </a:spcAft>
              <a:buSzPct val="100000"/>
              <a:buChar char="•"/>
            </a:pPr>
            <a:r>
              <a:rPr lang="en-US" sz="1200" dirty="0">
                <a:solidFill>
                  <a:srgbClr val="CFDAE3"/>
                </a:solidFill>
                <a:latin typeface="Calibri" pitchFamily="34" charset="0"/>
                <a:ea typeface="Calibri" pitchFamily="34" charset="-122"/>
                <a:cs typeface="Calibri" pitchFamily="34" charset="-120"/>
              </a:rPr>
              <a:t>UNMAPPED_FILE · BUILD_CONFIG_CHANGED</a:t>
            </a:r>
            <a:endParaRPr lang="en-US" sz="1200" dirty="0"/>
          </a:p>
          <a:p>
            <a:pPr marL="342900" indent="-342900">
              <a:spcAft>
                <a:spcPts val="600"/>
              </a:spcAft>
              <a:buSzPct val="100000"/>
              <a:buChar char="•"/>
            </a:pPr>
            <a:r>
              <a:rPr lang="en-US" sz="1200" dirty="0">
                <a:solidFill>
                  <a:srgbClr val="CFDAE3"/>
                </a:solidFill>
                <a:latin typeface="Calibri" pitchFamily="34" charset="0"/>
                <a:ea typeface="Calibri" pitchFamily="34" charset="-122"/>
                <a:cs typeface="Calibri" pitchFamily="34" charset="-120"/>
              </a:rPr>
              <a:t>DEPENDENCY_CHANGED · NON_SOURCE_ASSET</a:t>
            </a:r>
            <a:endParaRPr lang="en-US" sz="1200" dirty="0"/>
          </a:p>
          <a:p>
            <a:pPr marL="342900" indent="-342900">
              <a:spcAft>
                <a:spcPts val="600"/>
              </a:spcAft>
              <a:buSzPct val="100000"/>
              <a:buChar char="•"/>
            </a:pPr>
            <a:r>
              <a:rPr lang="en-US" sz="1200" dirty="0">
                <a:solidFill>
                  <a:srgbClr val="CFDAE3"/>
                </a:solidFill>
                <a:latin typeface="Calibri" pitchFamily="34" charset="0"/>
                <a:ea typeface="Calibri" pitchFamily="34" charset="-122"/>
                <a:cs typeface="Calibri" pitchFamily="34" charset="-120"/>
              </a:rPr>
              <a:t>IMPORT_TIME_LINE · USER_CONFIGURED</a:t>
            </a:r>
            <a:endParaRPr lang="en-US" sz="1200" dirty="0"/>
          </a:p>
          <a:p>
            <a:pPr marL="342900" indent="-342900">
              <a:spcAft>
                <a:spcPts val="600"/>
              </a:spcAft>
              <a:buSzPct val="100000"/>
              <a:buChar char="•"/>
            </a:pPr>
            <a:r>
              <a:rPr lang="en-US" sz="1200" dirty="0">
                <a:solidFill>
                  <a:srgbClr val="CFDAE3"/>
                </a:solidFill>
                <a:latin typeface="Calibri" pitchFamily="34" charset="0"/>
                <a:ea typeface="Calibri" pitchFamily="34" charset="-122"/>
                <a:cs typeface="Calibri" pitchFamily="34" charset="-120"/>
              </a:rPr>
              <a:t>MAP_STALE · NO_MAP · CLASSIFIER_ERROR</a:t>
            </a:r>
            <a:endParaRPr lang="en-US" sz="1200" dirty="0"/>
          </a:p>
          <a:p>
            <a:pPr indent="0" marL="0">
              <a:spcAft>
                <a:spcPts val="600"/>
              </a:spcAft>
              <a:buNone/>
            </a:pPr>
            <a:r>
              <a:rPr lang="en-US" sz="1200" dirty="0">
                <a:solidFill>
                  <a:srgbClr val="CFDAE3"/>
                </a:solidFill>
                <a:latin typeface="Calibri" pitchFamily="34" charset="0"/>
                <a:ea typeface="Calibri" pitchFamily="34" charset="-122"/>
                <a:cs typeface="Calibri" pitchFamily="34" charset="-120"/>
              </a:rPr>
              <a:t>Every one of these runs the entire suite</a:t>
            </a:r>
            <a:endParaRPr lang="en-US" sz="1200" dirty="0"/>
          </a:p>
        </p:txBody>
      </p:sp>
      <p:sp>
        <p:nvSpPr>
          <p:cNvPr id="8" name="Shape 6"/>
          <p:cNvSpPr/>
          <p:nvPr/>
        </p:nvSpPr>
        <p:spPr>
          <a:xfrm>
            <a:off x="640080" y="4114800"/>
            <a:ext cx="10881360" cy="960120"/>
          </a:xfrm>
          <a:prstGeom prst="roundRect">
            <a:avLst>
              <a:gd name="adj" fmla="val 7619"/>
            </a:avLst>
          </a:prstGeom>
          <a:solidFill>
            <a:srgbClr val="223141"/>
          </a:solidFill>
          <a:ln w="12700">
            <a:solidFill>
              <a:srgbClr val="333333"/>
            </a:solidFill>
            <a:prstDash val="solid"/>
          </a:ln>
        </p:spPr>
      </p:sp>
      <p:sp>
        <p:nvSpPr>
          <p:cNvPr id="9" name="Text 7"/>
          <p:cNvSpPr txBox="1"/>
          <p:nvPr/>
        </p:nvSpPr>
        <p:spPr>
          <a:xfrm>
            <a:off x="960120" y="4315968"/>
            <a:ext cx="10241280" cy="54864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9 of the 14 rules deliberately give up the speed benefit. That is the design, not a shortfall in it.</a:t>
            </a:r>
            <a:endParaRPr lang="en-US" sz="1700" dirty="0"/>
          </a:p>
        </p:txBody>
      </p:sp>
      <p:sp>
        <p:nvSpPr>
          <p:cNvPr id="10" name="Text 8"/>
          <p:cNvSpPr txBox="1"/>
          <p:nvPr/>
        </p:nvSpPr>
        <p:spPr>
          <a:xfrm>
            <a:off x="640080" y="5257800"/>
            <a:ext cx="10881360" cy="731520"/>
          </a:xfrm>
          <a:prstGeom prst="rect">
            <a:avLst/>
          </a:prstGeom>
          <a:noFill/>
          <a:ln/>
        </p:spPr>
        <p:txBody>
          <a:bodyPr wrap="square" lIns="0" tIns="0" rIns="0" bIns="0" rtlCol="0" anchor="ctr"/>
          <a:lstStyle/>
          <a:p>
            <a:pPr indent="0" marL="0">
              <a:buNone/>
            </a:pPr>
            <a:r>
              <a:rPr lang="en-US" sz="1250" i="1" dirty="0">
                <a:solidFill>
                  <a:srgbClr val="8DA0B0"/>
                </a:solidFill>
                <a:latin typeface="Calibri" pitchFamily="34" charset="0"/>
                <a:ea typeface="Calibri" pitchFamily="34" charset="-122"/>
                <a:cs typeface="Calibri" pitchFamily="34" charset="-120"/>
              </a:rPr>
              <a:t>Silent misses are the only unacceptable failure. A fast tool that occasionally lets a defect through is worse than no tool, because it manufactures confidence. When in doubt, run everything — and say why.</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640080" y="384048"/>
            <a:ext cx="10881360" cy="256032"/>
          </a:xfrm>
          <a:prstGeom prst="rect">
            <a:avLst/>
          </a:prstGeom>
          <a:noFill/>
          <a:ln/>
        </p:spPr>
        <p:txBody>
          <a:bodyPr wrap="square" lIns="0" tIns="0" rIns="0" bIns="0" rtlCol="0" anchor="ctr"/>
          <a:lstStyle/>
          <a:p>
            <a:pPr indent="0" marL="0">
              <a:buNone/>
            </a:pPr>
            <a:r>
              <a:rPr lang="en-US" sz="1100" b="1" spc="200" kern="0" dirty="0">
                <a:solidFill>
                  <a:srgbClr val="62727F"/>
                </a:solidFill>
                <a:latin typeface="Calibri" pitchFamily="34" charset="0"/>
                <a:ea typeface="Calibri" pitchFamily="34" charset="-122"/>
                <a:cs typeface="Calibri" pitchFamily="34" charset="-120"/>
              </a:rPr>
              <a:t>MEASUREMENT FIRST</a:t>
            </a:r>
            <a:endParaRPr lang="en-US" sz="1100" dirty="0"/>
          </a:p>
        </p:txBody>
      </p:sp>
      <p:sp>
        <p:nvSpPr>
          <p:cNvPr id="3" name="Text 1"/>
          <p:cNvSpPr txBox="1"/>
          <p:nvPr/>
        </p:nvSpPr>
        <p:spPr>
          <a:xfrm>
            <a:off x="640080" y="658368"/>
            <a:ext cx="10881360" cy="777240"/>
          </a:xfrm>
          <a:prstGeom prst="rect">
            <a:avLst/>
          </a:prstGeom>
          <a:noFill/>
          <a:ln/>
        </p:spPr>
        <p:txBody>
          <a:bodyPr wrap="square" lIns="0" tIns="0" rIns="0" bIns="0" rtlCol="0" anchor="ctr"/>
          <a:lstStyle/>
          <a:p>
            <a:pPr indent="0" marL="0">
              <a:buNone/>
            </a:pPr>
            <a:r>
              <a:rPr lang="en-US" sz="3400" b="1" dirty="0">
                <a:solidFill>
                  <a:srgbClr val="17232F"/>
                </a:solidFill>
                <a:latin typeface="Cambria" pitchFamily="34" charset="0"/>
                <a:ea typeface="Cambria" pitchFamily="34" charset="-122"/>
                <a:cs typeface="Cambria" pitchFamily="34" charset="-120"/>
              </a:rPr>
              <a:t>The harness was built before the tool</a:t>
            </a:r>
            <a:endParaRPr lang="en-US" sz="3400" dirty="0"/>
          </a:p>
        </p:txBody>
      </p:sp>
      <p:sp>
        <p:nvSpPr>
          <p:cNvPr id="4" name="Text 2"/>
          <p:cNvSpPr txBox="1"/>
          <p:nvPr/>
        </p:nvSpPr>
        <p:spPr>
          <a:xfrm>
            <a:off x="640080" y="1572768"/>
            <a:ext cx="10881360" cy="457200"/>
          </a:xfrm>
          <a:prstGeom prst="rect">
            <a:avLst/>
          </a:prstGeom>
          <a:noFill/>
          <a:ln/>
        </p:spPr>
        <p:txBody>
          <a:bodyPr wrap="square" lIns="0" tIns="0" rIns="0" bIns="0" rtlCol="0" anchor="ctr"/>
          <a:lstStyle/>
          <a:p>
            <a:pPr indent="0" marL="0">
              <a:buNone/>
            </a:pPr>
            <a:r>
              <a:rPr lang="en-US" sz="1300" dirty="0">
                <a:solidFill>
                  <a:srgbClr val="62727F"/>
                </a:solidFill>
                <a:latin typeface="Calibri" pitchFamily="34" charset="0"/>
                <a:ea typeface="Calibri" pitchFamily="34" charset="-122"/>
                <a:cs typeface="Calibri" pitchFamily="34" charset="-120"/>
              </a:rPr>
              <a:t>All six candidate repositories were cloned at pinned SHAs, installed and timed before anything was selected. Median of five runs after a warmup, one machine (Apple M4, 10 cores).</a:t>
            </a:r>
            <a:endParaRPr lang="en-US" sz="13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40080" y="2103120"/>
          <a:ext cx="10881360" cy="914400"/>
        </p:xfrm>
        <a:graphic>
          <a:graphicData uri="http://schemas.openxmlformats.org/drawingml/2006/table">
            <a:tbl>
              <a:tblPr/>
              <a:tblGrid>
                <a:gridCol w="2011680"/>
                <a:gridCol w="1097280"/>
                <a:gridCol w="914400"/>
                <a:gridCol w="1371600"/>
                <a:gridCol w="1371600"/>
                <a:gridCol w="4114800"/>
              </a:tblGrid>
              <a:tr h="402336">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Repository</a:t>
                      </a:r>
                      <a:endParaRPr lang="en-US" sz="1100" dirty="0">
                        <a:latin typeface="Calibri" charset="0"/>
                        <a:ea typeface="Calibri" charset="0"/>
                        <a:cs typeface="Calibri" charset="0"/>
                      </a:endParaRPr>
                    </a:p>
                  </a:txBody>
                  <a:tcPr marL="54864" marR="54864" marT="54864" marB="54864"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solidFill>
                      <a:srgbClr val="17232F"/>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Tests</a:t>
                      </a:r>
                      <a:endParaRPr lang="en-US" sz="1100" dirty="0">
                        <a:latin typeface="Calibri" charset="0"/>
                        <a:ea typeface="Calibri" charset="0"/>
                        <a:cs typeface="Calibri" charset="0"/>
                      </a:endParaRPr>
                    </a:p>
                  </a:txBody>
                  <a:tcPr marL="54864" marR="54864" marT="54864" marB="54864"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solidFill>
                      <a:srgbClr val="17232F"/>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Green</a:t>
                      </a:r>
                      <a:endParaRPr lang="en-US" sz="1100" dirty="0">
                        <a:latin typeface="Calibri" charset="0"/>
                        <a:ea typeface="Calibri" charset="0"/>
                        <a:cs typeface="Calibri" charset="0"/>
                      </a:endParaRPr>
                    </a:p>
                  </a:txBody>
                  <a:tcPr marL="54864" marR="54864" marT="54864" marB="54864"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solidFill>
                      <a:srgbClr val="17232F"/>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-n auto</a:t>
                      </a:r>
                      <a:endParaRPr lang="en-US" sz="1100" dirty="0">
                        <a:latin typeface="Calibri" charset="0"/>
                        <a:ea typeface="Calibri" charset="0"/>
                        <a:cs typeface="Calibri" charset="0"/>
                      </a:endParaRPr>
                    </a:p>
                  </a:txBody>
                  <a:tcPr marL="54864" marR="54864" marT="54864" marB="54864"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solidFill>
                      <a:srgbClr val="17232F"/>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Serial</a:t>
                      </a:r>
                      <a:endParaRPr lang="en-US" sz="1100" dirty="0">
                        <a:latin typeface="Calibri" charset="0"/>
                        <a:ea typeface="Calibri" charset="0"/>
                        <a:cs typeface="Calibri" charset="0"/>
                      </a:endParaRPr>
                    </a:p>
                  </a:txBody>
                  <a:tcPr marL="54864" marR="54864" marT="54864" marB="54864"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solidFill>
                      <a:srgbClr val="17232F"/>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Outcome</a:t>
                      </a:r>
                      <a:endParaRPr lang="en-US" sz="1100" dirty="0">
                        <a:latin typeface="Calibri" charset="0"/>
                        <a:ea typeface="Calibri" charset="0"/>
                        <a:cs typeface="Calibri" charset="0"/>
                      </a:endParaRPr>
                    </a:p>
                  </a:txBody>
                  <a:tcPr marL="54864" marR="54864" marT="54864" marB="54864"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solidFill>
                      <a:srgbClr val="17232F"/>
                    </a:solidFill>
                  </a:tcPr>
                </a:tc>
              </a:tr>
              <a:tr h="402336">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scrapy</a:t>
                      </a:r>
                      <a:endParaRPr lang="en-US" sz="1100" dirty="0">
                        <a:latin typeface="Calibri" charset="0"/>
                        <a:ea typeface="Calibri" charset="0"/>
                        <a:cs typeface="Calibri" charset="0"/>
                      </a:endParaRPr>
                    </a:p>
                  </a:txBody>
                  <a:tcPr marL="54864" marR="54864" marT="54864" marB="54864"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c>
                  <a:txBody>
                    <a:bodyPr/>
                    <a:lstStyle/>
                    <a:p>
                      <a:pPr indent="0" marL="0">
                        <a:buNone/>
                      </a:pPr>
                      <a:r>
                        <a:rPr lang="en-US" sz="1100" dirty="0">
                          <a:solidFill>
                            <a:srgbClr val="17232F"/>
                          </a:solidFill>
                          <a:latin typeface="Calibri" pitchFamily="34" charset="0"/>
                          <a:ea typeface="Calibri" pitchFamily="34" charset="-122"/>
                          <a:cs typeface="Calibri" pitchFamily="34" charset="-120"/>
                        </a:rPr>
                        <a:t>5,000</a:t>
                      </a:r>
                      <a:endParaRPr lang="en-US" sz="1100" dirty="0">
                        <a:latin typeface="Calibri" charset="0"/>
                        <a:ea typeface="Calibri" charset="0"/>
                        <a:cs typeface="Calibri" charset="0"/>
                      </a:endParaRPr>
                    </a:p>
                  </a:txBody>
                  <a:tcPr marL="54864" marR="54864" marT="54864" marB="54864"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c>
                  <a:txBody>
                    <a:bodyPr/>
                    <a:lstStyle/>
                    <a:p>
                      <a:pPr indent="0" marL="0">
                        <a:buNone/>
                      </a:pPr>
                      <a:r>
                        <a:rPr lang="en-US" sz="1100" dirty="0">
                          <a:solidFill>
                            <a:srgbClr val="17232F"/>
                          </a:solidFill>
                          <a:latin typeface="Calibri" pitchFamily="34" charset="0"/>
                          <a:ea typeface="Calibri" pitchFamily="34" charset="-122"/>
                          <a:cs typeface="Calibri" pitchFamily="34" charset="-120"/>
                        </a:rPr>
                        <a:t>yes</a:t>
                      </a:r>
                      <a:endParaRPr lang="en-US" sz="1100" dirty="0">
                        <a:latin typeface="Calibri" charset="0"/>
                        <a:ea typeface="Calibri" charset="0"/>
                        <a:cs typeface="Calibri" charset="0"/>
                      </a:endParaRPr>
                    </a:p>
                  </a:txBody>
                  <a:tcPr marL="54864" marR="54864" marT="54864" marB="54864"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c>
                  <a:txBody>
                    <a:bodyPr/>
                    <a:lstStyle/>
                    <a:p>
                      <a:pPr indent="0" marL="0">
                        <a:buNone/>
                      </a:pPr>
                      <a:r>
                        <a:rPr lang="en-US" sz="1100" dirty="0">
                          <a:solidFill>
                            <a:srgbClr val="17232F"/>
                          </a:solidFill>
                          <a:latin typeface="Calibri" pitchFamily="34" charset="0"/>
                          <a:ea typeface="Calibri" pitchFamily="34" charset="-122"/>
                          <a:cs typeface="Calibri" pitchFamily="34" charset="-120"/>
                        </a:rPr>
                        <a:t>49.85 s</a:t>
                      </a:r>
                      <a:endParaRPr lang="en-US" sz="1100" dirty="0">
                        <a:latin typeface="Calibri" charset="0"/>
                        <a:ea typeface="Calibri" charset="0"/>
                        <a:cs typeface="Calibri" charset="0"/>
                      </a:endParaRPr>
                    </a:p>
                  </a:txBody>
                  <a:tcPr marL="54864" marR="54864" marT="54864" marB="54864"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c>
                  <a:txBody>
                    <a:bodyPr/>
                    <a:lstStyle/>
                    <a:p>
                      <a:pPr indent="0" marL="0">
                        <a:buNone/>
                      </a:pPr>
                      <a:r>
                        <a:rPr lang="en-US" sz="1100" dirty="0">
                          <a:solidFill>
                            <a:srgbClr val="17232F"/>
                          </a:solidFill>
                          <a:latin typeface="Calibri" pitchFamily="34" charset="0"/>
                          <a:ea typeface="Calibri" pitchFamily="34" charset="-122"/>
                          <a:cs typeface="Calibri" pitchFamily="34" charset="-120"/>
                        </a:rPr>
                        <a:t>204.85 s</a:t>
                      </a:r>
                      <a:endParaRPr lang="en-US" sz="1100" dirty="0">
                        <a:latin typeface="Calibri" charset="0"/>
                        <a:ea typeface="Calibri" charset="0"/>
                        <a:cs typeface="Calibri" charset="0"/>
                      </a:endParaRPr>
                    </a:p>
                  </a:txBody>
                  <a:tcPr marL="54864" marR="54864" marT="54864" marB="54864"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c>
                  <a:txBody>
                    <a:bodyPr/>
                    <a:lstStyle/>
                    <a:p>
                      <a:pPr indent="0" marL="0">
                        <a:buNone/>
                      </a:pPr>
                      <a:r>
                        <a:rPr lang="en-US" sz="1100" b="1" dirty="0">
                          <a:solidFill>
                            <a:srgbClr val="2E7D62"/>
                          </a:solidFill>
                          <a:latin typeface="Calibri" pitchFamily="34" charset="0"/>
                          <a:ea typeface="Calibri" pitchFamily="34" charset="-122"/>
                          <a:cs typeface="Calibri" pitchFamily="34" charset="-120"/>
                        </a:rPr>
                        <a:t>CORPUS — primary</a:t>
                      </a:r>
                      <a:endParaRPr lang="en-US" sz="1100" dirty="0">
                        <a:latin typeface="Calibri" charset="0"/>
                        <a:ea typeface="Calibri" charset="0"/>
                        <a:cs typeface="Calibri" charset="0"/>
                      </a:endParaRPr>
                    </a:p>
                  </a:txBody>
                  <a:tcPr marL="54864" marR="54864" marT="54864" marB="54864"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r>
              <a:tr h="402336">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attrs</a:t>
                      </a:r>
                      <a:endParaRPr lang="en-US" sz="1100" dirty="0">
                        <a:latin typeface="Calibri" charset="0"/>
                        <a:ea typeface="Calibri" charset="0"/>
                        <a:cs typeface="Calibri" charset="0"/>
                      </a:endParaRPr>
                    </a:p>
                  </a:txBody>
                  <a:tcPr marL="54864" marR="54864" marT="54864" marB="54864"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c>
                  <a:txBody>
                    <a:bodyPr/>
                    <a:lstStyle/>
                    <a:p>
                      <a:pPr indent="0" marL="0">
                        <a:buNone/>
                      </a:pPr>
                      <a:r>
                        <a:rPr lang="en-US" sz="1100" dirty="0">
                          <a:solidFill>
                            <a:srgbClr val="17232F"/>
                          </a:solidFill>
                          <a:latin typeface="Calibri" pitchFamily="34" charset="0"/>
                          <a:ea typeface="Calibri" pitchFamily="34" charset="-122"/>
                          <a:cs typeface="Calibri" pitchFamily="34" charset="-120"/>
                        </a:rPr>
                        <a:t>1,412</a:t>
                      </a:r>
                      <a:endParaRPr lang="en-US" sz="1100" dirty="0">
                        <a:latin typeface="Calibri" charset="0"/>
                        <a:ea typeface="Calibri" charset="0"/>
                        <a:cs typeface="Calibri" charset="0"/>
                      </a:endParaRPr>
                    </a:p>
                  </a:txBody>
                  <a:tcPr marL="54864" marR="54864" marT="54864" marB="54864"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c>
                  <a:txBody>
                    <a:bodyPr/>
                    <a:lstStyle/>
                    <a:p>
                      <a:pPr indent="0" marL="0">
                        <a:buNone/>
                      </a:pPr>
                      <a:r>
                        <a:rPr lang="en-US" sz="1100" dirty="0">
                          <a:solidFill>
                            <a:srgbClr val="17232F"/>
                          </a:solidFill>
                          <a:latin typeface="Calibri" pitchFamily="34" charset="0"/>
                          <a:ea typeface="Calibri" pitchFamily="34" charset="-122"/>
                          <a:cs typeface="Calibri" pitchFamily="34" charset="-120"/>
                        </a:rPr>
                        <a:t>yes</a:t>
                      </a:r>
                      <a:endParaRPr lang="en-US" sz="1100" dirty="0">
                        <a:latin typeface="Calibri" charset="0"/>
                        <a:ea typeface="Calibri" charset="0"/>
                        <a:cs typeface="Calibri" charset="0"/>
                      </a:endParaRPr>
                    </a:p>
                  </a:txBody>
                  <a:tcPr marL="54864" marR="54864" marT="54864" marB="54864"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c>
                  <a:txBody>
                    <a:bodyPr/>
                    <a:lstStyle/>
                    <a:p>
                      <a:pPr indent="0" marL="0">
                        <a:buNone/>
                      </a:pPr>
                      <a:r>
                        <a:rPr lang="en-US" sz="1100" dirty="0">
                          <a:solidFill>
                            <a:srgbClr val="17232F"/>
                          </a:solidFill>
                          <a:latin typeface="Calibri" pitchFamily="34" charset="0"/>
                          <a:ea typeface="Calibri" pitchFamily="34" charset="-122"/>
                          <a:cs typeface="Calibri" pitchFamily="34" charset="-120"/>
                        </a:rPr>
                        <a:t>2.30 s</a:t>
                      </a:r>
                      <a:endParaRPr lang="en-US" sz="1100" dirty="0">
                        <a:latin typeface="Calibri" charset="0"/>
                        <a:ea typeface="Calibri" charset="0"/>
                        <a:cs typeface="Calibri" charset="0"/>
                      </a:endParaRPr>
                    </a:p>
                  </a:txBody>
                  <a:tcPr marL="54864" marR="54864" marT="54864" marB="54864"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c>
                  <a:txBody>
                    <a:bodyPr/>
                    <a:lstStyle/>
                    <a:p>
                      <a:pPr indent="0" marL="0">
                        <a:buNone/>
                      </a:pPr>
                      <a:r>
                        <a:rPr lang="en-US" sz="1100" dirty="0">
                          <a:solidFill>
                            <a:srgbClr val="17232F"/>
                          </a:solidFill>
                          <a:latin typeface="Calibri" pitchFamily="34" charset="0"/>
                          <a:ea typeface="Calibri" pitchFamily="34" charset="-122"/>
                          <a:cs typeface="Calibri" pitchFamily="34" charset="-120"/>
                        </a:rPr>
                        <a:t>3.93 s</a:t>
                      </a:r>
                      <a:endParaRPr lang="en-US" sz="1100" dirty="0">
                        <a:latin typeface="Calibri" charset="0"/>
                        <a:ea typeface="Calibri" charset="0"/>
                        <a:cs typeface="Calibri" charset="0"/>
                      </a:endParaRPr>
                    </a:p>
                  </a:txBody>
                  <a:tcPr marL="54864" marR="54864" marT="54864" marB="54864"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c>
                  <a:txBody>
                    <a:bodyPr/>
                    <a:lstStyle/>
                    <a:p>
                      <a:pPr indent="0" marL="0">
                        <a:buNone/>
                      </a:pPr>
                      <a:r>
                        <a:rPr lang="en-US" sz="1100" b="1" dirty="0">
                          <a:solidFill>
                            <a:srgbClr val="2E7D62"/>
                          </a:solidFill>
                          <a:latin typeface="Calibri" pitchFamily="34" charset="0"/>
                          <a:ea typeface="Calibri" pitchFamily="34" charset="-122"/>
                          <a:cs typeface="Calibri" pitchFamily="34" charset="-120"/>
                        </a:rPr>
                        <a:t>CORPUS — secondary</a:t>
                      </a:r>
                      <a:endParaRPr lang="en-US" sz="1100" dirty="0">
                        <a:latin typeface="Calibri" charset="0"/>
                        <a:ea typeface="Calibri" charset="0"/>
                        <a:cs typeface="Calibri" charset="0"/>
                      </a:endParaRPr>
                    </a:p>
                  </a:txBody>
                  <a:tcPr marL="54864" marR="54864" marT="54864" marB="54864"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r>
              <a:tr h="402336">
                <a:tc>
                  <a:txBody>
                    <a:bodyPr/>
                    <a:lstStyle/>
                    <a:p>
                      <a:pPr indent="0" marL="0">
                        <a:buNone/>
                      </a:pPr>
                      <a:r>
                        <a:rPr lang="en-US" sz="1100" dirty="0">
                          <a:solidFill>
                            <a:srgbClr val="17232F"/>
                          </a:solidFill>
                          <a:latin typeface="Calibri" pitchFamily="34" charset="0"/>
                          <a:ea typeface="Calibri" pitchFamily="34" charset="-122"/>
                          <a:cs typeface="Calibri" pitchFamily="34" charset="-120"/>
                        </a:rPr>
                        <a:t>httpx</a:t>
                      </a:r>
                      <a:endParaRPr lang="en-US" sz="1100" dirty="0">
                        <a:latin typeface="Calibri" charset="0"/>
                        <a:ea typeface="Calibri" charset="0"/>
                        <a:cs typeface="Calibri" charset="0"/>
                      </a:endParaRPr>
                    </a:p>
                  </a:txBody>
                  <a:tcPr marL="54864" marR="54864" marT="54864" marB="54864"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c>
                  <a:txBody>
                    <a:bodyPr/>
                    <a:lstStyle/>
                    <a:p>
                      <a:pPr indent="0" marL="0">
                        <a:buNone/>
                      </a:pPr>
                      <a:r>
                        <a:rPr lang="en-US" sz="1100" dirty="0">
                          <a:solidFill>
                            <a:srgbClr val="17232F"/>
                          </a:solidFill>
                          <a:latin typeface="Calibri" pitchFamily="34" charset="0"/>
                          <a:ea typeface="Calibri" pitchFamily="34" charset="-122"/>
                          <a:cs typeface="Calibri" pitchFamily="34" charset="-120"/>
                        </a:rPr>
                        <a:t>1,418</a:t>
                      </a:r>
                      <a:endParaRPr lang="en-US" sz="1100" dirty="0">
                        <a:latin typeface="Calibri" charset="0"/>
                        <a:ea typeface="Calibri" charset="0"/>
                        <a:cs typeface="Calibri" charset="0"/>
                      </a:endParaRPr>
                    </a:p>
                  </a:txBody>
                  <a:tcPr marL="54864" marR="54864" marT="54864" marB="54864"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c>
                  <a:txBody>
                    <a:bodyPr/>
                    <a:lstStyle/>
                    <a:p>
                      <a:pPr indent="0" marL="0">
                        <a:buNone/>
                      </a:pPr>
                      <a:r>
                        <a:rPr lang="en-US" sz="1100" dirty="0">
                          <a:solidFill>
                            <a:srgbClr val="D1453B"/>
                          </a:solidFill>
                          <a:latin typeface="Calibri" pitchFamily="34" charset="0"/>
                          <a:ea typeface="Calibri" pitchFamily="34" charset="-122"/>
                          <a:cs typeface="Calibri" pitchFamily="34" charset="-120"/>
                        </a:rPr>
                        <a:t>no</a:t>
                      </a:r>
                      <a:endParaRPr lang="en-US" sz="1100" dirty="0">
                        <a:latin typeface="Calibri" charset="0"/>
                        <a:ea typeface="Calibri" charset="0"/>
                        <a:cs typeface="Calibri" charset="0"/>
                      </a:endParaRPr>
                    </a:p>
                  </a:txBody>
                  <a:tcPr marL="54864" marR="54864" marT="54864" marB="54864"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c>
                  <a:txBody>
                    <a:bodyPr/>
                    <a:lstStyle/>
                    <a:p>
                      <a:pPr indent="0" marL="0">
                        <a:buNone/>
                      </a:pPr>
                      <a:r>
                        <a:rPr lang="en-US" sz="1100" dirty="0">
                          <a:solidFill>
                            <a:srgbClr val="D1453B"/>
                          </a:solidFill>
                          <a:latin typeface="Calibri" pitchFamily="34" charset="0"/>
                          <a:ea typeface="Calibri" pitchFamily="34" charset="-122"/>
                          <a:cs typeface="Calibri" pitchFamily="34" charset="-120"/>
                        </a:rPr>
                        <a:t>deadlocks</a:t>
                      </a:r>
                      <a:endParaRPr lang="en-US" sz="1100" dirty="0">
                        <a:latin typeface="Calibri" charset="0"/>
                        <a:ea typeface="Calibri" charset="0"/>
                        <a:cs typeface="Calibri" charset="0"/>
                      </a:endParaRPr>
                    </a:p>
                  </a:txBody>
                  <a:tcPr marL="54864" marR="54864" marT="54864" marB="54864"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c>
                  <a:txBody>
                    <a:bodyPr/>
                    <a:lstStyle/>
                    <a:p>
                      <a:pPr indent="0" marL="0">
                        <a:buNone/>
                      </a:pPr>
                      <a:r>
                        <a:rPr lang="en-US" sz="1100" dirty="0">
                          <a:solidFill>
                            <a:srgbClr val="17232F"/>
                          </a:solidFill>
                          <a:latin typeface="Calibri" pitchFamily="34" charset="0"/>
                          <a:ea typeface="Calibri" pitchFamily="34" charset="-122"/>
                          <a:cs typeface="Calibri" pitchFamily="34" charset="-120"/>
                        </a:rPr>
                        <a:t>5.17 s</a:t>
                      </a:r>
                      <a:endParaRPr lang="en-US" sz="1100" dirty="0">
                        <a:latin typeface="Calibri" charset="0"/>
                        <a:ea typeface="Calibri" charset="0"/>
                        <a:cs typeface="Calibri" charset="0"/>
                      </a:endParaRPr>
                    </a:p>
                  </a:txBody>
                  <a:tcPr marL="54864" marR="54864" marT="54864" marB="54864"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c>
                  <a:txBody>
                    <a:bodyPr/>
                    <a:lstStyle/>
                    <a:p>
                      <a:pPr indent="0" marL="0">
                        <a:buNone/>
                      </a:pPr>
                      <a:r>
                        <a:rPr lang="en-US" sz="1100" dirty="0">
                          <a:solidFill>
                            <a:srgbClr val="62727F"/>
                          </a:solidFill>
                          <a:latin typeface="Calibri" pitchFamily="34" charset="0"/>
                          <a:ea typeface="Calibri" pitchFamily="34" charset="-122"/>
                          <a:cs typeface="Calibri" pitchFamily="34" charset="-120"/>
                        </a:rPr>
                        <a:t>rejected — hangs under xdist</a:t>
                      </a:r>
                      <a:endParaRPr lang="en-US" sz="1100" dirty="0">
                        <a:latin typeface="Calibri" charset="0"/>
                        <a:ea typeface="Calibri" charset="0"/>
                        <a:cs typeface="Calibri" charset="0"/>
                      </a:endParaRPr>
                    </a:p>
                  </a:txBody>
                  <a:tcPr marL="54864" marR="54864" marT="54864" marB="54864"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r>
              <a:tr h="402336">
                <a:tc>
                  <a:txBody>
                    <a:bodyPr/>
                    <a:lstStyle/>
                    <a:p>
                      <a:pPr indent="0" marL="0">
                        <a:buNone/>
                      </a:pPr>
                      <a:r>
                        <a:rPr lang="en-US" sz="1100" dirty="0">
                          <a:solidFill>
                            <a:srgbClr val="17232F"/>
                          </a:solidFill>
                          <a:latin typeface="Calibri" pitchFamily="34" charset="0"/>
                          <a:ea typeface="Calibri" pitchFamily="34" charset="-122"/>
                          <a:cs typeface="Calibri" pitchFamily="34" charset="-120"/>
                        </a:rPr>
                        <a:t>rich</a:t>
                      </a:r>
                      <a:endParaRPr lang="en-US" sz="1100" dirty="0">
                        <a:latin typeface="Calibri" charset="0"/>
                        <a:ea typeface="Calibri" charset="0"/>
                        <a:cs typeface="Calibri" charset="0"/>
                      </a:endParaRPr>
                    </a:p>
                  </a:txBody>
                  <a:tcPr marL="54864" marR="54864" marT="54864" marB="54864"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c>
                  <a:txBody>
                    <a:bodyPr/>
                    <a:lstStyle/>
                    <a:p>
                      <a:pPr indent="0" marL="0">
                        <a:buNone/>
                      </a:pPr>
                      <a:r>
                        <a:rPr lang="en-US" sz="1100" dirty="0">
                          <a:solidFill>
                            <a:srgbClr val="17232F"/>
                          </a:solidFill>
                          <a:latin typeface="Calibri" pitchFamily="34" charset="0"/>
                          <a:ea typeface="Calibri" pitchFamily="34" charset="-122"/>
                          <a:cs typeface="Calibri" pitchFamily="34" charset="-120"/>
                        </a:rPr>
                        <a:t>981</a:t>
                      </a:r>
                      <a:endParaRPr lang="en-US" sz="1100" dirty="0">
                        <a:latin typeface="Calibri" charset="0"/>
                        <a:ea typeface="Calibri" charset="0"/>
                        <a:cs typeface="Calibri" charset="0"/>
                      </a:endParaRPr>
                    </a:p>
                  </a:txBody>
                  <a:tcPr marL="54864" marR="54864" marT="54864" marB="54864"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c>
                  <a:txBody>
                    <a:bodyPr/>
                    <a:lstStyle/>
                    <a:p>
                      <a:pPr indent="0" marL="0">
                        <a:buNone/>
                      </a:pPr>
                      <a:r>
                        <a:rPr lang="en-US" sz="1100" dirty="0">
                          <a:solidFill>
                            <a:srgbClr val="D1453B"/>
                          </a:solidFill>
                          <a:latin typeface="Calibri" pitchFamily="34" charset="0"/>
                          <a:ea typeface="Calibri" pitchFamily="34" charset="-122"/>
                          <a:cs typeface="Calibri" pitchFamily="34" charset="-120"/>
                        </a:rPr>
                        <a:t>no</a:t>
                      </a:r>
                      <a:endParaRPr lang="en-US" sz="1100" dirty="0">
                        <a:latin typeface="Calibri" charset="0"/>
                        <a:ea typeface="Calibri" charset="0"/>
                        <a:cs typeface="Calibri" charset="0"/>
                      </a:endParaRPr>
                    </a:p>
                  </a:txBody>
                  <a:tcPr marL="54864" marR="54864" marT="54864" marB="54864"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c>
                  <a:txBody>
                    <a:bodyPr/>
                    <a:lstStyle/>
                    <a:p>
                      <a:pPr indent="0" marL="0">
                        <a:buNone/>
                      </a:pPr>
                      <a:r>
                        <a:rPr lang="en-US" sz="1100" dirty="0">
                          <a:solidFill>
                            <a:srgbClr val="17232F"/>
                          </a:solidFill>
                          <a:latin typeface="Calibri" pitchFamily="34" charset="0"/>
                          <a:ea typeface="Calibri" pitchFamily="34" charset="-122"/>
                          <a:cs typeface="Calibri" pitchFamily="34" charset="-120"/>
                        </a:rPr>
                        <a:t>3.06 s</a:t>
                      </a:r>
                      <a:endParaRPr lang="en-US" sz="1100" dirty="0">
                        <a:latin typeface="Calibri" charset="0"/>
                        <a:ea typeface="Calibri" charset="0"/>
                        <a:cs typeface="Calibri" charset="0"/>
                      </a:endParaRPr>
                    </a:p>
                  </a:txBody>
                  <a:tcPr marL="54864" marR="54864" marT="54864" marB="54864"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c>
                  <a:txBody>
                    <a:bodyPr/>
                    <a:lstStyle/>
                    <a:p>
                      <a:pPr indent="0" marL="0">
                        <a:buNone/>
                      </a:pPr>
                      <a:r>
                        <a:rPr lang="en-US" sz="1100" dirty="0">
                          <a:solidFill>
                            <a:srgbClr val="17232F"/>
                          </a:solidFill>
                          <a:latin typeface="Calibri" pitchFamily="34" charset="0"/>
                          <a:ea typeface="Calibri" pitchFamily="34" charset="-122"/>
                          <a:cs typeface="Calibri" pitchFamily="34" charset="-120"/>
                        </a:rPr>
                        <a:t>3.76 s</a:t>
                      </a:r>
                      <a:endParaRPr lang="en-US" sz="1100" dirty="0">
                        <a:latin typeface="Calibri" charset="0"/>
                        <a:ea typeface="Calibri" charset="0"/>
                        <a:cs typeface="Calibri" charset="0"/>
                      </a:endParaRPr>
                    </a:p>
                  </a:txBody>
                  <a:tcPr marL="54864" marR="54864" marT="54864" marB="54864"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c>
                  <a:txBody>
                    <a:bodyPr/>
                    <a:lstStyle/>
                    <a:p>
                      <a:pPr indent="0" marL="0">
                        <a:buNone/>
                      </a:pPr>
                      <a:r>
                        <a:rPr lang="en-US" sz="1100" dirty="0">
                          <a:solidFill>
                            <a:srgbClr val="62727F"/>
                          </a:solidFill>
                          <a:latin typeface="Calibri" pitchFamily="34" charset="0"/>
                          <a:ea typeface="Calibri" pitchFamily="34" charset="-122"/>
                          <a:cs typeface="Calibri" pitchFamily="34" charset="-120"/>
                        </a:rPr>
                        <a:t>rejected — Pygments drift</a:t>
                      </a:r>
                      <a:endParaRPr lang="en-US" sz="1100" dirty="0">
                        <a:latin typeface="Calibri" charset="0"/>
                        <a:ea typeface="Calibri" charset="0"/>
                        <a:cs typeface="Calibri" charset="0"/>
                      </a:endParaRPr>
                    </a:p>
                  </a:txBody>
                  <a:tcPr marL="54864" marR="54864" marT="54864" marB="54864"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r>
              <a:tr h="402336">
                <a:tc>
                  <a:txBody>
                    <a:bodyPr/>
                    <a:lstStyle/>
                    <a:p>
                      <a:pPr indent="0" marL="0">
                        <a:buNone/>
                      </a:pPr>
                      <a:r>
                        <a:rPr lang="en-US" sz="1100" dirty="0">
                          <a:solidFill>
                            <a:srgbClr val="17232F"/>
                          </a:solidFill>
                          <a:latin typeface="Calibri" pitchFamily="34" charset="0"/>
                          <a:ea typeface="Calibri" pitchFamily="34" charset="-122"/>
                          <a:cs typeface="Calibri" pitchFamily="34" charset="-120"/>
                        </a:rPr>
                        <a:t>black</a:t>
                      </a:r>
                      <a:endParaRPr lang="en-US" sz="1100" dirty="0">
                        <a:latin typeface="Calibri" charset="0"/>
                        <a:ea typeface="Calibri" charset="0"/>
                        <a:cs typeface="Calibri" charset="0"/>
                      </a:endParaRPr>
                    </a:p>
                  </a:txBody>
                  <a:tcPr marL="54864" marR="54864" marT="54864" marB="54864"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c>
                  <a:txBody>
                    <a:bodyPr/>
                    <a:lstStyle/>
                    <a:p>
                      <a:pPr indent="0" marL="0">
                        <a:buNone/>
                      </a:pPr>
                      <a:r>
                        <a:rPr lang="en-US" sz="1100" dirty="0">
                          <a:solidFill>
                            <a:srgbClr val="17232F"/>
                          </a:solidFill>
                          <a:latin typeface="Calibri" pitchFamily="34" charset="0"/>
                          <a:ea typeface="Calibri" pitchFamily="34" charset="-122"/>
                          <a:cs typeface="Calibri" pitchFamily="34" charset="-120"/>
                        </a:rPr>
                        <a:t>558</a:t>
                      </a:r>
                      <a:endParaRPr lang="en-US" sz="1100" dirty="0">
                        <a:latin typeface="Calibri" charset="0"/>
                        <a:ea typeface="Calibri" charset="0"/>
                        <a:cs typeface="Calibri" charset="0"/>
                      </a:endParaRPr>
                    </a:p>
                  </a:txBody>
                  <a:tcPr marL="54864" marR="54864" marT="54864" marB="54864"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c>
                  <a:txBody>
                    <a:bodyPr/>
                    <a:lstStyle/>
                    <a:p>
                      <a:pPr indent="0" marL="0">
                        <a:buNone/>
                      </a:pPr>
                      <a:r>
                        <a:rPr lang="en-US" sz="1100" dirty="0">
                          <a:solidFill>
                            <a:srgbClr val="17232F"/>
                          </a:solidFill>
                          <a:latin typeface="Calibri" pitchFamily="34" charset="0"/>
                          <a:ea typeface="Calibri" pitchFamily="34" charset="-122"/>
                          <a:cs typeface="Calibri" pitchFamily="34" charset="-120"/>
                        </a:rPr>
                        <a:t>yes</a:t>
                      </a:r>
                      <a:endParaRPr lang="en-US" sz="1100" dirty="0">
                        <a:latin typeface="Calibri" charset="0"/>
                        <a:ea typeface="Calibri" charset="0"/>
                        <a:cs typeface="Calibri" charset="0"/>
                      </a:endParaRPr>
                    </a:p>
                  </a:txBody>
                  <a:tcPr marL="54864" marR="54864" marT="54864" marB="54864"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c>
                  <a:txBody>
                    <a:bodyPr/>
                    <a:lstStyle/>
                    <a:p>
                      <a:pPr indent="0" marL="0">
                        <a:buNone/>
                      </a:pPr>
                      <a:r>
                        <a:rPr lang="en-US" sz="1100" dirty="0">
                          <a:solidFill>
                            <a:srgbClr val="17232F"/>
                          </a:solidFill>
                          <a:latin typeface="Calibri" pitchFamily="34" charset="0"/>
                          <a:ea typeface="Calibri" pitchFamily="34" charset="-122"/>
                          <a:cs typeface="Calibri" pitchFamily="34" charset="-120"/>
                        </a:rPr>
                        <a:t>6.48 s</a:t>
                      </a:r>
                      <a:endParaRPr lang="en-US" sz="1100" dirty="0">
                        <a:latin typeface="Calibri" charset="0"/>
                        <a:ea typeface="Calibri" charset="0"/>
                        <a:cs typeface="Calibri" charset="0"/>
                      </a:endParaRPr>
                    </a:p>
                  </a:txBody>
                  <a:tcPr marL="54864" marR="54864" marT="54864" marB="54864"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c>
                  <a:txBody>
                    <a:bodyPr/>
                    <a:lstStyle/>
                    <a:p>
                      <a:pPr indent="0" marL="0">
                        <a:buNone/>
                      </a:pPr>
                      <a:r>
                        <a:rPr lang="en-US" sz="1100" dirty="0">
                          <a:solidFill>
                            <a:srgbClr val="17232F"/>
                          </a:solidFill>
                          <a:latin typeface="Calibri" pitchFamily="34" charset="0"/>
                          <a:ea typeface="Calibri" pitchFamily="34" charset="-122"/>
                          <a:cs typeface="Calibri" pitchFamily="34" charset="-120"/>
                        </a:rPr>
                        <a:t>22.76 s</a:t>
                      </a:r>
                      <a:endParaRPr lang="en-US" sz="1100" dirty="0">
                        <a:latin typeface="Calibri" charset="0"/>
                        <a:ea typeface="Calibri" charset="0"/>
                        <a:cs typeface="Calibri" charset="0"/>
                      </a:endParaRPr>
                    </a:p>
                  </a:txBody>
                  <a:tcPr marL="54864" marR="54864" marT="54864" marB="54864"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c>
                  <a:txBody>
                    <a:bodyPr/>
                    <a:lstStyle/>
                    <a:p>
                      <a:pPr indent="0" marL="0">
                        <a:buNone/>
                      </a:pPr>
                      <a:r>
                        <a:rPr lang="en-US" sz="1100" dirty="0">
                          <a:solidFill>
                            <a:srgbClr val="C07A1B"/>
                          </a:solidFill>
                          <a:latin typeface="Calibri" pitchFamily="34" charset="0"/>
                          <a:ea typeface="Calibri" pitchFamily="34" charset="-122"/>
                          <a:cs typeface="Calibri" pitchFamily="34" charset="-120"/>
                        </a:rPr>
                        <a:t>reserve for Review 2</a:t>
                      </a:r>
                      <a:endParaRPr lang="en-US" sz="1100" dirty="0">
                        <a:latin typeface="Calibri" charset="0"/>
                        <a:ea typeface="Calibri" charset="0"/>
                        <a:cs typeface="Calibri" charset="0"/>
                      </a:endParaRPr>
                    </a:p>
                  </a:txBody>
                  <a:tcPr marL="54864" marR="54864" marT="54864" marB="54864"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r>
              <a:tr h="402336">
                <a:tc>
                  <a:txBody>
                    <a:bodyPr/>
                    <a:lstStyle/>
                    <a:p>
                      <a:pPr indent="0" marL="0">
                        <a:buNone/>
                      </a:pPr>
                      <a:r>
                        <a:rPr lang="en-US" sz="1100" dirty="0">
                          <a:solidFill>
                            <a:srgbClr val="17232F"/>
                          </a:solidFill>
                          <a:latin typeface="Calibri" pitchFamily="34" charset="0"/>
                          <a:ea typeface="Calibri" pitchFamily="34" charset="-122"/>
                          <a:cs typeface="Calibri" pitchFamily="34" charset="-120"/>
                        </a:rPr>
                        <a:t>flask</a:t>
                      </a:r>
                      <a:endParaRPr lang="en-US" sz="1100" dirty="0">
                        <a:latin typeface="Calibri" charset="0"/>
                        <a:ea typeface="Calibri" charset="0"/>
                        <a:cs typeface="Calibri" charset="0"/>
                      </a:endParaRPr>
                    </a:p>
                  </a:txBody>
                  <a:tcPr marL="54864" marR="54864" marT="54864" marB="54864"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c>
                  <a:txBody>
                    <a:bodyPr/>
                    <a:lstStyle/>
                    <a:p>
                      <a:pPr indent="0" marL="0">
                        <a:buNone/>
                      </a:pPr>
                      <a:r>
                        <a:rPr lang="en-US" sz="1100" dirty="0">
                          <a:solidFill>
                            <a:srgbClr val="17232F"/>
                          </a:solidFill>
                          <a:latin typeface="Calibri" pitchFamily="34" charset="0"/>
                          <a:ea typeface="Calibri" pitchFamily="34" charset="-122"/>
                          <a:cs typeface="Calibri" pitchFamily="34" charset="-120"/>
                        </a:rPr>
                        <a:t>494</a:t>
                      </a:r>
                      <a:endParaRPr lang="en-US" sz="1100" dirty="0">
                        <a:latin typeface="Calibri" charset="0"/>
                        <a:ea typeface="Calibri" charset="0"/>
                        <a:cs typeface="Calibri" charset="0"/>
                      </a:endParaRPr>
                    </a:p>
                  </a:txBody>
                  <a:tcPr marL="54864" marR="54864" marT="54864" marB="54864"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c>
                  <a:txBody>
                    <a:bodyPr/>
                    <a:lstStyle/>
                    <a:p>
                      <a:pPr indent="0" marL="0">
                        <a:buNone/>
                      </a:pPr>
                      <a:r>
                        <a:rPr lang="en-US" sz="1100" dirty="0">
                          <a:solidFill>
                            <a:srgbClr val="17232F"/>
                          </a:solidFill>
                          <a:latin typeface="Calibri" pitchFamily="34" charset="0"/>
                          <a:ea typeface="Calibri" pitchFamily="34" charset="-122"/>
                          <a:cs typeface="Calibri" pitchFamily="34" charset="-120"/>
                        </a:rPr>
                        <a:t>yes</a:t>
                      </a:r>
                      <a:endParaRPr lang="en-US" sz="1100" dirty="0">
                        <a:latin typeface="Calibri" charset="0"/>
                        <a:ea typeface="Calibri" charset="0"/>
                        <a:cs typeface="Calibri" charset="0"/>
                      </a:endParaRPr>
                    </a:p>
                  </a:txBody>
                  <a:tcPr marL="54864" marR="54864" marT="54864" marB="54864"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c>
                  <a:txBody>
                    <a:bodyPr/>
                    <a:lstStyle/>
                    <a:p>
                      <a:pPr indent="0" marL="0">
                        <a:buNone/>
                      </a:pPr>
                      <a:r>
                        <a:rPr lang="en-US" sz="1100" dirty="0">
                          <a:solidFill>
                            <a:srgbClr val="17232F"/>
                          </a:solidFill>
                          <a:latin typeface="Calibri" pitchFamily="34" charset="0"/>
                          <a:ea typeface="Calibri" pitchFamily="34" charset="-122"/>
                          <a:cs typeface="Calibri" pitchFamily="34" charset="-120"/>
                        </a:rPr>
                        <a:t>1.00 s</a:t>
                      </a:r>
                      <a:endParaRPr lang="en-US" sz="1100" dirty="0">
                        <a:latin typeface="Calibri" charset="0"/>
                        <a:ea typeface="Calibri" charset="0"/>
                        <a:cs typeface="Calibri" charset="0"/>
                      </a:endParaRPr>
                    </a:p>
                  </a:txBody>
                  <a:tcPr marL="54864" marR="54864" marT="54864" marB="54864"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c>
                  <a:txBody>
                    <a:bodyPr/>
                    <a:lstStyle/>
                    <a:p>
                      <a:pPr indent="0" marL="0">
                        <a:buNone/>
                      </a:pPr>
                      <a:r>
                        <a:rPr lang="en-US" sz="1100" dirty="0">
                          <a:solidFill>
                            <a:srgbClr val="17232F"/>
                          </a:solidFill>
                          <a:latin typeface="Calibri" pitchFamily="34" charset="0"/>
                          <a:ea typeface="Calibri" pitchFamily="34" charset="-122"/>
                          <a:cs typeface="Calibri" pitchFamily="34" charset="-120"/>
                        </a:rPr>
                        <a:t>0.66 s</a:t>
                      </a:r>
                      <a:endParaRPr lang="en-US" sz="1100" dirty="0">
                        <a:latin typeface="Calibri" charset="0"/>
                        <a:ea typeface="Calibri" charset="0"/>
                        <a:cs typeface="Calibri" charset="0"/>
                      </a:endParaRPr>
                    </a:p>
                  </a:txBody>
                  <a:tcPr marL="54864" marR="54864" marT="54864" marB="54864"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c>
                  <a:txBody>
                    <a:bodyPr/>
                    <a:lstStyle/>
                    <a:p>
                      <a:pPr indent="0" marL="0">
                        <a:buNone/>
                      </a:pPr>
                      <a:r>
                        <a:rPr lang="en-US" sz="1100" dirty="0">
                          <a:solidFill>
                            <a:srgbClr val="62727F"/>
                          </a:solidFill>
                          <a:latin typeface="Calibri" pitchFamily="34" charset="0"/>
                          <a:ea typeface="Calibri" pitchFamily="34" charset="-122"/>
                          <a:cs typeface="Calibri" pitchFamily="34" charset="-120"/>
                        </a:rPr>
                        <a:t>rejected — too small</a:t>
                      </a:r>
                      <a:endParaRPr lang="en-US" sz="1100" dirty="0">
                        <a:latin typeface="Calibri" charset="0"/>
                        <a:ea typeface="Calibri" charset="0"/>
                        <a:cs typeface="Calibri" charset="0"/>
                      </a:endParaRPr>
                    </a:p>
                  </a:txBody>
                  <a:tcPr marL="54864" marR="54864" marT="54864" marB="54864"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r>
            </a:tbl>
          </a:graphicData>
        </a:graphic>
      </p:graphicFrame>
      <p:sp>
        <p:nvSpPr>
          <p:cNvPr id="6" name="Text 3"/>
          <p:cNvSpPr txBox="1"/>
          <p:nvPr/>
        </p:nvSpPr>
        <p:spPr>
          <a:xfrm>
            <a:off x="640080" y="5257800"/>
            <a:ext cx="10881360" cy="640080"/>
          </a:xfrm>
          <a:prstGeom prst="rect">
            <a:avLst/>
          </a:prstGeom>
          <a:noFill/>
          <a:ln/>
        </p:spPr>
        <p:txBody>
          <a:bodyPr wrap="square" lIns="0" tIns="0" rIns="0" bIns="0" rtlCol="0" anchor="ctr"/>
          <a:lstStyle/>
          <a:p>
            <a:pPr indent="0" marL="0">
              <a:buNone/>
            </a:pPr>
            <a:r>
              <a:rPr lang="en-US" sz="1300" i="1" dirty="0">
                <a:solidFill>
                  <a:srgbClr val="17232F"/>
                </a:solidFill>
                <a:latin typeface="Calibri" pitchFamily="34" charset="0"/>
                <a:ea typeface="Calibri" pitchFamily="34" charset="-122"/>
                <a:cs typeface="Calibri" pitchFamily="34" charset="-120"/>
              </a:rPr>
              <a:t>scrapy is the only candidate whose runtime makes absolute savings meaningful; attrs is fast enough to run hundreds of mutants during development. Chosen for complementary reasons, not similar ones.</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640080" y="384048"/>
            <a:ext cx="10881360" cy="256032"/>
          </a:xfrm>
          <a:prstGeom prst="rect">
            <a:avLst/>
          </a:prstGeom>
          <a:noFill/>
          <a:ln/>
        </p:spPr>
        <p:txBody>
          <a:bodyPr wrap="square" lIns="0" tIns="0" rIns="0" bIns="0" rtlCol="0" anchor="ctr"/>
          <a:lstStyle/>
          <a:p>
            <a:pPr indent="0" marL="0">
              <a:buNone/>
            </a:pPr>
            <a:r>
              <a:rPr lang="en-US" sz="1100" b="1" spc="200" kern="0" dirty="0">
                <a:solidFill>
                  <a:srgbClr val="62727F"/>
                </a:solidFill>
                <a:latin typeface="Calibri" pitchFamily="34" charset="0"/>
                <a:ea typeface="Calibri" pitchFamily="34" charset="-122"/>
                <a:cs typeface="Calibri" pitchFamily="34" charset="-120"/>
              </a:rPr>
              <a:t>EVIDENCE OVER ASSUMPTION</a:t>
            </a:r>
            <a:endParaRPr lang="en-US" sz="1100" dirty="0"/>
          </a:p>
        </p:txBody>
      </p:sp>
      <p:sp>
        <p:nvSpPr>
          <p:cNvPr id="3" name="Text 1"/>
          <p:cNvSpPr txBox="1"/>
          <p:nvPr/>
        </p:nvSpPr>
        <p:spPr>
          <a:xfrm>
            <a:off x="640080" y="658368"/>
            <a:ext cx="10881360" cy="777240"/>
          </a:xfrm>
          <a:prstGeom prst="rect">
            <a:avLst/>
          </a:prstGeom>
          <a:noFill/>
          <a:ln/>
        </p:spPr>
        <p:txBody>
          <a:bodyPr wrap="square" lIns="0" tIns="0" rIns="0" bIns="0" rtlCol="0" anchor="ctr"/>
          <a:lstStyle/>
          <a:p>
            <a:pPr indent="0" marL="0">
              <a:buNone/>
            </a:pPr>
            <a:r>
              <a:rPr lang="en-US" sz="3400" b="1" dirty="0">
                <a:solidFill>
                  <a:srgbClr val="17232F"/>
                </a:solidFill>
                <a:latin typeface="Cambria" pitchFamily="34" charset="0"/>
                <a:ea typeface="Cambria" pitchFamily="34" charset="-122"/>
                <a:cs typeface="Cambria" pitchFamily="34" charset="-120"/>
              </a:rPr>
              <a:t>Two things the measurements contradicted</a:t>
            </a:r>
            <a:endParaRPr lang="en-US" sz="3400" dirty="0"/>
          </a:p>
        </p:txBody>
      </p:sp>
      <p:sp>
        <p:nvSpPr>
          <p:cNvPr id="4" name="Shape 2"/>
          <p:cNvSpPr/>
          <p:nvPr/>
        </p:nvSpPr>
        <p:spPr>
          <a:xfrm>
            <a:off x="640080" y="1645920"/>
            <a:ext cx="5120640" cy="4069080"/>
          </a:xfrm>
          <a:prstGeom prst="roundRect">
            <a:avLst>
              <a:gd name="adj" fmla="val 1798"/>
            </a:avLst>
          </a:prstGeom>
          <a:solidFill>
            <a:srgbClr val="F3F5F7"/>
          </a:solidFill>
          <a:ln w="12700">
            <a:solidFill>
              <a:srgbClr val="333333"/>
            </a:solidFill>
            <a:prstDash val="solid"/>
          </a:ln>
        </p:spPr>
      </p:sp>
      <p:sp>
        <p:nvSpPr>
          <p:cNvPr id="5" name="Text 3"/>
          <p:cNvSpPr txBox="1"/>
          <p:nvPr/>
        </p:nvSpPr>
        <p:spPr>
          <a:xfrm>
            <a:off x="960120" y="1847088"/>
            <a:ext cx="1828800" cy="256032"/>
          </a:xfrm>
          <a:prstGeom prst="rect">
            <a:avLst/>
          </a:prstGeom>
          <a:noFill/>
          <a:ln/>
        </p:spPr>
        <p:txBody>
          <a:bodyPr wrap="square" lIns="0" tIns="0" rIns="0" bIns="0" rtlCol="0" anchor="ctr"/>
          <a:lstStyle/>
          <a:p>
            <a:pPr indent="0" marL="0">
              <a:buNone/>
            </a:pPr>
            <a:r>
              <a:rPr lang="en-US" sz="1100" b="1" dirty="0">
                <a:solidFill>
                  <a:srgbClr val="C07A1B"/>
                </a:solidFill>
                <a:latin typeface="Courier New" pitchFamily="34" charset="0"/>
                <a:ea typeface="Courier New" pitchFamily="34" charset="-122"/>
                <a:cs typeface="Courier New" pitchFamily="34" charset="-120"/>
              </a:rPr>
              <a:t>D-0005</a:t>
            </a:r>
            <a:endParaRPr lang="en-US" sz="1100" dirty="0"/>
          </a:p>
        </p:txBody>
      </p:sp>
      <p:sp>
        <p:nvSpPr>
          <p:cNvPr id="6" name="Text 4"/>
          <p:cNvSpPr txBox="1"/>
          <p:nvPr/>
        </p:nvSpPr>
        <p:spPr>
          <a:xfrm>
            <a:off x="960120" y="2121408"/>
            <a:ext cx="4526280" cy="685800"/>
          </a:xfrm>
          <a:prstGeom prst="rect">
            <a:avLst/>
          </a:prstGeom>
          <a:noFill/>
          <a:ln/>
        </p:spPr>
        <p:txBody>
          <a:bodyPr wrap="square" lIns="0" tIns="0" rIns="0" bIns="0" rtlCol="0" anchor="ctr"/>
          <a:lstStyle/>
          <a:p>
            <a:pPr indent="0" marL="0">
              <a:buNone/>
            </a:pPr>
            <a:r>
              <a:rPr lang="en-US" sz="1600" b="1" dirty="0">
                <a:solidFill>
                  <a:srgbClr val="17232F"/>
                </a:solidFill>
                <a:latin typeface="Cambria" pitchFamily="34" charset="0"/>
                <a:ea typeface="Cambria" pitchFamily="34" charset="-122"/>
                <a:cs typeface="Cambria" pitchFamily="34" charset="-120"/>
              </a:rPr>
              <a:t>“-n auto” is not automatically the optimised baseline</a:t>
            </a:r>
            <a:endParaRPr lang="en-US" sz="1600" dirty="0"/>
          </a:p>
        </p:txBody>
      </p:sp>
      <p:sp>
        <p:nvSpPr>
          <p:cNvPr id="7" name="Text 5"/>
          <p:cNvSpPr txBox="1"/>
          <p:nvPr/>
        </p:nvSpPr>
        <p:spPr>
          <a:xfrm>
            <a:off x="960120" y="2852928"/>
            <a:ext cx="4526280" cy="1371600"/>
          </a:xfrm>
          <a:prstGeom prst="rect">
            <a:avLst/>
          </a:prstGeom>
          <a:noFill/>
          <a:ln/>
        </p:spPr>
        <p:txBody>
          <a:bodyPr wrap="square" lIns="0" tIns="0" rIns="0" bIns="0" rtlCol="0" anchor="ctr"/>
          <a:lstStyle/>
          <a:p>
            <a:pPr indent="0" marL="0">
              <a:lnSpc>
                <a:spcPts val="1900"/>
              </a:lnSpc>
              <a:buNone/>
            </a:pPr>
            <a:r>
              <a:rPr lang="en-US" sz="1250" dirty="0">
                <a:solidFill>
                  <a:srgbClr val="17232F"/>
                </a:solidFill>
                <a:latin typeface="Calibri" pitchFamily="34" charset="0"/>
                <a:ea typeface="Calibri" pitchFamily="34" charset="-122"/>
                <a:cs typeface="Calibri" pitchFamily="34" charset="-120"/>
              </a:rPr>
              <a:t>The specification requires a parallel baseline so we cannot beat a handicapped one. On flask, parallel is 1.5× SLOWER than serial — ten worker processes cost more to start than the work they remove.</a:t>
            </a:r>
            <a:endParaRPr lang="en-US" sz="1250" dirty="0"/>
          </a:p>
        </p:txBody>
      </p:sp>
      <p:sp>
        <p:nvSpPr>
          <p:cNvPr id="8" name="Text 6"/>
          <p:cNvSpPr txBox="1"/>
          <p:nvPr/>
        </p:nvSpPr>
        <p:spPr>
          <a:xfrm>
            <a:off x="960120" y="4315968"/>
            <a:ext cx="4526280" cy="365760"/>
          </a:xfrm>
          <a:prstGeom prst="rect">
            <a:avLst/>
          </a:prstGeom>
          <a:noFill/>
          <a:ln/>
        </p:spPr>
        <p:txBody>
          <a:bodyPr wrap="square" lIns="0" tIns="0" rIns="0" bIns="0" rtlCol="0" anchor="ctr"/>
          <a:lstStyle/>
          <a:p>
            <a:pPr indent="0" marL="0">
              <a:buNone/>
            </a:pPr>
            <a:r>
              <a:rPr lang="en-US" sz="1500" b="1" dirty="0">
                <a:solidFill>
                  <a:srgbClr val="D1453B"/>
                </a:solidFill>
                <a:latin typeface="Courier New" pitchFamily="34" charset="0"/>
                <a:ea typeface="Courier New" pitchFamily="34" charset="-122"/>
                <a:cs typeface="Courier New" pitchFamily="34" charset="-120"/>
              </a:rPr>
              <a:t>1.00 s  vs  0.66 s</a:t>
            </a:r>
            <a:endParaRPr lang="en-US" sz="1500" dirty="0"/>
          </a:p>
        </p:txBody>
      </p:sp>
      <p:sp>
        <p:nvSpPr>
          <p:cNvPr id="9" name="Text 7"/>
          <p:cNvSpPr txBox="1"/>
          <p:nvPr/>
        </p:nvSpPr>
        <p:spPr>
          <a:xfrm>
            <a:off x="960120" y="4663440"/>
            <a:ext cx="4526280" cy="256032"/>
          </a:xfrm>
          <a:prstGeom prst="rect">
            <a:avLst/>
          </a:prstGeom>
          <a:noFill/>
          <a:ln/>
        </p:spPr>
        <p:txBody>
          <a:bodyPr wrap="square" lIns="0" tIns="0" rIns="0" bIns="0" rtlCol="0" anchor="ctr"/>
          <a:lstStyle/>
          <a:p>
            <a:pPr indent="0" marL="0">
              <a:buNone/>
            </a:pPr>
            <a:r>
              <a:rPr lang="en-US" sz="1000" dirty="0">
                <a:solidFill>
                  <a:srgbClr val="62727F"/>
                </a:solidFill>
                <a:latin typeface="Calibri" pitchFamily="34" charset="0"/>
                <a:ea typeface="Calibri" pitchFamily="34" charset="-122"/>
                <a:cs typeface="Calibri" pitchFamily="34" charset="-120"/>
              </a:rPr>
              <a:t>flask: -n auto vs serial</a:t>
            </a:r>
            <a:endParaRPr lang="en-US" sz="1000" dirty="0"/>
          </a:p>
        </p:txBody>
      </p:sp>
      <p:sp>
        <p:nvSpPr>
          <p:cNvPr id="10" name="Text 8"/>
          <p:cNvSpPr txBox="1"/>
          <p:nvPr/>
        </p:nvSpPr>
        <p:spPr>
          <a:xfrm>
            <a:off x="960120" y="4983480"/>
            <a:ext cx="4526280" cy="594360"/>
          </a:xfrm>
          <a:prstGeom prst="rect">
            <a:avLst/>
          </a:prstGeom>
          <a:noFill/>
          <a:ln/>
        </p:spPr>
        <p:txBody>
          <a:bodyPr wrap="square" lIns="0" tIns="0" rIns="0" bIns="0" rtlCol="0" anchor="ctr"/>
          <a:lstStyle/>
          <a:p>
            <a:pPr indent="0" marL="0">
              <a:buNone/>
            </a:pPr>
            <a:r>
              <a:rPr lang="en-US" sz="1150" i="1" dirty="0">
                <a:solidFill>
                  <a:srgbClr val="2E7D62"/>
                </a:solidFill>
                <a:latin typeface="Calibri" pitchFamily="34" charset="0"/>
                <a:ea typeface="Calibri" pitchFamily="34" charset="-122"/>
                <a:cs typeface="Calibri" pitchFamily="34" charset="-120"/>
              </a:rPr>
              <a:t>Baseline is now the faster of the two modes per repo, and the report names which.</a:t>
            </a:r>
            <a:endParaRPr lang="en-US" sz="1150" dirty="0"/>
          </a:p>
        </p:txBody>
      </p:sp>
      <p:sp>
        <p:nvSpPr>
          <p:cNvPr id="11" name="Shape 9"/>
          <p:cNvSpPr/>
          <p:nvPr/>
        </p:nvSpPr>
        <p:spPr>
          <a:xfrm>
            <a:off x="6400800" y="1645920"/>
            <a:ext cx="5120640" cy="4069080"/>
          </a:xfrm>
          <a:prstGeom prst="roundRect">
            <a:avLst>
              <a:gd name="adj" fmla="val 1798"/>
            </a:avLst>
          </a:prstGeom>
          <a:solidFill>
            <a:srgbClr val="F3F5F7"/>
          </a:solidFill>
          <a:ln w="12700">
            <a:solidFill>
              <a:srgbClr val="333333"/>
            </a:solidFill>
            <a:prstDash val="solid"/>
          </a:ln>
        </p:spPr>
      </p:sp>
      <p:sp>
        <p:nvSpPr>
          <p:cNvPr id="12" name="Text 10"/>
          <p:cNvSpPr txBox="1"/>
          <p:nvPr/>
        </p:nvSpPr>
        <p:spPr>
          <a:xfrm>
            <a:off x="6720840" y="1847088"/>
            <a:ext cx="1828800" cy="256032"/>
          </a:xfrm>
          <a:prstGeom prst="rect">
            <a:avLst/>
          </a:prstGeom>
          <a:noFill/>
          <a:ln/>
        </p:spPr>
        <p:txBody>
          <a:bodyPr wrap="square" lIns="0" tIns="0" rIns="0" bIns="0" rtlCol="0" anchor="ctr"/>
          <a:lstStyle/>
          <a:p>
            <a:pPr indent="0" marL="0">
              <a:buNone/>
            </a:pPr>
            <a:r>
              <a:rPr lang="en-US" sz="1100" b="1" dirty="0">
                <a:solidFill>
                  <a:srgbClr val="C07A1B"/>
                </a:solidFill>
                <a:latin typeface="Courier New" pitchFamily="34" charset="0"/>
                <a:ea typeface="Courier New" pitchFamily="34" charset="-122"/>
                <a:cs typeface="Courier New" pitchFamily="34" charset="-120"/>
              </a:rPr>
              <a:t>D-0006</a:t>
            </a:r>
            <a:endParaRPr lang="en-US" sz="1100" dirty="0"/>
          </a:p>
        </p:txBody>
      </p:sp>
      <p:sp>
        <p:nvSpPr>
          <p:cNvPr id="13" name="Text 11"/>
          <p:cNvSpPr txBox="1"/>
          <p:nvPr/>
        </p:nvSpPr>
        <p:spPr>
          <a:xfrm>
            <a:off x="6720840" y="2121408"/>
            <a:ext cx="4526280" cy="685800"/>
          </a:xfrm>
          <a:prstGeom prst="rect">
            <a:avLst/>
          </a:prstGeom>
          <a:noFill/>
          <a:ln/>
        </p:spPr>
        <p:txBody>
          <a:bodyPr wrap="square" lIns="0" tIns="0" rIns="0" bIns="0" rtlCol="0" anchor="ctr"/>
          <a:lstStyle/>
          <a:p>
            <a:pPr indent="0" marL="0">
              <a:buNone/>
            </a:pPr>
            <a:r>
              <a:rPr lang="en-US" sz="1600" b="1" dirty="0">
                <a:solidFill>
                  <a:srgbClr val="17232F"/>
                </a:solidFill>
                <a:latin typeface="Cambria" pitchFamily="34" charset="0"/>
                <a:ea typeface="Cambria" pitchFamily="34" charset="-122"/>
                <a:cs typeface="Cambria" pitchFamily="34" charset="-120"/>
              </a:rPr>
              <a:t>Test count is a poor proxy for suite substance</a:t>
            </a:r>
            <a:endParaRPr lang="en-US" sz="1600" dirty="0"/>
          </a:p>
        </p:txBody>
      </p:sp>
      <p:sp>
        <p:nvSpPr>
          <p:cNvPr id="14" name="Text 12"/>
          <p:cNvSpPr txBox="1"/>
          <p:nvPr/>
        </p:nvSpPr>
        <p:spPr>
          <a:xfrm>
            <a:off x="6720840" y="2852928"/>
            <a:ext cx="4526280" cy="1371600"/>
          </a:xfrm>
          <a:prstGeom prst="rect">
            <a:avLst/>
          </a:prstGeom>
          <a:noFill/>
          <a:ln/>
        </p:spPr>
        <p:txBody>
          <a:bodyPr wrap="square" lIns="0" tIns="0" rIns="0" bIns="0" rtlCol="0" anchor="ctr"/>
          <a:lstStyle/>
          <a:p>
            <a:pPr indent="0" marL="0">
              <a:lnSpc>
                <a:spcPts val="1900"/>
              </a:lnSpc>
              <a:buNone/>
            </a:pPr>
            <a:r>
              <a:rPr lang="en-US" sz="1250" dirty="0">
                <a:solidFill>
                  <a:srgbClr val="17232F"/>
                </a:solidFill>
                <a:latin typeface="Calibri" pitchFamily="34" charset="0"/>
                <a:ea typeface="Calibri" pitchFamily="34" charset="-122"/>
                <a:cs typeface="Calibri" pitchFamily="34" charset="-120"/>
              </a:rPr>
              <a:t>The corpus criterion was “1,000+ tests”. But black has 558 tests and a 22.8 s suite; attrs has 1,412 tests and a 3.9 s one. By test count black is disqualified; by the thing tia actually shortens it is six times the target.</a:t>
            </a:r>
            <a:endParaRPr lang="en-US" sz="1250" dirty="0"/>
          </a:p>
        </p:txBody>
      </p:sp>
      <p:sp>
        <p:nvSpPr>
          <p:cNvPr id="15" name="Text 13"/>
          <p:cNvSpPr txBox="1"/>
          <p:nvPr/>
        </p:nvSpPr>
        <p:spPr>
          <a:xfrm>
            <a:off x="6720840" y="4315968"/>
            <a:ext cx="4526280" cy="365760"/>
          </a:xfrm>
          <a:prstGeom prst="rect">
            <a:avLst/>
          </a:prstGeom>
          <a:noFill/>
          <a:ln/>
        </p:spPr>
        <p:txBody>
          <a:bodyPr wrap="square" lIns="0" tIns="0" rIns="0" bIns="0" rtlCol="0" anchor="ctr"/>
          <a:lstStyle/>
          <a:p>
            <a:pPr indent="0" marL="0">
              <a:buNone/>
            </a:pPr>
            <a:r>
              <a:rPr lang="en-US" sz="1500" b="1" dirty="0">
                <a:solidFill>
                  <a:srgbClr val="D1453B"/>
                </a:solidFill>
                <a:latin typeface="Courier New" pitchFamily="34" charset="0"/>
                <a:ea typeface="Courier New" pitchFamily="34" charset="-122"/>
                <a:cs typeface="Courier New" pitchFamily="34" charset="-120"/>
              </a:rPr>
              <a:t>558 → 22.8 s   ·   1,412 → 3.9 s</a:t>
            </a:r>
            <a:endParaRPr lang="en-US" sz="1500" dirty="0"/>
          </a:p>
        </p:txBody>
      </p:sp>
      <p:sp>
        <p:nvSpPr>
          <p:cNvPr id="16" name="Text 14"/>
          <p:cNvSpPr txBox="1"/>
          <p:nvPr/>
        </p:nvSpPr>
        <p:spPr>
          <a:xfrm>
            <a:off x="6720840" y="4663440"/>
            <a:ext cx="4526280" cy="256032"/>
          </a:xfrm>
          <a:prstGeom prst="rect">
            <a:avLst/>
          </a:prstGeom>
          <a:noFill/>
          <a:ln/>
        </p:spPr>
        <p:txBody>
          <a:bodyPr wrap="square" lIns="0" tIns="0" rIns="0" bIns="0" rtlCol="0" anchor="ctr"/>
          <a:lstStyle/>
          <a:p>
            <a:pPr indent="0" marL="0">
              <a:buNone/>
            </a:pPr>
            <a:r>
              <a:rPr lang="en-US" sz="1000" dirty="0">
                <a:solidFill>
                  <a:srgbClr val="62727F"/>
                </a:solidFill>
                <a:latin typeface="Calibri" pitchFamily="34" charset="0"/>
                <a:ea typeface="Calibri" pitchFamily="34" charset="-122"/>
                <a:cs typeface="Calibri" pitchFamily="34" charset="-120"/>
              </a:rPr>
              <a:t>black vs attrs</a:t>
            </a:r>
            <a:endParaRPr lang="en-US" sz="1000" dirty="0"/>
          </a:p>
        </p:txBody>
      </p:sp>
      <p:sp>
        <p:nvSpPr>
          <p:cNvPr id="17" name="Text 15"/>
          <p:cNvSpPr txBox="1"/>
          <p:nvPr/>
        </p:nvSpPr>
        <p:spPr>
          <a:xfrm>
            <a:off x="6720840" y="4983480"/>
            <a:ext cx="4526280" cy="594360"/>
          </a:xfrm>
          <a:prstGeom prst="rect">
            <a:avLst/>
          </a:prstGeom>
          <a:noFill/>
          <a:ln/>
        </p:spPr>
        <p:txBody>
          <a:bodyPr wrap="square" lIns="0" tIns="0" rIns="0" bIns="0" rtlCol="0" anchor="ctr"/>
          <a:lstStyle/>
          <a:p>
            <a:pPr indent="0" marL="0">
              <a:buNone/>
            </a:pPr>
            <a:r>
              <a:rPr lang="en-US" sz="1150" i="1" dirty="0">
                <a:solidFill>
                  <a:srgbClr val="2E7D62"/>
                </a:solidFill>
                <a:latin typeface="Calibri" pitchFamily="34" charset="0"/>
                <a:ea typeface="Calibri" pitchFamily="34" charset="-122"/>
                <a:cs typeface="Calibri" pitchFamily="34" charset="-120"/>
              </a:rPr>
              <a:t>Both criteria kept; each repo is described by which one it satisfies.</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640080" y="384048"/>
            <a:ext cx="10881360" cy="256032"/>
          </a:xfrm>
          <a:prstGeom prst="rect">
            <a:avLst/>
          </a:prstGeom>
          <a:noFill/>
          <a:ln/>
        </p:spPr>
        <p:txBody>
          <a:bodyPr wrap="square" lIns="0" tIns="0" rIns="0" bIns="0" rtlCol="0" anchor="ctr"/>
          <a:lstStyle/>
          <a:p>
            <a:pPr indent="0" marL="0">
              <a:buNone/>
            </a:pPr>
            <a:r>
              <a:rPr lang="en-US" sz="1100" b="1" spc="200" kern="0" dirty="0">
                <a:solidFill>
                  <a:srgbClr val="62727F"/>
                </a:solidFill>
                <a:latin typeface="Calibri" pitchFamily="34" charset="0"/>
                <a:ea typeface="Calibri" pitchFamily="34" charset="-122"/>
                <a:cs typeface="Calibri" pitchFamily="34" charset="-120"/>
              </a:rPr>
              <a:t>STORAGE</a:t>
            </a:r>
            <a:endParaRPr lang="en-US" sz="1100" dirty="0"/>
          </a:p>
        </p:txBody>
      </p:sp>
      <p:sp>
        <p:nvSpPr>
          <p:cNvPr id="3" name="Text 1"/>
          <p:cNvSpPr txBox="1"/>
          <p:nvPr/>
        </p:nvSpPr>
        <p:spPr>
          <a:xfrm>
            <a:off x="640080" y="658368"/>
            <a:ext cx="10881360" cy="777240"/>
          </a:xfrm>
          <a:prstGeom prst="rect">
            <a:avLst/>
          </a:prstGeom>
          <a:noFill/>
          <a:ln/>
        </p:spPr>
        <p:txBody>
          <a:bodyPr wrap="square" lIns="0" tIns="0" rIns="0" bIns="0" rtlCol="0" anchor="ctr"/>
          <a:lstStyle/>
          <a:p>
            <a:pPr indent="0" marL="0">
              <a:buNone/>
            </a:pPr>
            <a:r>
              <a:rPr lang="en-US" sz="3400" b="1" dirty="0">
                <a:solidFill>
                  <a:srgbClr val="17232F"/>
                </a:solidFill>
                <a:latin typeface="Cambria" pitchFamily="34" charset="0"/>
                <a:ea typeface="Cambria" pitchFamily="34" charset="-122"/>
                <a:cs typeface="Cambria" pitchFamily="34" charset="-120"/>
              </a:rPr>
              <a:t>The map, and the scale question answered</a:t>
            </a:r>
            <a:endParaRPr lang="en-US" sz="34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40080" y="1691640"/>
          <a:ext cx="6766560" cy="914400"/>
        </p:xfrm>
        <a:graphic>
          <a:graphicData uri="http://schemas.openxmlformats.org/drawingml/2006/table">
            <a:tbl>
              <a:tblPr/>
              <a:tblGrid>
                <a:gridCol w="2743200"/>
                <a:gridCol w="2011680"/>
                <a:gridCol w="2011680"/>
              </a:tblGrid>
              <a:tr h="384048">
                <a:tc>
                  <a:txBody>
                    <a:bodyPr/>
                    <a:lstStyle/>
                    <a:p>
                      <a:pPr indent="0" marL="0">
                        <a:buNone/>
                      </a:pPr>
                      <a:endParaRPr lang="en-US" sz="1100" dirty="0">
                        <a:latin typeface="Calibri" charset="0"/>
                        <a:ea typeface="Calibri" charset="0"/>
                        <a:cs typeface="Calibri" charset="0"/>
                      </a:endParaRPr>
                    </a:p>
                  </a:txBody>
                  <a:tcPr marL="54864" marR="54864" marT="54864" marB="54864"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solidFill>
                      <a:srgbClr val="17232F"/>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attrs</a:t>
                      </a:r>
                      <a:endParaRPr lang="en-US" sz="1100" dirty="0">
                        <a:latin typeface="Calibri" charset="0"/>
                        <a:ea typeface="Calibri" charset="0"/>
                        <a:cs typeface="Calibri" charset="0"/>
                      </a:endParaRPr>
                    </a:p>
                  </a:txBody>
                  <a:tcPr marL="54864" marR="54864" marT="54864" marB="54864"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solidFill>
                      <a:srgbClr val="17232F"/>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scrapy</a:t>
                      </a:r>
                      <a:endParaRPr lang="en-US" sz="1100" dirty="0">
                        <a:latin typeface="Calibri" charset="0"/>
                        <a:ea typeface="Calibri" charset="0"/>
                        <a:cs typeface="Calibri" charset="0"/>
                      </a:endParaRPr>
                    </a:p>
                  </a:txBody>
                  <a:tcPr marL="54864" marR="54864" marT="54864" marB="54864"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solidFill>
                      <a:srgbClr val="17232F"/>
                    </a:solidFill>
                  </a:tcPr>
                </a:tc>
              </a:tr>
              <a:tr h="384048">
                <a:tc>
                  <a:txBody>
                    <a:bodyPr/>
                    <a:lstStyle/>
                    <a:p>
                      <a:pPr indent="0" marL="0">
                        <a:buNone/>
                      </a:pPr>
                      <a:r>
                        <a:rPr lang="en-US" sz="1100" dirty="0">
                          <a:solidFill>
                            <a:srgbClr val="17232F"/>
                          </a:solidFill>
                          <a:latin typeface="Calibri" pitchFamily="34" charset="0"/>
                          <a:ea typeface="Calibri" pitchFamily="34" charset="-122"/>
                          <a:cs typeface="Calibri" pitchFamily="34" charset="-120"/>
                        </a:rPr>
                        <a:t>Tests mapped</a:t>
                      </a:r>
                      <a:endParaRPr lang="en-US" sz="1100" dirty="0">
                        <a:latin typeface="Calibri" charset="0"/>
                        <a:ea typeface="Calibri" charset="0"/>
                        <a:cs typeface="Calibri" charset="0"/>
                      </a:endParaRPr>
                    </a:p>
                  </a:txBody>
                  <a:tcPr marL="54864" marR="54864" marT="54864" marB="54864"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c>
                  <a:txBody>
                    <a:bodyPr/>
                    <a:lstStyle/>
                    <a:p>
                      <a:pPr indent="0" marL="0">
                        <a:buNone/>
                      </a:pPr>
                      <a:r>
                        <a:rPr lang="en-US" sz="1100" dirty="0">
                          <a:solidFill>
                            <a:srgbClr val="17232F"/>
                          </a:solidFill>
                          <a:latin typeface="Calibri" pitchFamily="34" charset="0"/>
                          <a:ea typeface="Calibri" pitchFamily="34" charset="-122"/>
                          <a:cs typeface="Calibri" pitchFamily="34" charset="-120"/>
                        </a:rPr>
                        <a:t>1,334</a:t>
                      </a:r>
                      <a:endParaRPr lang="en-US" sz="1100" dirty="0">
                        <a:latin typeface="Calibri" charset="0"/>
                        <a:ea typeface="Calibri" charset="0"/>
                        <a:cs typeface="Calibri" charset="0"/>
                      </a:endParaRPr>
                    </a:p>
                  </a:txBody>
                  <a:tcPr marL="54864" marR="54864" marT="54864" marB="54864"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c>
                  <a:txBody>
                    <a:bodyPr/>
                    <a:lstStyle/>
                    <a:p>
                      <a:pPr indent="0" marL="0">
                        <a:buNone/>
                      </a:pPr>
                      <a:r>
                        <a:rPr lang="en-US" sz="1100" dirty="0">
                          <a:solidFill>
                            <a:srgbClr val="17232F"/>
                          </a:solidFill>
                          <a:latin typeface="Calibri" pitchFamily="34" charset="0"/>
                          <a:ea typeface="Calibri" pitchFamily="34" charset="-122"/>
                          <a:cs typeface="Calibri" pitchFamily="34" charset="-120"/>
                        </a:rPr>
                        <a:t>4,371</a:t>
                      </a:r>
                      <a:endParaRPr lang="en-US" sz="1100" dirty="0">
                        <a:latin typeface="Calibri" charset="0"/>
                        <a:ea typeface="Calibri" charset="0"/>
                        <a:cs typeface="Calibri" charset="0"/>
                      </a:endParaRPr>
                    </a:p>
                  </a:txBody>
                  <a:tcPr marL="54864" marR="54864" marT="54864" marB="54864"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r>
              <a:tr h="384048">
                <a:tc>
                  <a:txBody>
                    <a:bodyPr/>
                    <a:lstStyle/>
                    <a:p>
                      <a:pPr indent="0" marL="0">
                        <a:buNone/>
                      </a:pPr>
                      <a:r>
                        <a:rPr lang="en-US" sz="1100" dirty="0">
                          <a:solidFill>
                            <a:srgbClr val="17232F"/>
                          </a:solidFill>
                          <a:latin typeface="Calibri" pitchFamily="34" charset="0"/>
                          <a:ea typeface="Calibri" pitchFamily="34" charset="-122"/>
                          <a:cs typeface="Calibri" pitchFamily="34" charset="-120"/>
                        </a:rPr>
                        <a:t>Source files</a:t>
                      </a:r>
                      <a:endParaRPr lang="en-US" sz="1100" dirty="0">
                        <a:latin typeface="Calibri" charset="0"/>
                        <a:ea typeface="Calibri" charset="0"/>
                        <a:cs typeface="Calibri" charset="0"/>
                      </a:endParaRPr>
                    </a:p>
                  </a:txBody>
                  <a:tcPr marL="54864" marR="54864" marT="54864" marB="54864"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c>
                  <a:txBody>
                    <a:bodyPr/>
                    <a:lstStyle/>
                    <a:p>
                      <a:pPr indent="0" marL="0">
                        <a:buNone/>
                      </a:pPr>
                      <a:r>
                        <a:rPr lang="en-US" sz="1100" dirty="0">
                          <a:solidFill>
                            <a:srgbClr val="17232F"/>
                          </a:solidFill>
                          <a:latin typeface="Calibri" pitchFamily="34" charset="0"/>
                          <a:ea typeface="Calibri" pitchFamily="34" charset="-122"/>
                          <a:cs typeface="Calibri" pitchFamily="34" charset="-120"/>
                        </a:rPr>
                        <a:t>42</a:t>
                      </a:r>
                      <a:endParaRPr lang="en-US" sz="1100" dirty="0">
                        <a:latin typeface="Calibri" charset="0"/>
                        <a:ea typeface="Calibri" charset="0"/>
                        <a:cs typeface="Calibri" charset="0"/>
                      </a:endParaRPr>
                    </a:p>
                  </a:txBody>
                  <a:tcPr marL="54864" marR="54864" marT="54864" marB="54864"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c>
                  <a:txBody>
                    <a:bodyPr/>
                    <a:lstStyle/>
                    <a:p>
                      <a:pPr indent="0" marL="0">
                        <a:buNone/>
                      </a:pPr>
                      <a:r>
                        <a:rPr lang="en-US" sz="1100" dirty="0">
                          <a:solidFill>
                            <a:srgbClr val="17232F"/>
                          </a:solidFill>
                          <a:latin typeface="Calibri" pitchFamily="34" charset="0"/>
                          <a:ea typeface="Calibri" pitchFamily="34" charset="-122"/>
                          <a:cs typeface="Calibri" pitchFamily="34" charset="-120"/>
                        </a:rPr>
                        <a:t>328</a:t>
                      </a:r>
                      <a:endParaRPr lang="en-US" sz="1100" dirty="0">
                        <a:latin typeface="Calibri" charset="0"/>
                        <a:ea typeface="Calibri" charset="0"/>
                        <a:cs typeface="Calibri" charset="0"/>
                      </a:endParaRPr>
                    </a:p>
                  </a:txBody>
                  <a:tcPr marL="54864" marR="54864" marT="54864" marB="54864"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r>
              <a:tr h="384048">
                <a:tc>
                  <a:txBody>
                    <a:bodyPr/>
                    <a:lstStyle/>
                    <a:p>
                      <a:pPr indent="0" marL="0">
                        <a:buNone/>
                      </a:pPr>
                      <a:r>
                        <a:rPr lang="en-US" sz="1100" dirty="0">
                          <a:solidFill>
                            <a:srgbClr val="17232F"/>
                          </a:solidFill>
                          <a:latin typeface="Calibri" pitchFamily="34" charset="0"/>
                          <a:ea typeface="Calibri" pitchFamily="34" charset="-122"/>
                          <a:cs typeface="Calibri" pitchFamily="34" charset="-120"/>
                        </a:rPr>
                        <a:t>line → test rows</a:t>
                      </a:r>
                      <a:endParaRPr lang="en-US" sz="1100" dirty="0">
                        <a:latin typeface="Calibri" charset="0"/>
                        <a:ea typeface="Calibri" charset="0"/>
                        <a:cs typeface="Calibri" charset="0"/>
                      </a:endParaRPr>
                    </a:p>
                  </a:txBody>
                  <a:tcPr marL="54864" marR="54864" marT="54864" marB="54864"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c>
                  <a:txBody>
                    <a:bodyPr/>
                    <a:lstStyle/>
                    <a:p>
                      <a:pPr indent="0" marL="0">
                        <a:buNone/>
                      </a:pPr>
                      <a:r>
                        <a:rPr lang="en-US" sz="1100" dirty="0">
                          <a:solidFill>
                            <a:srgbClr val="17232F"/>
                          </a:solidFill>
                          <a:latin typeface="Calibri" pitchFamily="34" charset="0"/>
                          <a:ea typeface="Calibri" pitchFamily="34" charset="-122"/>
                          <a:cs typeface="Calibri" pitchFamily="34" charset="-120"/>
                        </a:rPr>
                        <a:t>508,939</a:t>
                      </a:r>
                      <a:endParaRPr lang="en-US" sz="1100" dirty="0">
                        <a:latin typeface="Calibri" charset="0"/>
                        <a:ea typeface="Calibri" charset="0"/>
                        <a:cs typeface="Calibri" charset="0"/>
                      </a:endParaRPr>
                    </a:p>
                  </a:txBody>
                  <a:tcPr marL="54864" marR="54864" marT="54864" marB="54864"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1,723,636</a:t>
                      </a:r>
                      <a:endParaRPr lang="en-US" sz="1100" dirty="0">
                        <a:latin typeface="Calibri" charset="0"/>
                        <a:ea typeface="Calibri" charset="0"/>
                        <a:cs typeface="Calibri" charset="0"/>
                      </a:endParaRPr>
                    </a:p>
                  </a:txBody>
                  <a:tcPr marL="54864" marR="54864" marT="54864" marB="54864"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r>
              <a:tr h="384048">
                <a:tc>
                  <a:txBody>
                    <a:bodyPr/>
                    <a:lstStyle/>
                    <a:p>
                      <a:pPr indent="0" marL="0">
                        <a:buNone/>
                      </a:pPr>
                      <a:r>
                        <a:rPr lang="en-US" sz="1100" dirty="0">
                          <a:solidFill>
                            <a:srgbClr val="17232F"/>
                          </a:solidFill>
                          <a:latin typeface="Calibri" pitchFamily="34" charset="0"/>
                          <a:ea typeface="Calibri" pitchFamily="34" charset="-122"/>
                          <a:cs typeface="Calibri" pitchFamily="34" charset="-120"/>
                        </a:rPr>
                        <a:t>Map size</a:t>
                      </a:r>
                      <a:endParaRPr lang="en-US" sz="1100" dirty="0">
                        <a:latin typeface="Calibri" charset="0"/>
                        <a:ea typeface="Calibri" charset="0"/>
                        <a:cs typeface="Calibri" charset="0"/>
                      </a:endParaRPr>
                    </a:p>
                  </a:txBody>
                  <a:tcPr marL="54864" marR="54864" marT="54864" marB="54864"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c>
                  <a:txBody>
                    <a:bodyPr/>
                    <a:lstStyle/>
                    <a:p>
                      <a:pPr indent="0" marL="0">
                        <a:buNone/>
                      </a:pPr>
                      <a:r>
                        <a:rPr lang="en-US" sz="1100" dirty="0">
                          <a:solidFill>
                            <a:srgbClr val="17232F"/>
                          </a:solidFill>
                          <a:latin typeface="Calibri" pitchFamily="34" charset="0"/>
                          <a:ea typeface="Calibri" pitchFamily="34" charset="-122"/>
                          <a:cs typeface="Calibri" pitchFamily="34" charset="-120"/>
                        </a:rPr>
                        <a:t>13.2 MB</a:t>
                      </a:r>
                      <a:endParaRPr lang="en-US" sz="1100" dirty="0">
                        <a:latin typeface="Calibri" charset="0"/>
                        <a:ea typeface="Calibri" charset="0"/>
                        <a:cs typeface="Calibri" charset="0"/>
                      </a:endParaRPr>
                    </a:p>
                  </a:txBody>
                  <a:tcPr marL="54864" marR="54864" marT="54864" marB="54864"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47.5 MB</a:t>
                      </a:r>
                      <a:endParaRPr lang="en-US" sz="1100" dirty="0">
                        <a:latin typeface="Calibri" charset="0"/>
                        <a:ea typeface="Calibri" charset="0"/>
                        <a:cs typeface="Calibri" charset="0"/>
                      </a:endParaRPr>
                    </a:p>
                  </a:txBody>
                  <a:tcPr marL="54864" marR="54864" marT="54864" marB="54864"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r>
              <a:tr h="384048">
                <a:tc>
                  <a:txBody>
                    <a:bodyPr/>
                    <a:lstStyle/>
                    <a:p>
                      <a:pPr indent="0" marL="0">
                        <a:buNone/>
                      </a:pPr>
                      <a:r>
                        <a:rPr lang="en-US" sz="1100" dirty="0">
                          <a:solidFill>
                            <a:srgbClr val="17232F"/>
                          </a:solidFill>
                          <a:latin typeface="Calibri" pitchFamily="34" charset="0"/>
                          <a:ea typeface="Calibri" pitchFamily="34" charset="-122"/>
                          <a:cs typeface="Calibri" pitchFamily="34" charset="-120"/>
                        </a:rPr>
                        <a:t>Instrumented suite</a:t>
                      </a:r>
                      <a:endParaRPr lang="en-US" sz="1100" dirty="0">
                        <a:latin typeface="Calibri" charset="0"/>
                        <a:ea typeface="Calibri" charset="0"/>
                        <a:cs typeface="Calibri" charset="0"/>
                      </a:endParaRPr>
                    </a:p>
                  </a:txBody>
                  <a:tcPr marL="54864" marR="54864" marT="54864" marB="54864"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c>
                  <a:txBody>
                    <a:bodyPr/>
                    <a:lstStyle/>
                    <a:p>
                      <a:pPr indent="0" marL="0">
                        <a:buNone/>
                      </a:pPr>
                      <a:r>
                        <a:rPr lang="en-US" sz="1100" dirty="0">
                          <a:solidFill>
                            <a:srgbClr val="17232F"/>
                          </a:solidFill>
                          <a:latin typeface="Calibri" pitchFamily="34" charset="0"/>
                          <a:ea typeface="Calibri" pitchFamily="34" charset="-122"/>
                          <a:cs typeface="Calibri" pitchFamily="34" charset="-120"/>
                        </a:rPr>
                        <a:t>2.2×</a:t>
                      </a:r>
                      <a:endParaRPr lang="en-US" sz="1100" dirty="0">
                        <a:latin typeface="Calibri" charset="0"/>
                        <a:ea typeface="Calibri" charset="0"/>
                        <a:cs typeface="Calibri" charset="0"/>
                      </a:endParaRPr>
                    </a:p>
                  </a:txBody>
                  <a:tcPr marL="54864" marR="54864" marT="54864" marB="54864"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c>
                  <a:txBody>
                    <a:bodyPr/>
                    <a:lstStyle/>
                    <a:p>
                      <a:pPr indent="0" marL="0">
                        <a:buNone/>
                      </a:pPr>
                      <a:r>
                        <a:rPr lang="en-US" sz="1100" dirty="0">
                          <a:solidFill>
                            <a:srgbClr val="17232F"/>
                          </a:solidFill>
                          <a:latin typeface="Calibri" pitchFamily="34" charset="0"/>
                          <a:ea typeface="Calibri" pitchFamily="34" charset="-122"/>
                          <a:cs typeface="Calibri" pitchFamily="34" charset="-120"/>
                        </a:rPr>
                        <a:t>1.63×</a:t>
                      </a:r>
                      <a:endParaRPr lang="en-US" sz="1100" dirty="0">
                        <a:latin typeface="Calibri" charset="0"/>
                        <a:ea typeface="Calibri" charset="0"/>
                        <a:cs typeface="Calibri" charset="0"/>
                      </a:endParaRPr>
                    </a:p>
                  </a:txBody>
                  <a:tcPr marL="54864" marR="54864" marT="54864" marB="54864"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r>
              <a:tr h="384048">
                <a:tc>
                  <a:txBody>
                    <a:bodyPr/>
                    <a:lstStyle/>
                    <a:p>
                      <a:pPr indent="0" marL="0">
                        <a:buNone/>
                      </a:pPr>
                      <a:r>
                        <a:rPr lang="en-US" sz="1100" dirty="0">
                          <a:solidFill>
                            <a:srgbClr val="17232F"/>
                          </a:solidFill>
                          <a:latin typeface="Calibri" pitchFamily="34" charset="0"/>
                          <a:ea typeface="Calibri" pitchFamily="34" charset="-122"/>
                          <a:cs typeface="Calibri" pitchFamily="34" charset="-120"/>
                        </a:rPr>
                        <a:t>Lookup p95</a:t>
                      </a:r>
                      <a:endParaRPr lang="en-US" sz="1100" dirty="0">
                        <a:latin typeface="Calibri" charset="0"/>
                        <a:ea typeface="Calibri" charset="0"/>
                        <a:cs typeface="Calibri" charset="0"/>
                      </a:endParaRPr>
                    </a:p>
                  </a:txBody>
                  <a:tcPr marL="54864" marR="54864" marT="54864" marB="54864"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c>
                  <a:txBody>
                    <a:bodyPr/>
                    <a:lstStyle/>
                    <a:p>
                      <a:pPr indent="0" marL="0">
                        <a:buNone/>
                      </a:pPr>
                      <a:r>
                        <a:rPr lang="en-US" sz="1100" dirty="0">
                          <a:solidFill>
                            <a:srgbClr val="17232F"/>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54864" marR="54864" marT="54864" marB="54864"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c>
                  <a:txBody>
                    <a:bodyPr/>
                    <a:lstStyle/>
                    <a:p>
                      <a:pPr indent="0" marL="0">
                        <a:buNone/>
                      </a:pPr>
                      <a:r>
                        <a:rPr lang="en-US" sz="1100" b="1" dirty="0">
                          <a:solidFill>
                            <a:srgbClr val="2E7D62"/>
                          </a:solidFill>
                          <a:latin typeface="Calibri" pitchFamily="34" charset="0"/>
                          <a:ea typeface="Calibri" pitchFamily="34" charset="-122"/>
                          <a:cs typeface="Calibri" pitchFamily="34" charset="-120"/>
                        </a:rPr>
                        <a:t>1.41 ms</a:t>
                      </a:r>
                      <a:endParaRPr lang="en-US" sz="1100" dirty="0">
                        <a:latin typeface="Calibri" charset="0"/>
                        <a:ea typeface="Calibri" charset="0"/>
                        <a:cs typeface="Calibri" charset="0"/>
                      </a:endParaRPr>
                    </a:p>
                  </a:txBody>
                  <a:tcPr marL="54864" marR="54864" marT="54864" marB="54864" anchor="ctr">
                    <a:lnL w="6350" cap="flat" cmpd="sng" algn="ctr">
                      <a:solidFill>
                        <a:srgbClr val="D8DEE4"/>
                      </a:solidFill>
                      <a:prstDash val="solid"/>
                      <a:round/>
                      <a:headEnd type="none" w="med" len="med"/>
                      <a:tailEnd type="none" w="med" len="med"/>
                    </a:lnL>
                    <a:lnR w="6350" cap="flat" cmpd="sng" algn="ctr">
                      <a:solidFill>
                        <a:srgbClr val="D8DEE4"/>
                      </a:solidFill>
                      <a:prstDash val="solid"/>
                      <a:round/>
                      <a:headEnd type="none" w="med" len="med"/>
                      <a:tailEnd type="none" w="med" len="med"/>
                    </a:lnR>
                    <a:lnT w="6350" cap="flat" cmpd="sng" algn="ctr">
                      <a:solidFill>
                        <a:srgbClr val="D8DEE4"/>
                      </a:solidFill>
                      <a:prstDash val="solid"/>
                      <a:round/>
                      <a:headEnd type="none" w="med" len="med"/>
                      <a:tailEnd type="none" w="med" len="med"/>
                    </a:lnT>
                    <a:lnB w="6350" cap="flat" cmpd="sng" algn="ctr">
                      <a:solidFill>
                        <a:srgbClr val="D8DEE4"/>
                      </a:solidFill>
                      <a:prstDash val="solid"/>
                      <a:round/>
                      <a:headEnd type="none" w="med" len="med"/>
                      <a:tailEnd type="none" w="med" len="med"/>
                    </a:lnB>
                  </a:tcPr>
                </a:tc>
              </a:tr>
            </a:tbl>
          </a:graphicData>
        </a:graphic>
      </p:graphicFrame>
      <p:sp>
        <p:nvSpPr>
          <p:cNvPr id="5" name="Shape 2"/>
          <p:cNvSpPr/>
          <p:nvPr/>
        </p:nvSpPr>
        <p:spPr>
          <a:xfrm>
            <a:off x="7680960" y="1691640"/>
            <a:ext cx="3840480" cy="1572768"/>
          </a:xfrm>
          <a:prstGeom prst="roundRect">
            <a:avLst>
              <a:gd name="adj" fmla="val 4651"/>
            </a:avLst>
          </a:prstGeom>
          <a:solidFill>
            <a:srgbClr val="F3F5F7"/>
          </a:solidFill>
          <a:ln w="12700">
            <a:solidFill>
              <a:srgbClr val="333333"/>
            </a:solidFill>
            <a:prstDash val="solid"/>
          </a:ln>
        </p:spPr>
      </p:sp>
      <p:sp>
        <p:nvSpPr>
          <p:cNvPr id="6" name="Text 3"/>
          <p:cNvSpPr txBox="1"/>
          <p:nvPr/>
        </p:nvSpPr>
        <p:spPr>
          <a:xfrm>
            <a:off x="7909560" y="1856232"/>
            <a:ext cx="3383280" cy="658368"/>
          </a:xfrm>
          <a:prstGeom prst="rect">
            <a:avLst/>
          </a:prstGeom>
          <a:noFill/>
          <a:ln/>
        </p:spPr>
        <p:txBody>
          <a:bodyPr wrap="square" lIns="0" tIns="0" rIns="0" bIns="0" rtlCol="0" anchor="ctr"/>
          <a:lstStyle/>
          <a:p>
            <a:pPr indent="0" marL="0">
              <a:buNone/>
            </a:pPr>
            <a:r>
              <a:rPr lang="en-US" sz="3400" b="1" dirty="0">
                <a:solidFill>
                  <a:srgbClr val="2E7D62"/>
                </a:solidFill>
                <a:latin typeface="Cambria" pitchFamily="34" charset="0"/>
                <a:ea typeface="Cambria" pitchFamily="34" charset="-122"/>
                <a:cs typeface="Cambria" pitchFamily="34" charset="-120"/>
              </a:rPr>
              <a:t>47.5 MB</a:t>
            </a:r>
            <a:endParaRPr lang="en-US" sz="3400" dirty="0"/>
          </a:p>
        </p:txBody>
      </p:sp>
      <p:sp>
        <p:nvSpPr>
          <p:cNvPr id="7" name="Text 4"/>
          <p:cNvSpPr txBox="1"/>
          <p:nvPr/>
        </p:nvSpPr>
        <p:spPr>
          <a:xfrm>
            <a:off x="7909560" y="2532888"/>
            <a:ext cx="3383280" cy="274320"/>
          </a:xfrm>
          <a:prstGeom prst="rect">
            <a:avLst/>
          </a:prstGeom>
          <a:noFill/>
          <a:ln/>
        </p:spPr>
        <p:txBody>
          <a:bodyPr wrap="square" lIns="0" tIns="0" rIns="0" bIns="0" rtlCol="0" anchor="ctr"/>
          <a:lstStyle/>
          <a:p>
            <a:pPr indent="0" marL="0">
              <a:buNone/>
            </a:pPr>
            <a:r>
              <a:rPr lang="en-US" sz="1200" b="1" dirty="0">
                <a:solidFill>
                  <a:srgbClr val="17232F"/>
                </a:solidFill>
                <a:latin typeface="Calibri" pitchFamily="34" charset="0"/>
                <a:ea typeface="Calibri" pitchFamily="34" charset="-122"/>
                <a:cs typeface="Calibri" pitchFamily="34" charset="-120"/>
              </a:rPr>
              <a:t>against a 500 MB budget</a:t>
            </a:r>
            <a:endParaRPr lang="en-US" sz="1200" dirty="0"/>
          </a:p>
        </p:txBody>
      </p:sp>
      <p:sp>
        <p:nvSpPr>
          <p:cNvPr id="8" name="Text 5"/>
          <p:cNvSpPr txBox="1"/>
          <p:nvPr/>
        </p:nvSpPr>
        <p:spPr>
          <a:xfrm>
            <a:off x="7909560" y="2807208"/>
            <a:ext cx="3383280" cy="365760"/>
          </a:xfrm>
          <a:prstGeom prst="rect">
            <a:avLst/>
          </a:prstGeom>
          <a:noFill/>
          <a:ln/>
        </p:spPr>
        <p:txBody>
          <a:bodyPr wrap="square" lIns="0" tIns="0" rIns="0" bIns="0" rtlCol="0" anchor="ctr"/>
          <a:lstStyle/>
          <a:p>
            <a:pPr indent="0" marL="0">
              <a:buNone/>
            </a:pPr>
            <a:r>
              <a:rPr lang="en-US" sz="1000" dirty="0">
                <a:solidFill>
                  <a:srgbClr val="62727F"/>
                </a:solidFill>
                <a:latin typeface="Calibri" pitchFamily="34" charset="0"/>
                <a:ea typeface="Calibri" pitchFamily="34" charset="-122"/>
                <a:cs typeface="Calibri" pitchFamily="34" charset="-120"/>
              </a:rPr>
              <a:t>The reserve bitmap design stays on the shelf</a:t>
            </a:r>
            <a:endParaRPr lang="en-US" sz="1000" dirty="0"/>
          </a:p>
        </p:txBody>
      </p:sp>
      <p:sp>
        <p:nvSpPr>
          <p:cNvPr id="9" name="Shape 6"/>
          <p:cNvSpPr/>
          <p:nvPr/>
        </p:nvSpPr>
        <p:spPr>
          <a:xfrm>
            <a:off x="7680960" y="3401568"/>
            <a:ext cx="3840480" cy="1572768"/>
          </a:xfrm>
          <a:prstGeom prst="roundRect">
            <a:avLst>
              <a:gd name="adj" fmla="val 4651"/>
            </a:avLst>
          </a:prstGeom>
          <a:solidFill>
            <a:srgbClr val="F3F5F7"/>
          </a:solidFill>
          <a:ln w="12700">
            <a:solidFill>
              <a:srgbClr val="333333"/>
            </a:solidFill>
            <a:prstDash val="solid"/>
          </a:ln>
        </p:spPr>
      </p:sp>
      <p:sp>
        <p:nvSpPr>
          <p:cNvPr id="10" name="Text 7"/>
          <p:cNvSpPr txBox="1"/>
          <p:nvPr/>
        </p:nvSpPr>
        <p:spPr>
          <a:xfrm>
            <a:off x="7909560" y="3566160"/>
            <a:ext cx="3383280" cy="658368"/>
          </a:xfrm>
          <a:prstGeom prst="rect">
            <a:avLst/>
          </a:prstGeom>
          <a:noFill/>
          <a:ln/>
        </p:spPr>
        <p:txBody>
          <a:bodyPr wrap="square" lIns="0" tIns="0" rIns="0" bIns="0" rtlCol="0" anchor="ctr"/>
          <a:lstStyle/>
          <a:p>
            <a:pPr indent="0" marL="0">
              <a:buNone/>
            </a:pPr>
            <a:r>
              <a:rPr lang="en-US" sz="3400" b="1" dirty="0">
                <a:solidFill>
                  <a:srgbClr val="2E7D62"/>
                </a:solidFill>
                <a:latin typeface="Cambria" pitchFamily="34" charset="0"/>
                <a:ea typeface="Cambria" pitchFamily="34" charset="-122"/>
                <a:cs typeface="Cambria" pitchFamily="34" charset="-120"/>
              </a:rPr>
              <a:t>1.41 ms</a:t>
            </a:r>
            <a:endParaRPr lang="en-US" sz="3400" dirty="0"/>
          </a:p>
        </p:txBody>
      </p:sp>
      <p:sp>
        <p:nvSpPr>
          <p:cNvPr id="11" name="Text 8"/>
          <p:cNvSpPr txBox="1"/>
          <p:nvPr/>
        </p:nvSpPr>
        <p:spPr>
          <a:xfrm>
            <a:off x="7909560" y="4242816"/>
            <a:ext cx="3383280" cy="274320"/>
          </a:xfrm>
          <a:prstGeom prst="rect">
            <a:avLst/>
          </a:prstGeom>
          <a:noFill/>
          <a:ln/>
        </p:spPr>
        <p:txBody>
          <a:bodyPr wrap="square" lIns="0" tIns="0" rIns="0" bIns="0" rtlCol="0" anchor="ctr"/>
          <a:lstStyle/>
          <a:p>
            <a:pPr indent="0" marL="0">
              <a:buNone/>
            </a:pPr>
            <a:r>
              <a:rPr lang="en-US" sz="1200" b="1" dirty="0">
                <a:solidFill>
                  <a:srgbClr val="17232F"/>
                </a:solidFill>
                <a:latin typeface="Calibri" pitchFamily="34" charset="0"/>
                <a:ea typeface="Calibri" pitchFamily="34" charset="-122"/>
                <a:cs typeface="Calibri" pitchFamily="34" charset="-120"/>
              </a:rPr>
              <a:t>p95 lookup, against 50 ms</a:t>
            </a:r>
            <a:endParaRPr lang="en-US" sz="1200" dirty="0"/>
          </a:p>
        </p:txBody>
      </p:sp>
      <p:sp>
        <p:nvSpPr>
          <p:cNvPr id="12" name="Text 9"/>
          <p:cNvSpPr txBox="1"/>
          <p:nvPr/>
        </p:nvSpPr>
        <p:spPr>
          <a:xfrm>
            <a:off x="7909560" y="4517136"/>
            <a:ext cx="3383280" cy="365760"/>
          </a:xfrm>
          <a:prstGeom prst="rect">
            <a:avLst/>
          </a:prstGeom>
          <a:noFill/>
          <a:ln/>
        </p:spPr>
        <p:txBody>
          <a:bodyPr wrap="square" lIns="0" tIns="0" rIns="0" bIns="0" rtlCol="0" anchor="ctr"/>
          <a:lstStyle/>
          <a:p>
            <a:pPr indent="0" marL="0">
              <a:buNone/>
            </a:pPr>
            <a:r>
              <a:rPr lang="en-US" sz="1000" dirty="0">
                <a:solidFill>
                  <a:srgbClr val="62727F"/>
                </a:solidFill>
                <a:latin typeface="Calibri" pitchFamily="34" charset="0"/>
                <a:ea typeface="Calibri" pitchFamily="34" charset="-122"/>
                <a:cs typeface="Calibri" pitchFamily="34" charset="-120"/>
              </a:rPr>
              <a:t>Selection cost is irrelevant next to pytest startup</a:t>
            </a:r>
            <a:endParaRPr lang="en-US" sz="1000" dirty="0"/>
          </a:p>
        </p:txBody>
      </p:sp>
      <p:sp>
        <p:nvSpPr>
          <p:cNvPr id="13" name="Text 10"/>
          <p:cNvSpPr txBox="1"/>
          <p:nvPr/>
        </p:nvSpPr>
        <p:spPr>
          <a:xfrm>
            <a:off x="640080" y="5212080"/>
            <a:ext cx="6766560" cy="822960"/>
          </a:xfrm>
          <a:prstGeom prst="rect">
            <a:avLst/>
          </a:prstGeom>
          <a:noFill/>
          <a:ln/>
        </p:spPr>
        <p:txBody>
          <a:bodyPr wrap="square" lIns="0" tIns="0" rIns="0" bIns="0" rtlCol="0" anchor="ctr"/>
          <a:lstStyle/>
          <a:p>
            <a:pPr indent="0" marL="0">
              <a:buNone/>
            </a:pPr>
            <a:r>
              <a:rPr lang="en-US" sz="1250" i="1" dirty="0">
                <a:solidFill>
                  <a:srgbClr val="62727F"/>
                </a:solidFill>
                <a:latin typeface="Calibri" pitchFamily="34" charset="0"/>
                <a:ea typeface="Calibri" pitchFamily="34" charset="-122"/>
                <a:cs typeface="Calibri" pitchFamily="34" charset="-120"/>
              </a:rPr>
              <a:t>“We measured it at X and it was acceptable, and here is the design we had ready if it had not been” is a stronger answer than an optimisation nobody needed.</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7232F"/>
        </a:solidFill>
      </p:bgPr>
    </p:bg>
    <p:spTree>
      <p:nvGrpSpPr>
        <p:cNvPr id="1" name=""/>
        <p:cNvGrpSpPr/>
        <p:nvPr/>
      </p:nvGrpSpPr>
      <p:grpSpPr>
        <a:xfrm>
          <a:off x="0" y="0"/>
          <a:ext cx="0" cy="0"/>
          <a:chOff x="0" y="0"/>
          <a:chExt cx="0" cy="0"/>
        </a:xfrm>
      </p:grpSpPr>
      <p:sp>
        <p:nvSpPr>
          <p:cNvPr id="2" name="Text 0"/>
          <p:cNvSpPr txBox="1"/>
          <p:nvPr/>
        </p:nvSpPr>
        <p:spPr>
          <a:xfrm>
            <a:off x="640080" y="384048"/>
            <a:ext cx="10881360" cy="256032"/>
          </a:xfrm>
          <a:prstGeom prst="rect">
            <a:avLst/>
          </a:prstGeom>
          <a:noFill/>
          <a:ln/>
        </p:spPr>
        <p:txBody>
          <a:bodyPr wrap="square" lIns="0" tIns="0" rIns="0" bIns="0" rtlCol="0" anchor="ctr"/>
          <a:lstStyle/>
          <a:p>
            <a:pPr indent="0" marL="0">
              <a:buNone/>
            </a:pPr>
            <a:r>
              <a:rPr lang="en-US" sz="1100" b="1" spc="200" kern="0" dirty="0">
                <a:solidFill>
                  <a:srgbClr val="C07A1B"/>
                </a:solidFill>
                <a:latin typeface="Calibri" pitchFamily="34" charset="0"/>
                <a:ea typeface="Calibri" pitchFamily="34" charset="-122"/>
                <a:cs typeface="Calibri" pitchFamily="34" charset="-120"/>
              </a:rPr>
              <a:t>LIVE DEMO — TIA SELECT --EXPLAIN</a:t>
            </a:r>
            <a:endParaRPr lang="en-US" sz="1100" dirty="0"/>
          </a:p>
        </p:txBody>
      </p:sp>
      <p:sp>
        <p:nvSpPr>
          <p:cNvPr id="3" name="Text 1"/>
          <p:cNvSpPr txBox="1"/>
          <p:nvPr/>
        </p:nvSpPr>
        <p:spPr>
          <a:xfrm>
            <a:off x="640080" y="658368"/>
            <a:ext cx="10881360" cy="77724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Inspectable, not merely fast</a:t>
            </a:r>
            <a:endParaRPr lang="en-US" sz="3400" dirty="0"/>
          </a:p>
        </p:txBody>
      </p:sp>
      <p:sp>
        <p:nvSpPr>
          <p:cNvPr id="4" name="Shape 2"/>
          <p:cNvSpPr/>
          <p:nvPr/>
        </p:nvSpPr>
        <p:spPr>
          <a:xfrm>
            <a:off x="640080" y="1691640"/>
            <a:ext cx="10881360" cy="2880360"/>
          </a:xfrm>
          <a:prstGeom prst="roundRect">
            <a:avLst>
              <a:gd name="adj" fmla="val 1905"/>
            </a:avLst>
          </a:prstGeom>
          <a:solidFill>
            <a:srgbClr val="0E1721"/>
          </a:solidFill>
          <a:ln w="12700">
            <a:solidFill>
              <a:srgbClr val="333333"/>
            </a:solidFill>
            <a:prstDash val="solid"/>
          </a:ln>
        </p:spPr>
      </p:sp>
      <p:sp>
        <p:nvSpPr>
          <p:cNvPr id="5" name="Text 3"/>
          <p:cNvSpPr txBox="1"/>
          <p:nvPr/>
        </p:nvSpPr>
        <p:spPr>
          <a:xfrm>
            <a:off x="914400" y="1874520"/>
            <a:ext cx="10332720" cy="2560320"/>
          </a:xfrm>
          <a:prstGeom prst="rect">
            <a:avLst/>
          </a:prstGeom>
          <a:noFill/>
          <a:ln/>
        </p:spPr>
        <p:txBody>
          <a:bodyPr wrap="square" lIns="0" tIns="0" rIns="0" bIns="0" rtlCol="0" anchor="ctr"/>
          <a:lstStyle/>
          <a:p>
            <a:pPr indent="0" marL="0">
              <a:lnSpc>
                <a:spcPts val="1700"/>
              </a:lnSpc>
              <a:buNone/>
            </a:pPr>
            <a:r>
              <a:rPr lang="en-US" sz="1250" dirty="0">
                <a:solidFill>
                  <a:srgbClr val="2E7D62"/>
                </a:solidFill>
                <a:latin typeface="Courier New" pitchFamily="34" charset="0"/>
                <a:ea typeface="Courier New" pitchFamily="34" charset="-122"/>
                <a:cs typeface="Courier New" pitchFamily="34" charset="-120"/>
              </a:rPr>
              <a:t>$ tia select --explain</a:t>
            </a:r>
            <a:endParaRPr lang="en-US" sz="1250" dirty="0"/>
          </a:p>
          <a:p>
            <a:pPr indent="0" marL="0">
              <a:lnSpc>
                <a:spcPts val="1700"/>
              </a:lnSpc>
              <a:buNone/>
            </a:pPr>
            <a:endParaRPr lang="en-US" sz="1250" dirty="0"/>
          </a:p>
          <a:p>
            <a:pPr indent="0" marL="0">
              <a:lnSpc>
                <a:spcPts val="1700"/>
              </a:lnSpc>
              <a:buNone/>
            </a:pPr>
            <a:r>
              <a:rPr lang="en-US" sz="1250" b="1" dirty="0">
                <a:solidFill>
                  <a:srgbClr val="FFFFFF"/>
                </a:solidFill>
                <a:latin typeface="Courier New" pitchFamily="34" charset="0"/>
                <a:ea typeface="Courier New" pitchFamily="34" charset="-122"/>
                <a:cs typeface="Courier New" pitchFamily="34" charset="-120"/>
              </a:rPr>
              <a:t>src/attr/_funcs.py line 377</a:t>
            </a:r>
            <a:endParaRPr lang="en-US" sz="1250" dirty="0"/>
          </a:p>
          <a:p>
            <a:pPr indent="0" marL="0">
              <a:lnSpc>
                <a:spcPts val="1700"/>
              </a:lnSpc>
              <a:buNone/>
            </a:pPr>
            <a:r>
              <a:rPr lang="en-US" sz="1250" dirty="0">
                <a:solidFill>
                  <a:srgbClr val="C07A1B"/>
                </a:solidFill>
                <a:latin typeface="Courier New" pitchFamily="34" charset="0"/>
                <a:ea typeface="Courier New" pitchFamily="34" charset="-122"/>
                <a:cs typeface="Courier New" pitchFamily="34" charset="-120"/>
              </a:rPr>
              <a:t>  -&gt; SELECTED: project source in a fresh map; tests chosen by line</a:t>
            </a:r>
            <a:endParaRPr lang="en-US" sz="1250" dirty="0"/>
          </a:p>
          <a:p>
            <a:pPr indent="0" marL="0">
              <a:lnSpc>
                <a:spcPts val="1700"/>
              </a:lnSpc>
              <a:buNone/>
            </a:pPr>
            <a:r>
              <a:rPr lang="en-US" sz="1250" dirty="0">
                <a:solidFill>
                  <a:srgbClr val="9FB3C2"/>
                </a:solidFill>
                <a:latin typeface="Courier New" pitchFamily="34" charset="0"/>
                <a:ea typeface="Courier New" pitchFamily="34" charset="-122"/>
                <a:cs typeface="Courier New" pitchFamily="34" charset="-120"/>
              </a:rPr>
              <a:t>     tests/test_funcs.py::TestAsDict::test_dicts</a:t>
            </a:r>
            <a:endParaRPr lang="en-US" sz="1250" dirty="0"/>
          </a:p>
          <a:p>
            <a:pPr indent="0" marL="0">
              <a:lnSpc>
                <a:spcPts val="1700"/>
              </a:lnSpc>
              <a:buNone/>
            </a:pPr>
            <a:r>
              <a:rPr lang="en-US" sz="1250" dirty="0">
                <a:solidFill>
                  <a:srgbClr val="9FB3C2"/>
                </a:solidFill>
                <a:latin typeface="Courier New" pitchFamily="34" charset="0"/>
                <a:ea typeface="Courier New" pitchFamily="34" charset="-122"/>
                <a:cs typeface="Courier New" pitchFamily="34" charset="-120"/>
              </a:rPr>
              <a:t>     tests/test_funcs.py::TestAsDict::test_nested_lists</a:t>
            </a:r>
            <a:endParaRPr lang="en-US" sz="1250" dirty="0"/>
          </a:p>
          <a:p>
            <a:pPr indent="0" marL="0">
              <a:lnSpc>
                <a:spcPts val="1700"/>
              </a:lnSpc>
              <a:buNone/>
            </a:pPr>
            <a:r>
              <a:rPr lang="en-US" sz="1250" dirty="0">
                <a:solidFill>
                  <a:srgbClr val="9FB3C2"/>
                </a:solidFill>
                <a:latin typeface="Courier New" pitchFamily="34" charset="0"/>
                <a:ea typeface="Courier New" pitchFamily="34" charset="-122"/>
                <a:cs typeface="Courier New" pitchFamily="34" charset="-120"/>
              </a:rPr>
              <a:t>     tests/test_hooks.py::TestAsDictHook::test_asdict</a:t>
            </a:r>
            <a:endParaRPr lang="en-US" sz="1250" dirty="0"/>
          </a:p>
          <a:p>
            <a:pPr indent="0" marL="0">
              <a:lnSpc>
                <a:spcPts val="1700"/>
              </a:lnSpc>
              <a:buNone/>
            </a:pPr>
            <a:r>
              <a:rPr lang="en-US" sz="1250" dirty="0">
                <a:solidFill>
                  <a:srgbClr val="6B808F"/>
                </a:solidFill>
                <a:latin typeface="Courier New" pitchFamily="34" charset="0"/>
                <a:ea typeface="Courier New" pitchFamily="34" charset="-122"/>
                <a:cs typeface="Courier New" pitchFamily="34" charset="-120"/>
              </a:rPr>
              <a:t>     ... and 28 more</a:t>
            </a:r>
            <a:endParaRPr lang="en-US" sz="1250" dirty="0"/>
          </a:p>
          <a:p>
            <a:pPr indent="0" marL="0">
              <a:lnSpc>
                <a:spcPts val="1700"/>
              </a:lnSpc>
              <a:buNone/>
            </a:pPr>
            <a:endParaRPr lang="en-US" sz="1250" dirty="0"/>
          </a:p>
          <a:p>
            <a:pPr indent="0" marL="0">
              <a:lnSpc>
                <a:spcPts val="1700"/>
              </a:lnSpc>
              <a:buNone/>
            </a:pPr>
            <a:r>
              <a:rPr lang="en-US" sz="1250" b="1" dirty="0">
                <a:solidFill>
                  <a:srgbClr val="FFFFFF"/>
                </a:solidFill>
                <a:latin typeface="Courier New" pitchFamily="34" charset="0"/>
                <a:ea typeface="Courier New" pitchFamily="34" charset="-122"/>
                <a:cs typeface="Courier New" pitchFamily="34" charset="-120"/>
              </a:rPr>
              <a:t>tia: selected 31 of 1,334 tests</a:t>
            </a:r>
            <a:endParaRPr lang="en-US" sz="1250" dirty="0"/>
          </a:p>
        </p:txBody>
      </p:sp>
      <p:sp>
        <p:nvSpPr>
          <p:cNvPr id="6" name="Text 4"/>
          <p:cNvSpPr txBox="1"/>
          <p:nvPr/>
        </p:nvSpPr>
        <p:spPr>
          <a:xfrm>
            <a:off x="640080" y="4754880"/>
            <a:ext cx="10881360" cy="731520"/>
          </a:xfrm>
          <a:prstGeom prst="rect">
            <a:avLst/>
          </a:prstGeom>
          <a:noFill/>
          <a:ln/>
        </p:spPr>
        <p:txBody>
          <a:bodyPr wrap="square" lIns="0" tIns="0" rIns="0" bIns="0" rtlCol="0" anchor="ctr"/>
          <a:lstStyle/>
          <a:p>
            <a:pPr indent="0" marL="0">
              <a:buNone/>
            </a:pPr>
            <a:r>
              <a:rPr lang="en-US" sz="1350" dirty="0">
                <a:solidFill>
                  <a:srgbClr val="AFC0CE"/>
                </a:solidFill>
                <a:latin typeface="Calibri" pitchFamily="34" charset="0"/>
                <a:ea typeface="Calibri" pitchFamily="34" charset="-122"/>
                <a:cs typeface="Calibri" pitchFamily="34" charset="-120"/>
              </a:rPr>
              <a:t>Every selected test can be traced back to the line that pulled it in and the rule that allowed it. This is the differentiator: not that it is fast, but that you can check it.</a:t>
            </a:r>
            <a:endParaRPr lang="en-US" sz="1350" dirty="0"/>
          </a:p>
        </p:txBody>
      </p:sp>
      <p:sp>
        <p:nvSpPr>
          <p:cNvPr id="7" name="Text 5"/>
          <p:cNvSpPr txBox="1"/>
          <p:nvPr/>
        </p:nvSpPr>
        <p:spPr>
          <a:xfrm>
            <a:off x="640080" y="5440680"/>
            <a:ext cx="10881360" cy="457200"/>
          </a:xfrm>
          <a:prstGeom prst="rect">
            <a:avLst/>
          </a:prstGeom>
          <a:noFill/>
          <a:ln/>
        </p:spPr>
        <p:txBody>
          <a:bodyPr wrap="square" lIns="0" tIns="0" rIns="0" bIns="0" rtlCol="0" anchor="ctr"/>
          <a:lstStyle/>
          <a:p>
            <a:pPr indent="0" marL="0">
              <a:buNone/>
            </a:pPr>
            <a:r>
              <a:rPr lang="en-US" sz="1250" i="1" dirty="0">
                <a:solidFill>
                  <a:srgbClr val="C07A1B"/>
                </a:solidFill>
                <a:latin typeface="Calibri" pitchFamily="34" charset="0"/>
                <a:ea typeface="Calibri" pitchFamily="34" charset="-122"/>
                <a:cs typeface="Calibri" pitchFamily="34" charset="-120"/>
              </a:rPr>
              <a:t>Then: edit requirements.txt → DEPENDENCY_CHANGED → full suite. The tool gives up the speed benefit on purpose.</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640080" y="384048"/>
            <a:ext cx="10881360" cy="256032"/>
          </a:xfrm>
          <a:prstGeom prst="rect">
            <a:avLst/>
          </a:prstGeom>
          <a:noFill/>
          <a:ln/>
        </p:spPr>
        <p:txBody>
          <a:bodyPr wrap="square" lIns="0" tIns="0" rIns="0" bIns="0" rtlCol="0" anchor="ctr"/>
          <a:lstStyle/>
          <a:p>
            <a:pPr indent="0" marL="0">
              <a:buNone/>
            </a:pPr>
            <a:r>
              <a:rPr lang="en-US" sz="1100" b="1" spc="200" kern="0" dirty="0">
                <a:solidFill>
                  <a:srgbClr val="62727F"/>
                </a:solidFill>
                <a:latin typeface="Calibri" pitchFamily="34" charset="0"/>
                <a:ea typeface="Calibri" pitchFamily="34" charset="-122"/>
                <a:cs typeface="Calibri" pitchFamily="34" charset="-120"/>
              </a:rPr>
              <a:t>THE CRITICAL METRIC</a:t>
            </a:r>
            <a:endParaRPr lang="en-US" sz="1100" dirty="0"/>
          </a:p>
        </p:txBody>
      </p:sp>
      <p:sp>
        <p:nvSpPr>
          <p:cNvPr id="3" name="Text 1"/>
          <p:cNvSpPr txBox="1"/>
          <p:nvPr/>
        </p:nvSpPr>
        <p:spPr>
          <a:xfrm>
            <a:off x="640080" y="658368"/>
            <a:ext cx="10881360" cy="777240"/>
          </a:xfrm>
          <a:prstGeom prst="rect">
            <a:avLst/>
          </a:prstGeom>
          <a:noFill/>
          <a:ln/>
        </p:spPr>
        <p:txBody>
          <a:bodyPr wrap="square" lIns="0" tIns="0" rIns="0" bIns="0" rtlCol="0" anchor="ctr"/>
          <a:lstStyle/>
          <a:p>
            <a:pPr indent="0" marL="0">
              <a:buNone/>
            </a:pPr>
            <a:r>
              <a:rPr lang="en-US" sz="3400" b="1" dirty="0">
                <a:solidFill>
                  <a:srgbClr val="17232F"/>
                </a:solidFill>
                <a:latin typeface="Cambria" pitchFamily="34" charset="0"/>
                <a:ea typeface="Cambria" pitchFamily="34" charset="-122"/>
                <a:cs typeface="Cambria" pitchFamily="34" charset="-120"/>
              </a:rPr>
              <a:t>Safety validation: defects injected, one at a time</a:t>
            </a:r>
            <a:endParaRPr lang="en-US" sz="3400" dirty="0"/>
          </a:p>
        </p:txBody>
      </p:sp>
      <p:sp>
        <p:nvSpPr>
          <p:cNvPr id="4" name="Text 2"/>
          <p:cNvSpPr txBox="1"/>
          <p:nvPr/>
        </p:nvSpPr>
        <p:spPr>
          <a:xfrm>
            <a:off x="640080" y="1554480"/>
            <a:ext cx="10881360" cy="502920"/>
          </a:xfrm>
          <a:prstGeom prst="rect">
            <a:avLst/>
          </a:prstGeom>
          <a:noFill/>
          <a:ln/>
        </p:spPr>
        <p:txBody>
          <a:bodyPr wrap="square" lIns="0" tIns="0" rIns="0" bIns="0" rtlCol="0" anchor="ctr"/>
          <a:lstStyle/>
          <a:p>
            <a:pPr indent="0" marL="0">
              <a:buNone/>
            </a:pPr>
            <a:r>
              <a:rPr lang="en-US" sz="1250" dirty="0">
                <a:solidFill>
                  <a:srgbClr val="62727F"/>
                </a:solidFill>
                <a:latin typeface="Calibri" pitchFamily="34" charset="0"/>
                <a:ea typeface="Calibri" pitchFamily="34" charset="-122"/>
                <a:cs typeface="Calibri" pitchFamily="34" charset="-120"/>
              </a:rPr>
              <a:t>Each mutant is committed on a scratch branch so tia's ordinary git path runs. The full suite must fail — otherwise the mutant is equivalent and excluded. Then the selection runs. If it passes where the full suite failed, that is a miss.</a:t>
            </a:r>
            <a:endParaRPr lang="en-US" sz="1250" dirty="0"/>
          </a:p>
        </p:txBody>
      </p:sp>
      <p:sp>
        <p:nvSpPr>
          <p:cNvPr id="5" name="Shape 3"/>
          <p:cNvSpPr/>
          <p:nvPr/>
        </p:nvSpPr>
        <p:spPr>
          <a:xfrm>
            <a:off x="640080" y="2148840"/>
            <a:ext cx="3474720" cy="1572768"/>
          </a:xfrm>
          <a:prstGeom prst="roundRect">
            <a:avLst>
              <a:gd name="adj" fmla="val 4651"/>
            </a:avLst>
          </a:prstGeom>
          <a:solidFill>
            <a:srgbClr val="F3F5F7"/>
          </a:solidFill>
          <a:ln w="12700">
            <a:solidFill>
              <a:srgbClr val="333333"/>
            </a:solidFill>
            <a:prstDash val="solid"/>
          </a:ln>
        </p:spPr>
      </p:sp>
      <p:sp>
        <p:nvSpPr>
          <p:cNvPr id="6" name="Text 4"/>
          <p:cNvSpPr txBox="1"/>
          <p:nvPr/>
        </p:nvSpPr>
        <p:spPr>
          <a:xfrm>
            <a:off x="868680" y="2313432"/>
            <a:ext cx="3017520" cy="658368"/>
          </a:xfrm>
          <a:prstGeom prst="rect">
            <a:avLst/>
          </a:prstGeom>
          <a:noFill/>
          <a:ln/>
        </p:spPr>
        <p:txBody>
          <a:bodyPr wrap="square" lIns="0" tIns="0" rIns="0" bIns="0" rtlCol="0" anchor="ctr"/>
          <a:lstStyle/>
          <a:p>
            <a:pPr indent="0" marL="0">
              <a:buNone/>
            </a:pPr>
            <a:r>
              <a:rPr lang="en-US" sz="3400" b="1" dirty="0">
                <a:solidFill>
                  <a:srgbClr val="2E7D62"/>
                </a:solidFill>
                <a:latin typeface="Cambria" pitchFamily="34" charset="0"/>
                <a:ea typeface="Cambria" pitchFamily="34" charset="-122"/>
                <a:cs typeface="Cambria" pitchFamily="34" charset="-120"/>
              </a:rPr>
              <a:t>0 / 47</a:t>
            </a:r>
            <a:endParaRPr lang="en-US" sz="3400" dirty="0"/>
          </a:p>
        </p:txBody>
      </p:sp>
      <p:sp>
        <p:nvSpPr>
          <p:cNvPr id="7" name="Text 5"/>
          <p:cNvSpPr txBox="1"/>
          <p:nvPr/>
        </p:nvSpPr>
        <p:spPr>
          <a:xfrm>
            <a:off x="868680" y="2990088"/>
            <a:ext cx="3017520" cy="274320"/>
          </a:xfrm>
          <a:prstGeom prst="rect">
            <a:avLst/>
          </a:prstGeom>
          <a:noFill/>
          <a:ln/>
        </p:spPr>
        <p:txBody>
          <a:bodyPr wrap="square" lIns="0" tIns="0" rIns="0" bIns="0" rtlCol="0" anchor="ctr"/>
          <a:lstStyle/>
          <a:p>
            <a:pPr indent="0" marL="0">
              <a:buNone/>
            </a:pPr>
            <a:r>
              <a:rPr lang="en-US" sz="1200" b="1" dirty="0">
                <a:solidFill>
                  <a:srgbClr val="17232F"/>
                </a:solidFill>
                <a:latin typeface="Calibri" pitchFamily="34" charset="0"/>
                <a:ea typeface="Calibri" pitchFamily="34" charset="-122"/>
                <a:cs typeface="Calibri" pitchFamily="34" charset="-120"/>
              </a:rPr>
              <a:t>misses on attrs</a:t>
            </a:r>
            <a:endParaRPr lang="en-US" sz="1200" dirty="0"/>
          </a:p>
        </p:txBody>
      </p:sp>
      <p:sp>
        <p:nvSpPr>
          <p:cNvPr id="8" name="Text 6"/>
          <p:cNvSpPr txBox="1"/>
          <p:nvPr/>
        </p:nvSpPr>
        <p:spPr>
          <a:xfrm>
            <a:off x="868680" y="3264408"/>
            <a:ext cx="3017520" cy="365760"/>
          </a:xfrm>
          <a:prstGeom prst="rect">
            <a:avLst/>
          </a:prstGeom>
          <a:noFill/>
          <a:ln/>
        </p:spPr>
        <p:txBody>
          <a:bodyPr wrap="square" lIns="0" tIns="0" rIns="0" bIns="0" rtlCol="0" anchor="ctr"/>
          <a:lstStyle/>
          <a:p>
            <a:pPr indent="0" marL="0">
              <a:buNone/>
            </a:pPr>
            <a:r>
              <a:rPr lang="en-US" sz="1000" dirty="0">
                <a:solidFill>
                  <a:srgbClr val="62727F"/>
                </a:solidFill>
                <a:latin typeface="Calibri" pitchFamily="34" charset="0"/>
                <a:ea typeface="Calibri" pitchFamily="34" charset="-122"/>
                <a:cs typeface="Calibri" pitchFamily="34" charset="-120"/>
              </a:rPr>
              <a:t>50 mutants, seed 1234, 3 equivalent</a:t>
            </a:r>
            <a:endParaRPr lang="en-US" sz="1000" dirty="0"/>
          </a:p>
        </p:txBody>
      </p:sp>
      <p:sp>
        <p:nvSpPr>
          <p:cNvPr id="9" name="Shape 7"/>
          <p:cNvSpPr/>
          <p:nvPr/>
        </p:nvSpPr>
        <p:spPr>
          <a:xfrm>
            <a:off x="4343400" y="2148840"/>
            <a:ext cx="3474720" cy="1572768"/>
          </a:xfrm>
          <a:prstGeom prst="roundRect">
            <a:avLst>
              <a:gd name="adj" fmla="val 4651"/>
            </a:avLst>
          </a:prstGeom>
          <a:solidFill>
            <a:srgbClr val="F3F5F7"/>
          </a:solidFill>
          <a:ln w="12700">
            <a:solidFill>
              <a:srgbClr val="333333"/>
            </a:solidFill>
            <a:prstDash val="solid"/>
          </a:ln>
        </p:spPr>
      </p:sp>
      <p:sp>
        <p:nvSpPr>
          <p:cNvPr id="10" name="Text 8"/>
          <p:cNvSpPr txBox="1"/>
          <p:nvPr/>
        </p:nvSpPr>
        <p:spPr>
          <a:xfrm>
            <a:off x="4572000" y="2313432"/>
            <a:ext cx="3017520" cy="658368"/>
          </a:xfrm>
          <a:prstGeom prst="rect">
            <a:avLst/>
          </a:prstGeom>
          <a:noFill/>
          <a:ln/>
        </p:spPr>
        <p:txBody>
          <a:bodyPr wrap="square" lIns="0" tIns="0" rIns="0" bIns="0" rtlCol="0" anchor="ctr"/>
          <a:lstStyle/>
          <a:p>
            <a:pPr indent="0" marL="0">
              <a:buNone/>
            </a:pPr>
            <a:r>
              <a:rPr lang="en-US" sz="3400" b="1" dirty="0">
                <a:solidFill>
                  <a:srgbClr val="2E7D62"/>
                </a:solidFill>
                <a:latin typeface="Cambria" pitchFamily="34" charset="0"/>
                <a:ea typeface="Cambria" pitchFamily="34" charset="-122"/>
                <a:cs typeface="Cambria" pitchFamily="34" charset="-120"/>
              </a:rPr>
              <a:t>0 / 14</a:t>
            </a:r>
            <a:endParaRPr lang="en-US" sz="3400" dirty="0"/>
          </a:p>
        </p:txBody>
      </p:sp>
      <p:sp>
        <p:nvSpPr>
          <p:cNvPr id="11" name="Text 9"/>
          <p:cNvSpPr txBox="1"/>
          <p:nvPr/>
        </p:nvSpPr>
        <p:spPr>
          <a:xfrm>
            <a:off x="4572000" y="2990088"/>
            <a:ext cx="3017520" cy="274320"/>
          </a:xfrm>
          <a:prstGeom prst="rect">
            <a:avLst/>
          </a:prstGeom>
          <a:noFill/>
          <a:ln/>
        </p:spPr>
        <p:txBody>
          <a:bodyPr wrap="square" lIns="0" tIns="0" rIns="0" bIns="0" rtlCol="0" anchor="ctr"/>
          <a:lstStyle/>
          <a:p>
            <a:pPr indent="0" marL="0">
              <a:buNone/>
            </a:pPr>
            <a:r>
              <a:rPr lang="en-US" sz="1200" b="1" dirty="0">
                <a:solidFill>
                  <a:srgbClr val="17232F"/>
                </a:solidFill>
                <a:latin typeface="Calibri" pitchFamily="34" charset="0"/>
                <a:ea typeface="Calibri" pitchFamily="34" charset="-122"/>
                <a:cs typeface="Calibri" pitchFamily="34" charset="-120"/>
              </a:rPr>
              <a:t>misses on scrapy</a:t>
            </a:r>
            <a:endParaRPr lang="en-US" sz="1200" dirty="0"/>
          </a:p>
        </p:txBody>
      </p:sp>
      <p:sp>
        <p:nvSpPr>
          <p:cNvPr id="12" name="Text 10"/>
          <p:cNvSpPr txBox="1"/>
          <p:nvPr/>
        </p:nvSpPr>
        <p:spPr>
          <a:xfrm>
            <a:off x="4572000" y="3264408"/>
            <a:ext cx="3017520" cy="365760"/>
          </a:xfrm>
          <a:prstGeom prst="rect">
            <a:avLst/>
          </a:prstGeom>
          <a:noFill/>
          <a:ln/>
        </p:spPr>
        <p:txBody>
          <a:bodyPr wrap="square" lIns="0" tIns="0" rIns="0" bIns="0" rtlCol="0" anchor="ctr"/>
          <a:lstStyle/>
          <a:p>
            <a:pPr indent="0" marL="0">
              <a:buNone/>
            </a:pPr>
            <a:r>
              <a:rPr lang="en-US" sz="1000" dirty="0">
                <a:solidFill>
                  <a:srgbClr val="62727F"/>
                </a:solidFill>
                <a:latin typeface="Calibri" pitchFamily="34" charset="0"/>
                <a:ea typeface="Calibri" pitchFamily="34" charset="-122"/>
                <a:cs typeface="Calibri" pitchFamily="34" charset="-120"/>
              </a:rPr>
              <a:t>partial run of 17, recorded as incomplete</a:t>
            </a:r>
            <a:endParaRPr lang="en-US" sz="1000" dirty="0"/>
          </a:p>
        </p:txBody>
      </p:sp>
      <p:sp>
        <p:nvSpPr>
          <p:cNvPr id="13" name="Shape 11"/>
          <p:cNvSpPr/>
          <p:nvPr/>
        </p:nvSpPr>
        <p:spPr>
          <a:xfrm>
            <a:off x="8046720" y="2148840"/>
            <a:ext cx="3474720" cy="1572768"/>
          </a:xfrm>
          <a:prstGeom prst="roundRect">
            <a:avLst>
              <a:gd name="adj" fmla="val 4651"/>
            </a:avLst>
          </a:prstGeom>
          <a:solidFill>
            <a:srgbClr val="F3F5F7"/>
          </a:solidFill>
          <a:ln w="12700">
            <a:solidFill>
              <a:srgbClr val="333333"/>
            </a:solidFill>
            <a:prstDash val="solid"/>
          </a:ln>
        </p:spPr>
      </p:sp>
      <p:sp>
        <p:nvSpPr>
          <p:cNvPr id="14" name="Text 12"/>
          <p:cNvSpPr txBox="1"/>
          <p:nvPr/>
        </p:nvSpPr>
        <p:spPr>
          <a:xfrm>
            <a:off x="8275320" y="2313432"/>
            <a:ext cx="3017520" cy="658368"/>
          </a:xfrm>
          <a:prstGeom prst="rect">
            <a:avLst/>
          </a:prstGeom>
          <a:noFill/>
          <a:ln/>
        </p:spPr>
        <p:txBody>
          <a:bodyPr wrap="square" lIns="0" tIns="0" rIns="0" bIns="0" rtlCol="0" anchor="ctr"/>
          <a:lstStyle/>
          <a:p>
            <a:pPr indent="0" marL="0">
              <a:buNone/>
            </a:pPr>
            <a:r>
              <a:rPr lang="en-US" sz="3400" b="1" dirty="0">
                <a:solidFill>
                  <a:srgbClr val="C07A1B"/>
                </a:solidFill>
                <a:latin typeface="Cambria" pitchFamily="34" charset="0"/>
                <a:ea typeface="Cambria" pitchFamily="34" charset="-122"/>
                <a:cs typeface="Cambria" pitchFamily="34" charset="-120"/>
              </a:rPr>
              <a:t>59.6%</a:t>
            </a:r>
            <a:endParaRPr lang="en-US" sz="3400" dirty="0"/>
          </a:p>
        </p:txBody>
      </p:sp>
      <p:sp>
        <p:nvSpPr>
          <p:cNvPr id="15" name="Text 13"/>
          <p:cNvSpPr txBox="1"/>
          <p:nvPr/>
        </p:nvSpPr>
        <p:spPr>
          <a:xfrm>
            <a:off x="8275320" y="2990088"/>
            <a:ext cx="3017520" cy="274320"/>
          </a:xfrm>
          <a:prstGeom prst="rect">
            <a:avLst/>
          </a:prstGeom>
          <a:noFill/>
          <a:ln/>
        </p:spPr>
        <p:txBody>
          <a:bodyPr wrap="square" lIns="0" tIns="0" rIns="0" bIns="0" rtlCol="0" anchor="ctr"/>
          <a:lstStyle/>
          <a:p>
            <a:pPr indent="0" marL="0">
              <a:buNone/>
            </a:pPr>
            <a:r>
              <a:rPr lang="en-US" sz="1200" b="1" dirty="0">
                <a:solidFill>
                  <a:srgbClr val="17232F"/>
                </a:solidFill>
                <a:latin typeface="Calibri" pitchFamily="34" charset="0"/>
                <a:ea typeface="Calibri" pitchFamily="34" charset="-122"/>
                <a:cs typeface="Calibri" pitchFamily="34" charset="-120"/>
              </a:rPr>
              <a:t>of attrs mutants fell back</a:t>
            </a:r>
            <a:endParaRPr lang="en-US" sz="1200" dirty="0"/>
          </a:p>
        </p:txBody>
      </p:sp>
      <p:sp>
        <p:nvSpPr>
          <p:cNvPr id="16" name="Text 14"/>
          <p:cNvSpPr txBox="1"/>
          <p:nvPr/>
        </p:nvSpPr>
        <p:spPr>
          <a:xfrm>
            <a:off x="8275320" y="3264408"/>
            <a:ext cx="3017520" cy="365760"/>
          </a:xfrm>
          <a:prstGeom prst="rect">
            <a:avLst/>
          </a:prstGeom>
          <a:noFill/>
          <a:ln/>
        </p:spPr>
        <p:txBody>
          <a:bodyPr wrap="square" lIns="0" tIns="0" rIns="0" bIns="0" rtlCol="0" anchor="ctr"/>
          <a:lstStyle/>
          <a:p>
            <a:pPr indent="0" marL="0">
              <a:buNone/>
            </a:pPr>
            <a:r>
              <a:rPr lang="en-US" sz="1000" dirty="0">
                <a:solidFill>
                  <a:srgbClr val="62727F"/>
                </a:solidFill>
                <a:latin typeface="Calibri" pitchFamily="34" charset="0"/>
                <a:ea typeface="Calibri" pitchFamily="34" charset="-122"/>
                <a:cs typeface="Calibri" pitchFamily="34" charset="-120"/>
              </a:rPr>
              <a:t>50% on scrapy — all IMPORT_TIME_LINE</a:t>
            </a:r>
            <a:endParaRPr lang="en-US" sz="1000" dirty="0"/>
          </a:p>
        </p:txBody>
      </p:sp>
      <p:graphicFrame>
        <p:nvGraphicFramePr>
          <p:cNvPr id="17" name="Chart 0" descr=""/>
          <p:cNvGraphicFramePr/>
          <p:nvPr/>
        </p:nvGraphicFramePr>
        <p:xfrm>
          <a:off x="640080" y="3931920"/>
          <a:ext cx="6675120" cy="2148840"/>
        </p:xfrm>
        <a:graphic xmlns:a="http://schemas.openxmlformats.org/drawingml/2006/main">
          <a:graphicData uri="http://schemas.openxmlformats.org/drawingml/2006/chart">
            <c:chart xmlns:c="http://schemas.openxmlformats.org/drawingml/2006/chart" r:id="rId1"/>
          </a:graphicData>
        </a:graphic>
      </p:graphicFrame>
      <p:sp>
        <p:nvSpPr>
          <p:cNvPr id="18" name="Text 15"/>
          <p:cNvSpPr txBox="1"/>
          <p:nvPr/>
        </p:nvSpPr>
        <p:spPr>
          <a:xfrm>
            <a:off x="7635240" y="3977640"/>
            <a:ext cx="3931920" cy="292608"/>
          </a:xfrm>
          <a:prstGeom prst="rect">
            <a:avLst/>
          </a:prstGeom>
          <a:noFill/>
          <a:ln/>
        </p:spPr>
        <p:txBody>
          <a:bodyPr wrap="square" lIns="0" tIns="0" rIns="0" bIns="0" rtlCol="0" anchor="ctr"/>
          <a:lstStyle/>
          <a:p>
            <a:pPr indent="0" marL="0">
              <a:buNone/>
            </a:pPr>
            <a:r>
              <a:rPr lang="en-US" sz="1200" b="1" dirty="0">
                <a:solidFill>
                  <a:srgbClr val="17232F"/>
                </a:solidFill>
                <a:latin typeface="Calibri" pitchFamily="34" charset="0"/>
                <a:ea typeface="Calibri" pitchFamily="34" charset="-122"/>
                <a:cs typeface="Calibri" pitchFamily="34" charset="-120"/>
              </a:rPr>
              <a:t>Read the two together</a:t>
            </a:r>
            <a:endParaRPr lang="en-US" sz="1200" dirty="0"/>
          </a:p>
        </p:txBody>
      </p:sp>
      <p:sp>
        <p:nvSpPr>
          <p:cNvPr id="19" name="Text 16"/>
          <p:cNvSpPr txBox="1"/>
          <p:nvPr/>
        </p:nvSpPr>
        <p:spPr>
          <a:xfrm>
            <a:off x="7635240" y="4297680"/>
            <a:ext cx="3931920" cy="1554480"/>
          </a:xfrm>
          <a:prstGeom prst="rect">
            <a:avLst/>
          </a:prstGeom>
          <a:noFill/>
          <a:ln/>
        </p:spPr>
        <p:txBody>
          <a:bodyPr wrap="square" lIns="0" tIns="0" rIns="0" bIns="0" rtlCol="0" anchor="ctr"/>
          <a:lstStyle/>
          <a:p>
            <a:pPr indent="0" marL="0">
              <a:lnSpc>
                <a:spcPts val="1800"/>
              </a:lnSpc>
              <a:buNone/>
            </a:pPr>
            <a:r>
              <a:rPr lang="en-US" sz="1200" dirty="0">
                <a:solidFill>
                  <a:srgbClr val="17232F"/>
                </a:solidFill>
                <a:latin typeface="Calibri" pitchFamily="34" charset="0"/>
                <a:ea typeface="Calibri" pitchFamily="34" charset="-122"/>
                <a:cs typeface="Calibri" pitchFamily="34" charset="-120"/>
              </a:rPr>
              <a:t>Zero misses is the result that matters. It is bought by giving up line-level selection on roughly 60% of changes — where tia is no faster than simply running everything. Both numbers are published; neither is an appendix.</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7232F"/>
        </a:solidFill>
      </p:bgPr>
    </p:bg>
    <p:spTree>
      <p:nvGrpSpPr>
        <p:cNvPr id="1" name=""/>
        <p:cNvGrpSpPr/>
        <p:nvPr/>
      </p:nvGrpSpPr>
      <p:grpSpPr>
        <a:xfrm>
          <a:off x="0" y="0"/>
          <a:ext cx="0" cy="0"/>
          <a:chOff x="0" y="0"/>
          <a:chExt cx="0" cy="0"/>
        </a:xfrm>
      </p:grpSpPr>
      <p:sp>
        <p:nvSpPr>
          <p:cNvPr id="2" name="Text 0"/>
          <p:cNvSpPr txBox="1"/>
          <p:nvPr/>
        </p:nvSpPr>
        <p:spPr>
          <a:xfrm>
            <a:off x="640080" y="384048"/>
            <a:ext cx="10881360" cy="256032"/>
          </a:xfrm>
          <a:prstGeom prst="rect">
            <a:avLst/>
          </a:prstGeom>
          <a:noFill/>
          <a:ln/>
        </p:spPr>
        <p:txBody>
          <a:bodyPr wrap="square" lIns="0" tIns="0" rIns="0" bIns="0" rtlCol="0" anchor="ctr"/>
          <a:lstStyle/>
          <a:p>
            <a:pPr indent="0" marL="0">
              <a:buNone/>
            </a:pPr>
            <a:r>
              <a:rPr lang="en-US" sz="1100" b="1" spc="200" kern="0" dirty="0">
                <a:solidFill>
                  <a:srgbClr val="C07A1B"/>
                </a:solidFill>
                <a:latin typeface="Calibri" pitchFamily="34" charset="0"/>
                <a:ea typeface="Calibri" pitchFamily="34" charset="-122"/>
                <a:cs typeface="Calibri" pitchFamily="34" charset="-120"/>
              </a:rPr>
              <a:t>AND THIS IS WHY IT EXISTS</a:t>
            </a:r>
            <a:endParaRPr lang="en-US" sz="1100" dirty="0"/>
          </a:p>
        </p:txBody>
      </p:sp>
      <p:sp>
        <p:nvSpPr>
          <p:cNvPr id="3" name="Text 1"/>
          <p:cNvSpPr txBox="1"/>
          <p:nvPr/>
        </p:nvSpPr>
        <p:spPr>
          <a:xfrm>
            <a:off x="640080" y="658368"/>
            <a:ext cx="10881360" cy="77724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The harness found a real miss</a:t>
            </a:r>
            <a:endParaRPr lang="en-US" sz="3400" dirty="0"/>
          </a:p>
        </p:txBody>
      </p:sp>
      <p:sp>
        <p:nvSpPr>
          <p:cNvPr id="4" name="Text 2"/>
          <p:cNvSpPr txBox="1"/>
          <p:nvPr/>
        </p:nvSpPr>
        <p:spPr>
          <a:xfrm>
            <a:off x="640080" y="1645920"/>
            <a:ext cx="5943600" cy="2651760"/>
          </a:xfrm>
          <a:prstGeom prst="rect">
            <a:avLst/>
          </a:prstGeom>
          <a:noFill/>
          <a:ln/>
        </p:spPr>
        <p:txBody>
          <a:bodyPr wrap="square" lIns="0" tIns="0" rIns="0" bIns="0" rtlCol="0" anchor="ctr"/>
          <a:lstStyle/>
          <a:p>
            <a:pPr indent="0" marL="0">
              <a:lnSpc>
                <a:spcPts val="2000"/>
              </a:lnSpc>
              <a:spcAft>
                <a:spcPts val="1000"/>
              </a:spcAft>
              <a:buNone/>
            </a:pPr>
            <a:r>
              <a:rPr lang="en-US" sz="1300" b="1" dirty="0">
                <a:solidFill>
                  <a:srgbClr val="FFFFFF"/>
                </a:solidFill>
                <a:latin typeface="Calibri" pitchFamily="34" charset="0"/>
                <a:ea typeface="Calibri" pitchFamily="34" charset="-122"/>
                <a:cs typeface="Calibri" pitchFamily="34" charset="-120"/>
              </a:rPr>
              <a:t>First run on attrs: 1 miss in 46 non-equivalent mutants.</a:t>
            </a:r>
            <a:endParaRPr lang="en-US" sz="1300" dirty="0"/>
          </a:p>
          <a:p>
            <a:pPr indent="0" marL="0">
              <a:lnSpc>
                <a:spcPts val="2000"/>
              </a:lnSpc>
              <a:spcAft>
                <a:spcPts val="1000"/>
              </a:spcAft>
              <a:buNone/>
            </a:pPr>
            <a:r>
              <a:rPr lang="en-US" sz="1300" dirty="0">
                <a:solidFill>
                  <a:srgbClr val="CFDAE3"/>
                </a:solidFill>
                <a:latin typeface="Calibri" pitchFamily="34" charset="0"/>
                <a:ea typeface="Calibri" pitchFamily="34" charset="-122"/>
                <a:cs typeface="Calibri" pitchFamily="34" charset="-120"/>
              </a:rPr>
              <a:t>The mutant forced `if ge is not None:` to `if True:` in src/attr/_cmp.py:88. The full suite caught it — six failures. tia selected two tests, and neither was among them.</a:t>
            </a:r>
            <a:endParaRPr lang="en-US" sz="1300" dirty="0"/>
          </a:p>
          <a:p>
            <a:pPr indent="0" marL="0">
              <a:lnSpc>
                <a:spcPts val="2000"/>
              </a:lnSpc>
              <a:buNone/>
            </a:pPr>
            <a:r>
              <a:rPr lang="en-US" sz="1300" dirty="0">
                <a:solidFill>
                  <a:srgbClr val="CFDAE3"/>
                </a:solidFill>
                <a:latin typeface="Calibri" pitchFamily="34" charset="0"/>
                <a:ea typeface="Calibri" pitchFamily="34" charset="-122"/>
                <a:cs typeface="Calibri" pitchFamily="34" charset="-120"/>
              </a:rPr>
              <a:t>Root cause: tests/test_cmp.py calls cmp_using() at module level, so line 88 runs during collection. Coverage attributes import-time execution to no test at all. The six tests that depended on that line never appeared as covering it.</a:t>
            </a:r>
            <a:endParaRPr lang="en-US" sz="1300" dirty="0"/>
          </a:p>
        </p:txBody>
      </p:sp>
      <p:sp>
        <p:nvSpPr>
          <p:cNvPr id="5" name="Shape 3"/>
          <p:cNvSpPr/>
          <p:nvPr/>
        </p:nvSpPr>
        <p:spPr>
          <a:xfrm>
            <a:off x="6903720" y="1645920"/>
            <a:ext cx="4617720" cy="2331720"/>
          </a:xfrm>
          <a:prstGeom prst="roundRect">
            <a:avLst>
              <a:gd name="adj" fmla="val 2353"/>
            </a:avLst>
          </a:prstGeom>
          <a:solidFill>
            <a:srgbClr val="0E1721"/>
          </a:solidFill>
          <a:ln w="12700">
            <a:solidFill>
              <a:srgbClr val="333333"/>
            </a:solidFill>
            <a:prstDash val="solid"/>
          </a:ln>
        </p:spPr>
      </p:sp>
      <p:sp>
        <p:nvSpPr>
          <p:cNvPr id="6" name="Text 4"/>
          <p:cNvSpPr txBox="1"/>
          <p:nvPr/>
        </p:nvSpPr>
        <p:spPr>
          <a:xfrm>
            <a:off x="7178040" y="1828800"/>
            <a:ext cx="4114800" cy="2011680"/>
          </a:xfrm>
          <a:prstGeom prst="rect">
            <a:avLst/>
          </a:prstGeom>
          <a:noFill/>
          <a:ln/>
        </p:spPr>
        <p:txBody>
          <a:bodyPr wrap="square" lIns="0" tIns="0" rIns="0" bIns="0" rtlCol="0" anchor="ctr"/>
          <a:lstStyle/>
          <a:p>
            <a:pPr indent="0" marL="0">
              <a:lnSpc>
                <a:spcPts val="1600"/>
              </a:lnSpc>
              <a:buNone/>
            </a:pPr>
            <a:r>
              <a:rPr lang="en-US" sz="1100" dirty="0">
                <a:solidFill>
                  <a:srgbClr val="2E7D62"/>
                </a:solidFill>
                <a:latin typeface="Courier New" pitchFamily="34" charset="0"/>
                <a:ea typeface="Courier New" pitchFamily="34" charset="-122"/>
                <a:cs typeface="Courier New" pitchFamily="34" charset="-120"/>
              </a:rPr>
              <a:t>$ tia explain src/attr/_cmp.py:88</a:t>
            </a:r>
            <a:endParaRPr lang="en-US" sz="1100" dirty="0"/>
          </a:p>
          <a:p>
            <a:pPr indent="0" marL="0">
              <a:lnSpc>
                <a:spcPts val="1600"/>
              </a:lnSpc>
              <a:buNone/>
            </a:pPr>
            <a:endParaRPr lang="en-US" sz="1100" dirty="0"/>
          </a:p>
          <a:p>
            <a:pPr indent="0" marL="0">
              <a:lnSpc>
                <a:spcPts val="1600"/>
              </a:lnSpc>
              <a:buNone/>
            </a:pPr>
            <a:r>
              <a:rPr lang="en-US" sz="1100" dirty="0">
                <a:solidFill>
                  <a:srgbClr val="FFFFFF"/>
                </a:solidFill>
                <a:latin typeface="Courier New" pitchFamily="34" charset="0"/>
                <a:ea typeface="Courier New" pitchFamily="34" charset="-122"/>
                <a:cs typeface="Courier New" pitchFamily="34" charset="-120"/>
              </a:rPr>
              <a:t>2 tests executed this line:</a:t>
            </a:r>
            <a:endParaRPr lang="en-US" sz="1100" dirty="0"/>
          </a:p>
          <a:p>
            <a:pPr indent="0" marL="0">
              <a:lnSpc>
                <a:spcPts val="1600"/>
              </a:lnSpc>
              <a:buNone/>
            </a:pPr>
            <a:r>
              <a:rPr lang="en-US" sz="1100" dirty="0">
                <a:solidFill>
                  <a:srgbClr val="9FB3C2"/>
                </a:solidFill>
                <a:latin typeface="Courier New" pitchFamily="34" charset="0"/>
                <a:ea typeface="Courier New" pitchFamily="34" charset="-122"/>
                <a:cs typeface="Courier New" pitchFamily="34" charset="-120"/>
              </a:rPr>
              <a:t>  TestNotImplementedIsPropagated</a:t>
            </a:r>
            <a:endParaRPr lang="en-US" sz="1100" dirty="0"/>
          </a:p>
          <a:p>
            <a:pPr indent="0" marL="0">
              <a:lnSpc>
                <a:spcPts val="1600"/>
              </a:lnSpc>
              <a:buNone/>
            </a:pPr>
            <a:r>
              <a:rPr lang="en-US" sz="1100" dirty="0">
                <a:solidFill>
                  <a:srgbClr val="9FB3C2"/>
                </a:solidFill>
                <a:latin typeface="Courier New" pitchFamily="34" charset="0"/>
                <a:ea typeface="Courier New" pitchFamily="34" charset="-122"/>
                <a:cs typeface="Courier New" pitchFamily="34" charset="-120"/>
              </a:rPr>
              <a:t>  TestTotalOrderingException</a:t>
            </a:r>
            <a:endParaRPr lang="en-US" sz="1100" dirty="0"/>
          </a:p>
          <a:p>
            <a:pPr indent="0" marL="0">
              <a:lnSpc>
                <a:spcPts val="1600"/>
              </a:lnSpc>
              <a:buNone/>
            </a:pPr>
            <a:endParaRPr lang="en-US" sz="1100" dirty="0"/>
          </a:p>
          <a:p>
            <a:pPr indent="0" marL="0">
              <a:lnSpc>
                <a:spcPts val="1600"/>
              </a:lnSpc>
              <a:buNone/>
            </a:pPr>
            <a:r>
              <a:rPr lang="en-US" sz="1100" b="1" dirty="0">
                <a:solidFill>
                  <a:srgbClr val="D1453B"/>
                </a:solidFill>
                <a:latin typeface="Courier New" pitchFamily="34" charset="0"/>
                <a:ea typeface="Courier New" pitchFamily="34" charset="-122"/>
                <a:cs typeface="Courier New" pitchFamily="34" charset="-120"/>
              </a:rPr>
              <a:t>6 tests actually failed.</a:t>
            </a:r>
            <a:endParaRPr lang="en-US" sz="1100" dirty="0"/>
          </a:p>
        </p:txBody>
      </p:sp>
      <p:sp>
        <p:nvSpPr>
          <p:cNvPr id="7" name="Shape 5"/>
          <p:cNvSpPr/>
          <p:nvPr/>
        </p:nvSpPr>
        <p:spPr>
          <a:xfrm>
            <a:off x="640080" y="4480560"/>
            <a:ext cx="10881360" cy="1371600"/>
          </a:xfrm>
          <a:prstGeom prst="roundRect">
            <a:avLst>
              <a:gd name="adj" fmla="val 5333"/>
            </a:avLst>
          </a:prstGeom>
          <a:solidFill>
            <a:srgbClr val="223141"/>
          </a:solidFill>
          <a:ln w="12700">
            <a:solidFill>
              <a:srgbClr val="333333"/>
            </a:solidFill>
            <a:prstDash val="solid"/>
          </a:ln>
        </p:spPr>
      </p:sp>
      <p:sp>
        <p:nvSpPr>
          <p:cNvPr id="8" name="Text 6"/>
          <p:cNvSpPr txBox="1"/>
          <p:nvPr/>
        </p:nvSpPr>
        <p:spPr>
          <a:xfrm>
            <a:off x="960120" y="4617720"/>
            <a:ext cx="10241280" cy="292608"/>
          </a:xfrm>
          <a:prstGeom prst="rect">
            <a:avLst/>
          </a:prstGeom>
          <a:noFill/>
          <a:ln/>
        </p:spPr>
        <p:txBody>
          <a:bodyPr wrap="square" lIns="0" tIns="0" rIns="0" bIns="0" rtlCol="0" anchor="ctr"/>
          <a:lstStyle/>
          <a:p>
            <a:pPr indent="0" marL="0">
              <a:buNone/>
            </a:pPr>
            <a:r>
              <a:rPr lang="en-US" sz="1200" b="1" dirty="0">
                <a:solidFill>
                  <a:srgbClr val="C07A1B"/>
                </a:solidFill>
                <a:latin typeface="Calibri" pitchFamily="34" charset="0"/>
                <a:ea typeface="Calibri" pitchFamily="34" charset="-122"/>
                <a:cs typeface="Calibri" pitchFamily="34" charset="-120"/>
              </a:rPr>
              <a:t>The fix, and the honesty it demands</a:t>
            </a:r>
            <a:endParaRPr lang="en-US" sz="1200" dirty="0"/>
          </a:p>
        </p:txBody>
      </p:sp>
      <p:sp>
        <p:nvSpPr>
          <p:cNvPr id="9" name="Text 7"/>
          <p:cNvSpPr txBox="1"/>
          <p:nvPr/>
        </p:nvSpPr>
        <p:spPr>
          <a:xfrm>
            <a:off x="960120" y="4919472"/>
            <a:ext cx="10241280" cy="822960"/>
          </a:xfrm>
          <a:prstGeom prst="rect">
            <a:avLst/>
          </a:prstGeom>
          <a:noFill/>
          <a:ln/>
        </p:spPr>
        <p:txBody>
          <a:bodyPr wrap="square" lIns="0" tIns="0" rIns="0" bIns="0" rtlCol="0" anchor="ctr"/>
          <a:lstStyle/>
          <a:p>
            <a:pPr indent="0" marL="0">
              <a:lnSpc>
                <a:spcPts val="1900"/>
              </a:lnSpc>
              <a:buNone/>
            </a:pPr>
            <a:r>
              <a:rPr lang="en-US" sz="1300" dirty="0">
                <a:solidFill>
                  <a:srgbClr val="FFFFFF"/>
                </a:solidFill>
                <a:latin typeface="Calibri" pitchFamily="34" charset="0"/>
                <a:ea typeface="Calibri" pitchFamily="34" charset="-122"/>
                <a:cs typeface="Calibri" pitchFamily="34" charset="-120"/>
              </a:rPr>
              <a:t>The map now records import-time lines separately, and any change touching one falls back. Re-run at the same seed: 0 misses in 47 — and the fallback rate jumped to 59.6%. The rule is correct and expensive. We report both.</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640080" y="384048"/>
            <a:ext cx="10881360" cy="256032"/>
          </a:xfrm>
          <a:prstGeom prst="rect">
            <a:avLst/>
          </a:prstGeom>
          <a:noFill/>
          <a:ln/>
        </p:spPr>
        <p:txBody>
          <a:bodyPr wrap="square" lIns="0" tIns="0" rIns="0" bIns="0" rtlCol="0" anchor="ctr"/>
          <a:lstStyle/>
          <a:p>
            <a:pPr indent="0" marL="0">
              <a:buNone/>
            </a:pPr>
            <a:r>
              <a:rPr lang="en-US" sz="1100" b="1" spc="200" kern="0" dirty="0">
                <a:solidFill>
                  <a:srgbClr val="62727F"/>
                </a:solidFill>
                <a:latin typeface="Calibri" pitchFamily="34" charset="0"/>
                <a:ea typeface="Calibri" pitchFamily="34" charset="-122"/>
                <a:cs typeface="Calibri" pitchFamily="34" charset="-120"/>
              </a:rPr>
              <a:t>FALLBACK FREQUENCY</a:t>
            </a:r>
            <a:endParaRPr lang="en-US" sz="1100" dirty="0"/>
          </a:p>
        </p:txBody>
      </p:sp>
      <p:sp>
        <p:nvSpPr>
          <p:cNvPr id="3" name="Text 1"/>
          <p:cNvSpPr txBox="1"/>
          <p:nvPr/>
        </p:nvSpPr>
        <p:spPr>
          <a:xfrm>
            <a:off x="640080" y="658368"/>
            <a:ext cx="10881360" cy="777240"/>
          </a:xfrm>
          <a:prstGeom prst="rect">
            <a:avLst/>
          </a:prstGeom>
          <a:noFill/>
          <a:ln/>
        </p:spPr>
        <p:txBody>
          <a:bodyPr wrap="square" lIns="0" tIns="0" rIns="0" bIns="0" rtlCol="0" anchor="ctr"/>
          <a:lstStyle/>
          <a:p>
            <a:pPr indent="0" marL="0">
              <a:buNone/>
            </a:pPr>
            <a:r>
              <a:rPr lang="en-US" sz="3400" b="1" dirty="0">
                <a:solidFill>
                  <a:srgbClr val="17232F"/>
                </a:solidFill>
                <a:latin typeface="Cambria" pitchFamily="34" charset="0"/>
                <a:ea typeface="Cambria" pitchFamily="34" charset="-122"/>
                <a:cs typeface="Cambria" pitchFamily="34" charset="-120"/>
              </a:rPr>
              <a:t>The honest cost, and what fixes it</a:t>
            </a:r>
            <a:endParaRPr lang="en-US" sz="3400" dirty="0"/>
          </a:p>
        </p:txBody>
      </p:sp>
      <p:sp>
        <p:nvSpPr>
          <p:cNvPr id="4" name="Text 2"/>
          <p:cNvSpPr txBox="1"/>
          <p:nvPr/>
        </p:nvSpPr>
        <p:spPr>
          <a:xfrm>
            <a:off x="640080" y="1572768"/>
            <a:ext cx="10881360" cy="502920"/>
          </a:xfrm>
          <a:prstGeom prst="rect">
            <a:avLst/>
          </a:prstGeom>
          <a:noFill/>
          <a:ln/>
        </p:spPr>
        <p:txBody>
          <a:bodyPr wrap="square" lIns="0" tIns="0" rIns="0" bIns="0" rtlCol="0" anchor="ctr"/>
          <a:lstStyle/>
          <a:p>
            <a:pPr indent="0" marL="0">
              <a:buNone/>
            </a:pPr>
            <a:r>
              <a:rPr lang="en-US" sz="1300" dirty="0">
                <a:solidFill>
                  <a:srgbClr val="62727F"/>
                </a:solidFill>
                <a:latin typeface="Calibri" pitchFamily="34" charset="0"/>
                <a:ea typeface="Calibri" pitchFamily="34" charset="-122"/>
                <a:cs typeface="Calibri" pitchFamily="34" charset="-120"/>
              </a:rPr>
              <a:t>Fallback is designed behaviour, so it is published as a headline result rather than hidden. On attrs, 28 of 47 mutants abandoned selection — every one of them for the same reason.</a:t>
            </a:r>
            <a:endParaRPr lang="en-US" sz="1300" dirty="0"/>
          </a:p>
        </p:txBody>
      </p:sp>
      <p:graphicFrame>
        <p:nvGraphicFramePr>
          <p:cNvPr id="5" name="Chart 0" descr=""/>
          <p:cNvGraphicFramePr/>
          <p:nvPr/>
        </p:nvGraphicFramePr>
        <p:xfrm>
          <a:off x="640080" y="2148840"/>
          <a:ext cx="4754880" cy="3108960"/>
        </p:xfrm>
        <a:graphic xmlns:a="http://schemas.openxmlformats.org/drawingml/2006/main">
          <a:graphicData uri="http://schemas.openxmlformats.org/drawingml/2006/chart">
            <c:chart xmlns:c="http://schemas.openxmlformats.org/drawingml/2006/chart" r:id="rId1"/>
          </a:graphicData>
        </a:graphic>
      </p:graphicFrame>
      <p:sp>
        <p:nvSpPr>
          <p:cNvPr id="6" name="Text 3"/>
          <p:cNvSpPr txBox="1"/>
          <p:nvPr/>
        </p:nvSpPr>
        <p:spPr>
          <a:xfrm>
            <a:off x="5760720" y="2194560"/>
            <a:ext cx="5760720" cy="292608"/>
          </a:xfrm>
          <a:prstGeom prst="rect">
            <a:avLst/>
          </a:prstGeom>
          <a:noFill/>
          <a:ln/>
        </p:spPr>
        <p:txBody>
          <a:bodyPr wrap="square" lIns="0" tIns="0" rIns="0" bIns="0" rtlCol="0" anchor="ctr"/>
          <a:lstStyle/>
          <a:p>
            <a:pPr indent="0" marL="0">
              <a:buNone/>
            </a:pPr>
            <a:r>
              <a:rPr lang="en-US" sz="1300" b="1" dirty="0">
                <a:solidFill>
                  <a:srgbClr val="17232F"/>
                </a:solidFill>
                <a:latin typeface="Calibri" pitchFamily="34" charset="0"/>
                <a:ea typeface="Calibri" pitchFamily="34" charset="-122"/>
                <a:cs typeface="Calibri" pitchFamily="34" charset="-120"/>
              </a:rPr>
              <a:t>What it means</a:t>
            </a:r>
            <a:endParaRPr lang="en-US" sz="1300" dirty="0"/>
          </a:p>
        </p:txBody>
      </p:sp>
      <p:sp>
        <p:nvSpPr>
          <p:cNvPr id="7" name="Text 4"/>
          <p:cNvSpPr txBox="1"/>
          <p:nvPr/>
        </p:nvSpPr>
        <p:spPr>
          <a:xfrm>
            <a:off x="5760720" y="2560320"/>
            <a:ext cx="5760720" cy="3017520"/>
          </a:xfrm>
          <a:prstGeom prst="rect">
            <a:avLst/>
          </a:prstGeom>
          <a:noFill/>
          <a:ln/>
        </p:spPr>
        <p:txBody>
          <a:bodyPr wrap="square" lIns="0" tIns="0" rIns="0" bIns="0" rtlCol="0" anchor="ctr"/>
          <a:lstStyle/>
          <a:p>
            <a:pPr marL="342900" indent="-342900">
              <a:lnSpc>
                <a:spcPts val="1900"/>
              </a:lnSpc>
              <a:spcAft>
                <a:spcPts val="900"/>
              </a:spcAft>
              <a:buSzPct val="100000"/>
              <a:buChar char="•"/>
            </a:pPr>
            <a:r>
              <a:rPr lang="en-US" sz="1250" dirty="0">
                <a:solidFill>
                  <a:srgbClr val="17232F"/>
                </a:solidFill>
                <a:latin typeface="Calibri" pitchFamily="34" charset="0"/>
                <a:ea typeface="Calibri" pitchFamily="34" charset="-122"/>
                <a:cs typeface="Calibri" pitchFamily="34" charset="-120"/>
              </a:rPr>
              <a:t>On roughly 60% of changes to attrs, tia runs the whole suite — it is safe, and it is no faster than not using it.</a:t>
            </a:r>
            <a:endParaRPr lang="en-US" sz="1250" dirty="0"/>
          </a:p>
          <a:p>
            <a:pPr marL="342900" indent="-342900">
              <a:lnSpc>
                <a:spcPts val="1900"/>
              </a:lnSpc>
              <a:spcAft>
                <a:spcPts val="900"/>
              </a:spcAft>
              <a:buSzPct val="100000"/>
              <a:buChar char="•"/>
            </a:pPr>
            <a:r>
              <a:rPr lang="en-US" sz="1250" dirty="0">
                <a:solidFill>
                  <a:srgbClr val="17232F"/>
                </a:solidFill>
                <a:latin typeface="Calibri" pitchFamily="34" charset="0"/>
                <a:ea typeface="Calibri" pitchFamily="34" charset="-122"/>
                <a:cs typeface="Calibri" pitchFamily="34" charset="-120"/>
              </a:rPr>
              <a:t>Every one of those fallbacks is IMPORT_TIME_LINE: a changed line that also ran during import, which coverage cannot attribute to any test.</a:t>
            </a:r>
            <a:endParaRPr lang="en-US" sz="1250" dirty="0"/>
          </a:p>
          <a:p>
            <a:pPr marL="342900" indent="-342900">
              <a:lnSpc>
                <a:spcPts val="1900"/>
              </a:lnSpc>
              <a:spcAft>
                <a:spcPts val="900"/>
              </a:spcAft>
              <a:buSzPct val="100000"/>
              <a:buChar char="•"/>
            </a:pPr>
            <a:r>
              <a:rPr lang="en-US" sz="1250" dirty="0">
                <a:solidFill>
                  <a:srgbClr val="17232F"/>
                </a:solidFill>
                <a:latin typeface="Calibri" pitchFamily="34" charset="0"/>
                <a:ea typeface="Calibri" pitchFamily="34" charset="-122"/>
                <a:cs typeface="Calibri" pitchFamily="34" charset="-120"/>
              </a:rPr>
              <a:t>This is not a bug to hide. It is the measured price of the rule that removed our only known miss.</a:t>
            </a:r>
            <a:endParaRPr lang="en-US" sz="1250" dirty="0"/>
          </a:p>
          <a:p>
            <a:pPr marL="342900" indent="-342900">
              <a:lnSpc>
                <a:spcPts val="1900"/>
              </a:lnSpc>
              <a:spcAft>
                <a:spcPts val="900"/>
              </a:spcAft>
              <a:buSzPct val="100000"/>
              <a:buChar char="•"/>
            </a:pPr>
            <a:r>
              <a:rPr lang="en-US" sz="1250" dirty="0">
                <a:solidFill>
                  <a:srgbClr val="17232F"/>
                </a:solidFill>
                <a:latin typeface="Calibri" pitchFamily="34" charset="0"/>
                <a:ea typeface="Calibri" pitchFamily="34" charset="-122"/>
                <a:cs typeface="Calibri" pitchFamily="34" charset="-120"/>
              </a:rPr>
              <a:t>It also reframes Phase 2: the import graph is not an enhancement, it is what makes the safe version worth running. It can name the modules that imported a file and select their tests, instead of surrendering to the full suite.</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640080" y="384048"/>
            <a:ext cx="10881360" cy="256032"/>
          </a:xfrm>
          <a:prstGeom prst="rect">
            <a:avLst/>
          </a:prstGeom>
          <a:noFill/>
          <a:ln/>
        </p:spPr>
        <p:txBody>
          <a:bodyPr wrap="square" lIns="0" tIns="0" rIns="0" bIns="0" rtlCol="0" anchor="ctr"/>
          <a:lstStyle/>
          <a:p>
            <a:pPr indent="0" marL="0">
              <a:buNone/>
            </a:pPr>
            <a:r>
              <a:rPr lang="en-US" sz="1100" b="1" spc="200" kern="0" dirty="0">
                <a:solidFill>
                  <a:srgbClr val="62727F"/>
                </a:solidFill>
                <a:latin typeface="Calibri" pitchFamily="34" charset="0"/>
                <a:ea typeface="Calibri" pitchFamily="34" charset="-122"/>
                <a:cs typeface="Calibri" pitchFamily="34" charset="-120"/>
              </a:rPr>
              <a:t>REVIEW 1 CLOSE-OUT</a:t>
            </a:r>
            <a:endParaRPr lang="en-US" sz="1100" dirty="0"/>
          </a:p>
        </p:txBody>
      </p:sp>
      <p:sp>
        <p:nvSpPr>
          <p:cNvPr id="3" name="Text 1"/>
          <p:cNvSpPr txBox="1"/>
          <p:nvPr/>
        </p:nvSpPr>
        <p:spPr>
          <a:xfrm>
            <a:off x="640080" y="658368"/>
            <a:ext cx="10881360" cy="777240"/>
          </a:xfrm>
          <a:prstGeom prst="rect">
            <a:avLst/>
          </a:prstGeom>
          <a:noFill/>
          <a:ln/>
        </p:spPr>
        <p:txBody>
          <a:bodyPr wrap="square" lIns="0" tIns="0" rIns="0" bIns="0" rtlCol="0" anchor="ctr"/>
          <a:lstStyle/>
          <a:p>
            <a:pPr indent="0" marL="0">
              <a:buNone/>
            </a:pPr>
            <a:r>
              <a:rPr lang="en-US" sz="3400" b="1" dirty="0">
                <a:solidFill>
                  <a:srgbClr val="17232F"/>
                </a:solidFill>
                <a:latin typeface="Cambria" pitchFamily="34" charset="0"/>
                <a:ea typeface="Cambria" pitchFamily="34" charset="-122"/>
                <a:cs typeface="Cambria" pitchFamily="34" charset="-120"/>
              </a:rPr>
              <a:t>Where this stands</a:t>
            </a:r>
            <a:endParaRPr lang="en-US" sz="3400" dirty="0"/>
          </a:p>
        </p:txBody>
      </p:sp>
      <p:sp>
        <p:nvSpPr>
          <p:cNvPr id="4" name="Text 2"/>
          <p:cNvSpPr txBox="1"/>
          <p:nvPr/>
        </p:nvSpPr>
        <p:spPr>
          <a:xfrm>
            <a:off x="640080" y="1645920"/>
            <a:ext cx="3291840" cy="320040"/>
          </a:xfrm>
          <a:prstGeom prst="rect">
            <a:avLst/>
          </a:prstGeom>
          <a:noFill/>
          <a:ln/>
        </p:spPr>
        <p:txBody>
          <a:bodyPr wrap="square" lIns="0" tIns="0" rIns="0" bIns="0" rtlCol="0" anchor="ctr"/>
          <a:lstStyle/>
          <a:p>
            <a:pPr indent="0" marL="0">
              <a:buNone/>
            </a:pPr>
            <a:r>
              <a:rPr lang="en-US" sz="1300" b="1" dirty="0">
                <a:solidFill>
                  <a:srgbClr val="2E7D62"/>
                </a:solidFill>
                <a:latin typeface="Calibri" pitchFamily="34" charset="0"/>
                <a:ea typeface="Calibri" pitchFamily="34" charset="-122"/>
                <a:cs typeface="Calibri" pitchFamily="34" charset="-120"/>
              </a:rPr>
              <a:t>Delivered</a:t>
            </a:r>
            <a:endParaRPr lang="en-US" sz="1300" dirty="0"/>
          </a:p>
        </p:txBody>
      </p:sp>
      <p:sp>
        <p:nvSpPr>
          <p:cNvPr id="5" name="Text 3"/>
          <p:cNvSpPr txBox="1"/>
          <p:nvPr/>
        </p:nvSpPr>
        <p:spPr>
          <a:xfrm>
            <a:off x="640080" y="2011680"/>
            <a:ext cx="3291840" cy="3017520"/>
          </a:xfrm>
          <a:prstGeom prst="rect">
            <a:avLst/>
          </a:prstGeom>
          <a:noFill/>
          <a:ln/>
        </p:spPr>
        <p:txBody>
          <a:bodyPr wrap="square" lIns="0" tIns="0" rIns="0" bIns="0" rtlCol="0" anchor="ctr"/>
          <a:lstStyle/>
          <a:p>
            <a:pPr marL="342900" indent="-342900">
              <a:lnSpc>
                <a:spcPts val="1700"/>
              </a:lnSpc>
              <a:spcAft>
                <a:spcPts val="800"/>
              </a:spcAft>
              <a:buSzPct val="100000"/>
              <a:buChar char="•"/>
            </a:pPr>
            <a:r>
              <a:rPr lang="en-US" sz="1150" dirty="0">
                <a:solidFill>
                  <a:srgbClr val="17232F"/>
                </a:solidFill>
                <a:latin typeface="Calibri" pitchFamily="34" charset="0"/>
                <a:ea typeface="Calibri" pitchFamily="34" charset="-122"/>
                <a:cs typeface="Calibri" pitchFamily="34" charset="-120"/>
              </a:rPr>
              <a:t>Installable CLI + pytest plugin, working end to end</a:t>
            </a:r>
            <a:endParaRPr lang="en-US" sz="1150" dirty="0"/>
          </a:p>
          <a:p>
            <a:pPr marL="342900" indent="-342900">
              <a:lnSpc>
                <a:spcPts val="1700"/>
              </a:lnSpc>
              <a:spcAft>
                <a:spcPts val="800"/>
              </a:spcAft>
              <a:buSzPct val="100000"/>
              <a:buChar char="•"/>
            </a:pPr>
            <a:r>
              <a:rPr lang="en-US" sz="1150" dirty="0">
                <a:solidFill>
                  <a:srgbClr val="17232F"/>
                </a:solidFill>
                <a:latin typeface="Calibri" pitchFamily="34" charset="0"/>
                <a:ea typeface="Calibri" pitchFamily="34" charset="-122"/>
                <a:cs typeface="Calibri" pitchFamily="34" charset="-120"/>
              </a:rPr>
              <a:t>Map, git diff, safety classifier, line-level selection</a:t>
            </a:r>
            <a:endParaRPr lang="en-US" sz="1150" dirty="0"/>
          </a:p>
          <a:p>
            <a:pPr marL="342900" indent="-342900">
              <a:lnSpc>
                <a:spcPts val="1700"/>
              </a:lnSpc>
              <a:spcAft>
                <a:spcPts val="800"/>
              </a:spcAft>
              <a:buSzPct val="100000"/>
              <a:buChar char="•"/>
            </a:pPr>
            <a:r>
              <a:rPr lang="en-US" sz="1150" dirty="0">
                <a:solidFill>
                  <a:srgbClr val="17232F"/>
                </a:solidFill>
                <a:latin typeface="Calibri" pitchFamily="34" charset="0"/>
                <a:ea typeface="Calibri" pitchFamily="34" charset="-122"/>
                <a:cs typeface="Calibri" pitchFamily="34" charset="-120"/>
              </a:rPr>
              <a:t>Evaluation harness: corpus, baselines, defect injection</a:t>
            </a:r>
            <a:endParaRPr lang="en-US" sz="1150" dirty="0"/>
          </a:p>
          <a:p>
            <a:pPr marL="342900" indent="-342900">
              <a:lnSpc>
                <a:spcPts val="1700"/>
              </a:lnSpc>
              <a:spcAft>
                <a:spcPts val="800"/>
              </a:spcAft>
              <a:buSzPct val="100000"/>
              <a:buChar char="•"/>
            </a:pPr>
            <a:r>
              <a:rPr lang="en-US" sz="1150" dirty="0">
                <a:solidFill>
                  <a:srgbClr val="17232F"/>
                </a:solidFill>
                <a:latin typeface="Calibri" pitchFamily="34" charset="0"/>
                <a:ea typeface="Calibri" pitchFamily="34" charset="-122"/>
                <a:cs typeface="Calibri" pitchFamily="34" charset="-120"/>
              </a:rPr>
              <a:t>Two real codebases; every figure from committed JSON</a:t>
            </a:r>
            <a:endParaRPr lang="en-US" sz="1150" dirty="0"/>
          </a:p>
          <a:p>
            <a:pPr marL="342900" indent="-342900">
              <a:lnSpc>
                <a:spcPts val="1700"/>
              </a:lnSpc>
              <a:spcAft>
                <a:spcPts val="800"/>
              </a:spcAft>
              <a:buSzPct val="100000"/>
              <a:buChar char="•"/>
            </a:pPr>
            <a:r>
              <a:rPr lang="en-US" sz="1150" dirty="0">
                <a:solidFill>
                  <a:srgbClr val="17232F"/>
                </a:solidFill>
                <a:latin typeface="Calibri" pitchFamily="34" charset="0"/>
                <a:ea typeface="Calibri" pitchFamily="34" charset="-122"/>
                <a:cs typeface="Calibri" pitchFamily="34" charset="-120"/>
              </a:rPr>
              <a:t>115 tests, mypy --strict clean, 13 commits</a:t>
            </a:r>
            <a:endParaRPr lang="en-US" sz="1150" dirty="0"/>
          </a:p>
          <a:p>
            <a:pPr marL="342900" indent="-342900">
              <a:lnSpc>
                <a:spcPts val="1700"/>
              </a:lnSpc>
              <a:spcAft>
                <a:spcPts val="800"/>
              </a:spcAft>
              <a:buSzPct val="100000"/>
              <a:buChar char="•"/>
            </a:pPr>
            <a:r>
              <a:rPr lang="en-US" sz="1150" dirty="0">
                <a:solidFill>
                  <a:srgbClr val="17232F"/>
                </a:solidFill>
                <a:latin typeface="Calibri" pitchFamily="34" charset="0"/>
                <a:ea typeface="Calibri" pitchFamily="34" charset="-122"/>
                <a:cs typeface="Calibri" pitchFamily="34" charset="-120"/>
              </a:rPr>
              <a:t>SAFETY.md, 11 dated decision records, 6-minute demo</a:t>
            </a:r>
            <a:endParaRPr lang="en-US" sz="1150" dirty="0"/>
          </a:p>
        </p:txBody>
      </p:sp>
      <p:sp>
        <p:nvSpPr>
          <p:cNvPr id="6" name="Text 4"/>
          <p:cNvSpPr txBox="1"/>
          <p:nvPr/>
        </p:nvSpPr>
        <p:spPr>
          <a:xfrm>
            <a:off x="4434840" y="1645920"/>
            <a:ext cx="3291840" cy="320040"/>
          </a:xfrm>
          <a:prstGeom prst="rect">
            <a:avLst/>
          </a:prstGeom>
          <a:noFill/>
          <a:ln/>
        </p:spPr>
        <p:txBody>
          <a:bodyPr wrap="square" lIns="0" tIns="0" rIns="0" bIns="0" rtlCol="0" anchor="ctr"/>
          <a:lstStyle/>
          <a:p>
            <a:pPr indent="0" marL="0">
              <a:buNone/>
            </a:pPr>
            <a:r>
              <a:rPr lang="en-US" sz="1300" b="1" dirty="0">
                <a:solidFill>
                  <a:srgbClr val="62727F"/>
                </a:solidFill>
                <a:latin typeface="Calibri" pitchFamily="34" charset="0"/>
                <a:ea typeface="Calibri" pitchFamily="34" charset="-122"/>
                <a:cs typeface="Calibri" pitchFamily="34" charset="-120"/>
              </a:rPr>
              <a:t>Explicitly out of scope</a:t>
            </a:r>
            <a:endParaRPr lang="en-US" sz="1300" dirty="0"/>
          </a:p>
        </p:txBody>
      </p:sp>
      <p:sp>
        <p:nvSpPr>
          <p:cNvPr id="7" name="Text 5"/>
          <p:cNvSpPr txBox="1"/>
          <p:nvPr/>
        </p:nvSpPr>
        <p:spPr>
          <a:xfrm>
            <a:off x="4434840" y="2011680"/>
            <a:ext cx="3291840" cy="3017520"/>
          </a:xfrm>
          <a:prstGeom prst="rect">
            <a:avLst/>
          </a:prstGeom>
          <a:noFill/>
          <a:ln/>
        </p:spPr>
        <p:txBody>
          <a:bodyPr wrap="square" lIns="0" tIns="0" rIns="0" bIns="0" rtlCol="0" anchor="ctr"/>
          <a:lstStyle/>
          <a:p>
            <a:pPr marL="342900" indent="-342900">
              <a:lnSpc>
                <a:spcPts val="1700"/>
              </a:lnSpc>
              <a:spcAft>
                <a:spcPts val="800"/>
              </a:spcAft>
              <a:buSzPct val="100000"/>
              <a:buChar char="•"/>
            </a:pPr>
            <a:r>
              <a:rPr lang="en-US" sz="1150" dirty="0">
                <a:solidFill>
                  <a:srgbClr val="17232F"/>
                </a:solidFill>
                <a:latin typeface="Calibri" pitchFamily="34" charset="0"/>
                <a:ea typeface="Calibri" pitchFamily="34" charset="-122"/>
                <a:cs typeface="Calibri" pitchFamily="34" charset="-120"/>
              </a:rPr>
              <a:t>Import graph for indirect dependencies (Phase 2)</a:t>
            </a:r>
            <a:endParaRPr lang="en-US" sz="1150" dirty="0"/>
          </a:p>
          <a:p>
            <a:pPr marL="342900" indent="-342900">
              <a:lnSpc>
                <a:spcPts val="1700"/>
              </a:lnSpc>
              <a:spcAft>
                <a:spcPts val="800"/>
              </a:spcAft>
              <a:buSzPct val="100000"/>
              <a:buChar char="•"/>
            </a:pPr>
            <a:r>
              <a:rPr lang="en-US" sz="1150" dirty="0">
                <a:solidFill>
                  <a:srgbClr val="17232F"/>
                </a:solidFill>
                <a:latin typeface="Calibri" pitchFamily="34" charset="0"/>
                <a:ea typeface="Calibri" pitchFamily="34" charset="-122"/>
                <a:cs typeface="Calibri" pitchFamily="34" charset="-120"/>
              </a:rPr>
              <a:t>Third corpus repository</a:t>
            </a:r>
            <a:endParaRPr lang="en-US" sz="1150" dirty="0"/>
          </a:p>
          <a:p>
            <a:pPr marL="342900" indent="-342900">
              <a:lnSpc>
                <a:spcPts val="1700"/>
              </a:lnSpc>
              <a:spcAft>
                <a:spcPts val="800"/>
              </a:spcAft>
              <a:buSzPct val="100000"/>
              <a:buChar char="•"/>
            </a:pPr>
            <a:r>
              <a:rPr lang="en-US" sz="1150" dirty="0">
                <a:solidFill>
                  <a:srgbClr val="17232F"/>
                </a:solidFill>
                <a:latin typeface="Calibri" pitchFamily="34" charset="0"/>
                <a:ea typeface="Calibri" pitchFamily="34" charset="-122"/>
                <a:cs typeface="Calibri" pitchFamily="34" charset="-120"/>
              </a:rPr>
              <a:t>PyPI publication</a:t>
            </a:r>
            <a:endParaRPr lang="en-US" sz="1150" dirty="0"/>
          </a:p>
          <a:p>
            <a:pPr marL="342900" indent="-342900">
              <a:lnSpc>
                <a:spcPts val="1700"/>
              </a:lnSpc>
              <a:spcAft>
                <a:spcPts val="800"/>
              </a:spcAft>
              <a:buSzPct val="100000"/>
              <a:buChar char="•"/>
            </a:pPr>
            <a:r>
              <a:rPr lang="en-US" sz="1150" dirty="0">
                <a:solidFill>
                  <a:srgbClr val="17232F"/>
                </a:solidFill>
                <a:latin typeface="Calibri" pitchFamily="34" charset="0"/>
                <a:ea typeface="Calibri" pitchFamily="34" charset="-122"/>
                <a:cs typeface="Calibri" pitchFamily="34" charset="-120"/>
              </a:rPr>
              <a:t>CI pipeline integration demo</a:t>
            </a:r>
            <a:endParaRPr lang="en-US" sz="1150" dirty="0"/>
          </a:p>
          <a:p>
            <a:pPr marL="342900" indent="-342900">
              <a:lnSpc>
                <a:spcPts val="1700"/>
              </a:lnSpc>
              <a:spcAft>
                <a:spcPts val="800"/>
              </a:spcAft>
              <a:buSzPct val="100000"/>
              <a:buChar char="•"/>
            </a:pPr>
            <a:r>
              <a:rPr lang="en-US" sz="1150" dirty="0">
                <a:solidFill>
                  <a:srgbClr val="17232F"/>
                </a:solidFill>
                <a:latin typeface="Calibri" pitchFamily="34" charset="0"/>
                <a:ea typeface="Calibri" pitchFamily="34" charset="-122"/>
                <a:cs typeface="Calibri" pitchFamily="34" charset="-120"/>
              </a:rPr>
              <a:t>Safety at 200+ mutants per repository</a:t>
            </a:r>
            <a:endParaRPr lang="en-US" sz="1150" dirty="0"/>
          </a:p>
          <a:p>
            <a:pPr marL="342900" indent="-342900">
              <a:lnSpc>
                <a:spcPts val="1700"/>
              </a:lnSpc>
              <a:spcAft>
                <a:spcPts val="800"/>
              </a:spcAft>
              <a:buSzPct val="100000"/>
              <a:buChar char="•"/>
            </a:pPr>
            <a:r>
              <a:rPr lang="en-US" sz="1150" dirty="0">
                <a:solidFill>
                  <a:srgbClr val="17232F"/>
                </a:solidFill>
                <a:latin typeface="Calibri" pitchFamily="34" charset="0"/>
                <a:ea typeface="Calibri" pitchFamily="34" charset="-122"/>
                <a:cs typeface="Calibri" pitchFamily="34" charset="-120"/>
              </a:rPr>
              <a:t>Incremental map updates</a:t>
            </a:r>
            <a:endParaRPr lang="en-US" sz="1150" dirty="0"/>
          </a:p>
        </p:txBody>
      </p:sp>
      <p:sp>
        <p:nvSpPr>
          <p:cNvPr id="8" name="Text 6"/>
          <p:cNvSpPr txBox="1"/>
          <p:nvPr/>
        </p:nvSpPr>
        <p:spPr>
          <a:xfrm>
            <a:off x="8229600" y="1645920"/>
            <a:ext cx="3291840" cy="320040"/>
          </a:xfrm>
          <a:prstGeom prst="rect">
            <a:avLst/>
          </a:prstGeom>
          <a:noFill/>
          <a:ln/>
        </p:spPr>
        <p:txBody>
          <a:bodyPr wrap="square" lIns="0" tIns="0" rIns="0" bIns="0" rtlCol="0" anchor="ctr"/>
          <a:lstStyle/>
          <a:p>
            <a:pPr indent="0" marL="0">
              <a:buNone/>
            </a:pPr>
            <a:r>
              <a:rPr lang="en-US" sz="1300" b="1" dirty="0">
                <a:solidFill>
                  <a:srgbClr val="D1453B"/>
                </a:solidFill>
                <a:latin typeface="Calibri" pitchFamily="34" charset="0"/>
                <a:ea typeface="Calibri" pitchFamily="34" charset="-122"/>
                <a:cs typeface="Calibri" pitchFamily="34" charset="-120"/>
              </a:rPr>
              <a:t>Next, in priority order</a:t>
            </a:r>
            <a:endParaRPr lang="en-US" sz="1300" dirty="0"/>
          </a:p>
        </p:txBody>
      </p:sp>
      <p:sp>
        <p:nvSpPr>
          <p:cNvPr id="9" name="Text 7"/>
          <p:cNvSpPr txBox="1"/>
          <p:nvPr/>
        </p:nvSpPr>
        <p:spPr>
          <a:xfrm>
            <a:off x="8229600" y="2011680"/>
            <a:ext cx="3291840" cy="3017520"/>
          </a:xfrm>
          <a:prstGeom prst="rect">
            <a:avLst/>
          </a:prstGeom>
          <a:noFill/>
          <a:ln/>
        </p:spPr>
        <p:txBody>
          <a:bodyPr wrap="square" lIns="0" tIns="0" rIns="0" bIns="0" rtlCol="0" anchor="ctr"/>
          <a:lstStyle/>
          <a:p>
            <a:pPr marL="342900" indent="-342900">
              <a:lnSpc>
                <a:spcPts val="1700"/>
              </a:lnSpc>
              <a:spcAft>
                <a:spcPts val="800"/>
              </a:spcAft>
              <a:buSzPct val="100000"/>
              <a:buChar char="•"/>
            </a:pPr>
            <a:r>
              <a:rPr lang="en-US" sz="1150" dirty="0">
                <a:solidFill>
                  <a:srgbClr val="17232F"/>
                </a:solidFill>
                <a:latin typeface="Calibri" pitchFamily="34" charset="0"/>
                <a:ea typeface="Calibri" pitchFamily="34" charset="-122"/>
                <a:cs typeface="Calibri" pitchFamily="34" charset="-120"/>
              </a:rPr>
              <a:t>Import graph — to cut the 60% fallback rate</a:t>
            </a:r>
            <a:endParaRPr lang="en-US" sz="1150" dirty="0"/>
          </a:p>
          <a:p>
            <a:pPr marL="342900" indent="-342900">
              <a:lnSpc>
                <a:spcPts val="1700"/>
              </a:lnSpc>
              <a:spcAft>
                <a:spcPts val="800"/>
              </a:spcAft>
              <a:buSzPct val="100000"/>
              <a:buChar char="•"/>
            </a:pPr>
            <a:r>
              <a:rPr lang="en-US" sz="1150" dirty="0">
                <a:solidFill>
                  <a:srgbClr val="17232F"/>
                </a:solidFill>
                <a:latin typeface="Calibri" pitchFamily="34" charset="0"/>
                <a:ea typeface="Calibri" pitchFamily="34" charset="-122"/>
                <a:cs typeface="Calibri" pitchFamily="34" charset="-120"/>
              </a:rPr>
              <a:t>Safety at scale: 200+ mutants, both repos</a:t>
            </a:r>
            <a:endParaRPr lang="en-US" sz="1150" dirty="0"/>
          </a:p>
          <a:p>
            <a:pPr marL="342900" indent="-342900">
              <a:lnSpc>
                <a:spcPts val="1700"/>
              </a:lnSpc>
              <a:spcAft>
                <a:spcPts val="800"/>
              </a:spcAft>
              <a:buSzPct val="100000"/>
              <a:buChar char="•"/>
            </a:pPr>
            <a:r>
              <a:rPr lang="en-US" sz="1150" dirty="0">
                <a:solidFill>
                  <a:srgbClr val="17232F"/>
                </a:solidFill>
                <a:latin typeface="Calibri" pitchFamily="34" charset="0"/>
                <a:ea typeface="Calibri" pitchFamily="34" charset="-122"/>
                <a:cs typeface="Calibri" pitchFamily="34" charset="-120"/>
              </a:rPr>
              <a:t>Fallback frequency over real historical commits</a:t>
            </a:r>
            <a:endParaRPr lang="en-US" sz="1150" dirty="0"/>
          </a:p>
          <a:p>
            <a:pPr marL="342900" indent="-342900">
              <a:lnSpc>
                <a:spcPts val="1700"/>
              </a:lnSpc>
              <a:spcAft>
                <a:spcPts val="800"/>
              </a:spcAft>
              <a:buSzPct val="100000"/>
              <a:buChar char="•"/>
            </a:pPr>
            <a:r>
              <a:rPr lang="en-US" sz="1150" dirty="0">
                <a:solidFill>
                  <a:srgbClr val="17232F"/>
                </a:solidFill>
                <a:latin typeface="Calibri" pitchFamily="34" charset="0"/>
                <a:ea typeface="Calibri" pitchFamily="34" charset="-122"/>
                <a:cs typeface="Calibri" pitchFamily="34" charset="-120"/>
              </a:rPr>
              <a:t>Selection precision measurement</a:t>
            </a:r>
            <a:endParaRPr lang="en-US" sz="1150" dirty="0"/>
          </a:p>
          <a:p>
            <a:pPr marL="342900" indent="-342900">
              <a:lnSpc>
                <a:spcPts val="1700"/>
              </a:lnSpc>
              <a:spcAft>
                <a:spcPts val="800"/>
              </a:spcAft>
              <a:buSzPct val="100000"/>
              <a:buChar char="•"/>
            </a:pPr>
            <a:r>
              <a:rPr lang="en-US" sz="1150" dirty="0">
                <a:solidFill>
                  <a:srgbClr val="17232F"/>
                </a:solidFill>
                <a:latin typeface="Calibri" pitchFamily="34" charset="0"/>
                <a:ea typeface="Calibri" pitchFamily="34" charset="-122"/>
                <a:cs typeface="Calibri" pitchFamily="34" charset="-120"/>
              </a:rPr>
              <a:t>Third repo (black) and PyPI packaging</a:t>
            </a:r>
            <a:endParaRPr lang="en-US" sz="1150" dirty="0"/>
          </a:p>
          <a:p>
            <a:pPr marL="342900" indent="-342900">
              <a:lnSpc>
                <a:spcPts val="1700"/>
              </a:lnSpc>
              <a:spcAft>
                <a:spcPts val="800"/>
              </a:spcAft>
              <a:buSzPct val="100000"/>
              <a:buChar char="•"/>
            </a:pPr>
            <a:r>
              <a:rPr lang="en-US" sz="1150" dirty="0">
                <a:solidFill>
                  <a:srgbClr val="17232F"/>
                </a:solidFill>
                <a:latin typeface="Calibri" pitchFamily="34" charset="0"/>
                <a:ea typeface="Calibri" pitchFamily="34" charset="-122"/>
                <a:cs typeface="Calibri" pitchFamily="34" charset="-120"/>
              </a:rPr>
              <a:t>Reproducibility artefact: make reproduce</a:t>
            </a:r>
            <a:endParaRPr lang="en-US" sz="1150" dirty="0"/>
          </a:p>
        </p:txBody>
      </p:sp>
      <p:sp>
        <p:nvSpPr>
          <p:cNvPr id="10" name="Shape 8"/>
          <p:cNvSpPr/>
          <p:nvPr/>
        </p:nvSpPr>
        <p:spPr>
          <a:xfrm>
            <a:off x="640080" y="5212080"/>
            <a:ext cx="10881360" cy="914400"/>
          </a:xfrm>
          <a:prstGeom prst="roundRect">
            <a:avLst>
              <a:gd name="adj" fmla="val 8000"/>
            </a:avLst>
          </a:prstGeom>
          <a:solidFill>
            <a:srgbClr val="17232F"/>
          </a:solidFill>
          <a:ln w="12700">
            <a:solidFill>
              <a:srgbClr val="333333"/>
            </a:solidFill>
            <a:prstDash val="solid"/>
          </a:ln>
        </p:spPr>
      </p:sp>
      <p:sp>
        <p:nvSpPr>
          <p:cNvPr id="11" name="Text 9"/>
          <p:cNvSpPr txBox="1"/>
          <p:nvPr/>
        </p:nvSpPr>
        <p:spPr>
          <a:xfrm>
            <a:off x="960120" y="5413248"/>
            <a:ext cx="10241280" cy="548640"/>
          </a:xfrm>
          <a:prstGeom prst="rect">
            <a:avLst/>
          </a:prstGeom>
          <a:noFill/>
          <a:ln/>
        </p:spPr>
        <p:txBody>
          <a:bodyPr wrap="square" lIns="0" tIns="0" rIns="0" bIns="0" rtlCol="0" anchor="ctr"/>
          <a:lstStyle/>
          <a:p>
            <a:pPr indent="0" marL="0">
              <a:buNone/>
            </a:pPr>
            <a:r>
              <a:rPr lang="en-US" sz="1500" b="1" i="1" dirty="0">
                <a:solidFill>
                  <a:srgbClr val="FFFFFF"/>
                </a:solidFill>
                <a:latin typeface="Cambria" pitchFamily="34" charset="0"/>
                <a:ea typeface="Cambria" pitchFamily="34" charset="-122"/>
                <a:cs typeface="Cambria" pitchFamily="34" charset="-120"/>
              </a:rPr>
              <a:t>A negative or mixed result, properly measured, is a valid finding. We report 0 misses and a 60% fallback rate — and we say which one is the achievement and which is the bill.</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tia — Review 1</dc:title>
  <dc:subject>PptxGenJS Presentation</dc:subject>
  <dc:creator>Tanmay Singh</dc:creator>
  <cp:lastModifiedBy>Tanmay Singh</cp:lastModifiedBy>
  <cp:revision>1</cp:revision>
  <dcterms:created xsi:type="dcterms:W3CDTF">2026-09-09T00:35:15Z</dcterms:created>
  <dcterms:modified xsi:type="dcterms:W3CDTF">2026-09-09T00:35:15Z</dcterms:modified>
</cp:coreProperties>
</file>