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runs only the tests a git change can affect, and runs everything whenever that cannot be established. The contribution is not speed — it is inspectable selection logic paired with a reproducible safety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miss count, not the speedup. Anyone can make tests run faster by skipping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evidence, not capability. Show --explain and make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Phase 3 is what makes Phase 2's safety rule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decision carries a machine-readable reason code. That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result is modest on attrs: a four-second suite has nothing to give. That is a finding about where this technique pays, not a failure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whose contribution is reproducible measurement has to be hardest on its own measurements. Both faults are written up in DECISIONS with what now prevents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the real attrs checkout. Step 5 injects a defect and prints 31 failed on purpose — the full suite and the selection both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bug our own evaluation found. The pattern is the argument: build the measuring apparatus first and it keeps earning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before the panel finds them. The import graph test that pins dynamic-import blindness is the strongest honesty signal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evaluation finding our own bugs. That is the argument for building the measuring apparatus before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73736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06324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611880"/>
            <a:ext cx="6949440" cy="73152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Zero missed defects across 211 injected into two real codebases, at up to 65.2% less test time.</a:t>
            </a:r>
            <a:endParaRPr lang="en-US" sz="1400" dirty="0"/>
          </a:p>
        </p:txBody>
      </p:sp>
      <p:sp>
        <p:nvSpPr>
          <p:cNvPr id="5" name="Text 3"/>
          <p:cNvSpPr txBox="1"/>
          <p:nvPr/>
        </p:nvSpPr>
        <p:spPr>
          <a:xfrm>
            <a:off x="640080" y="4892040"/>
            <a:ext cx="32004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FINAL REVIEW</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737360"/>
            <a:ext cx="201168" cy="201168"/>
          </a:xfrm>
          <a:prstGeom prst="rect">
            <a:avLst/>
          </a:prstGeom>
          <a:solidFill>
            <a:srgbClr val="223141"/>
          </a:solidFill>
          <a:ln w="12700">
            <a:solidFill>
              <a:srgbClr val="333333"/>
            </a:solidFill>
            <a:prstDash val="solid"/>
          </a:ln>
        </p:spPr>
      </p:sp>
      <p:sp>
        <p:nvSpPr>
          <p:cNvPr id="8" name="Shape 6"/>
          <p:cNvSpPr/>
          <p:nvPr/>
        </p:nvSpPr>
        <p:spPr>
          <a:xfrm>
            <a:off x="8650224" y="1737360"/>
            <a:ext cx="201168" cy="201168"/>
          </a:xfrm>
          <a:prstGeom prst="rect">
            <a:avLst/>
          </a:prstGeom>
          <a:solidFill>
            <a:srgbClr val="223141"/>
          </a:solidFill>
          <a:ln w="12700">
            <a:solidFill>
              <a:srgbClr val="333333"/>
            </a:solidFill>
            <a:prstDash val="solid"/>
          </a:ln>
        </p:spPr>
      </p:sp>
      <p:sp>
        <p:nvSpPr>
          <p:cNvPr id="9" name="Shape 7"/>
          <p:cNvSpPr/>
          <p:nvPr/>
        </p:nvSpPr>
        <p:spPr>
          <a:xfrm>
            <a:off x="8933688" y="173736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73736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73736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73736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73736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73736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73736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73736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73736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73736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02082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02082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02082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02082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02082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02082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02082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02082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02082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02082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02082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02082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0428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0428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0428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0428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0428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0428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0428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0428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0428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0428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0428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0428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58775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58775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58775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58775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58775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58775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58775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58775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58775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58775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58775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58775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87121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87121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87121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87121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87121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87121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87121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87121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87121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87121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87121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87121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15468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15468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15468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15468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15468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15468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15468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15468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15468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15468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15468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15468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43814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43814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43814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43814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43814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43814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43814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43814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43814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43814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43814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43814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72160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72160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72160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72160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72160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72160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72160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72160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72160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72160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72160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72160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0507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0507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0507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0507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0507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0507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0507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0507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0507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0507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0507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0507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28853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28853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28853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28853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28853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28853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28853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28853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28853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28853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28853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28853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57200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57200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57200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57200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57200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57200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57200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57200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57200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57200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57200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57200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85546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85546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85546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85546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85546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85546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85546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85546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85546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85546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85546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85546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16636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RESULT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What we are claiming, and what it rests on</a:t>
            </a:r>
            <a:endParaRPr lang="en-US" sz="3400" dirty="0"/>
          </a:p>
        </p:txBody>
      </p:sp>
      <p:sp>
        <p:nvSpPr>
          <p:cNvPr id="4" name="Shape 2"/>
          <p:cNvSpPr/>
          <p:nvPr/>
        </p:nvSpPr>
        <p:spPr>
          <a:xfrm>
            <a:off x="640080" y="1691640"/>
            <a:ext cx="3474720" cy="1572768"/>
          </a:xfrm>
          <a:prstGeom prst="roundRect">
            <a:avLst>
              <a:gd name="adj" fmla="val 4651"/>
            </a:avLst>
          </a:prstGeom>
          <a:solidFill>
            <a:srgbClr val="F3F5F7"/>
          </a:solidFill>
          <a:ln w="12700">
            <a:solidFill>
              <a:srgbClr val="333333"/>
            </a:solidFill>
            <a:prstDash val="solid"/>
          </a:ln>
        </p:spPr>
      </p:sp>
      <p:sp>
        <p:nvSpPr>
          <p:cNvPr id="5" name="Text 3"/>
          <p:cNvSpPr txBox="1"/>
          <p:nvPr/>
        </p:nvSpPr>
        <p:spPr>
          <a:xfrm>
            <a:off x="86868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211</a:t>
            </a:r>
            <a:endParaRPr lang="en-US" sz="3400" dirty="0"/>
          </a:p>
        </p:txBody>
      </p:sp>
      <p:sp>
        <p:nvSpPr>
          <p:cNvPr id="6" name="Text 4"/>
          <p:cNvSpPr txBox="1"/>
          <p:nvPr/>
        </p:nvSpPr>
        <p:spPr>
          <a:xfrm>
            <a:off x="86868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missed defects</a:t>
            </a:r>
            <a:endParaRPr lang="en-US" sz="1200" dirty="0"/>
          </a:p>
        </p:txBody>
      </p:sp>
      <p:sp>
        <p:nvSpPr>
          <p:cNvPr id="7" name="Text 5"/>
          <p:cNvSpPr txBox="1"/>
          <p:nvPr/>
        </p:nvSpPr>
        <p:spPr>
          <a:xfrm>
            <a:off x="86868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attrs at 200 mutants, scrapy at 30</a:t>
            </a:r>
            <a:endParaRPr lang="en-US" sz="1000" dirty="0"/>
          </a:p>
        </p:txBody>
      </p:sp>
      <p:sp>
        <p:nvSpPr>
          <p:cNvPr id="8" name="Shape 6"/>
          <p:cNvSpPr/>
          <p:nvPr/>
        </p:nvSpPr>
        <p:spPr>
          <a:xfrm>
            <a:off x="4343400" y="1691640"/>
            <a:ext cx="3474720" cy="1572768"/>
          </a:xfrm>
          <a:prstGeom prst="roundRect">
            <a:avLst>
              <a:gd name="adj" fmla="val 4651"/>
            </a:avLst>
          </a:prstGeom>
          <a:solidFill>
            <a:srgbClr val="F3F5F7"/>
          </a:solidFill>
          <a:ln w="12700">
            <a:solidFill>
              <a:srgbClr val="333333"/>
            </a:solidFill>
            <a:prstDash val="solid"/>
          </a:ln>
        </p:spPr>
      </p:sp>
      <p:sp>
        <p:nvSpPr>
          <p:cNvPr id="9" name="Text 7"/>
          <p:cNvSpPr txBox="1"/>
          <p:nvPr/>
        </p:nvSpPr>
        <p:spPr>
          <a:xfrm>
            <a:off x="457200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65.2%</a:t>
            </a:r>
            <a:endParaRPr lang="en-US" sz="3400" dirty="0"/>
          </a:p>
        </p:txBody>
      </p:sp>
      <p:sp>
        <p:nvSpPr>
          <p:cNvPr id="10" name="Text 8"/>
          <p:cNvSpPr txBox="1"/>
          <p:nvPr/>
        </p:nvSpPr>
        <p:spPr>
          <a:xfrm>
            <a:off x="457200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less test time on scrapy</a:t>
            </a:r>
            <a:endParaRPr lang="en-US" sz="1200" dirty="0"/>
          </a:p>
        </p:txBody>
      </p:sp>
      <p:sp>
        <p:nvSpPr>
          <p:cNvPr id="11" name="Text 9"/>
          <p:cNvSpPr txBox="1"/>
          <p:nvPr/>
        </p:nvSpPr>
        <p:spPr>
          <a:xfrm>
            <a:off x="457200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58.4% on attrs</a:t>
            </a:r>
            <a:endParaRPr lang="en-US" sz="1000" dirty="0"/>
          </a:p>
        </p:txBody>
      </p:sp>
      <p:sp>
        <p:nvSpPr>
          <p:cNvPr id="12" name="Shape 10"/>
          <p:cNvSpPr/>
          <p:nvPr/>
        </p:nvSpPr>
        <p:spPr>
          <a:xfrm>
            <a:off x="8046720" y="1691640"/>
            <a:ext cx="3474720" cy="1572768"/>
          </a:xfrm>
          <a:prstGeom prst="roundRect">
            <a:avLst>
              <a:gd name="adj" fmla="val 4651"/>
            </a:avLst>
          </a:prstGeom>
          <a:solidFill>
            <a:srgbClr val="F3F5F7"/>
          </a:solidFill>
          <a:ln w="12700">
            <a:solidFill>
              <a:srgbClr val="333333"/>
            </a:solidFill>
            <a:prstDash val="solid"/>
          </a:ln>
        </p:spPr>
      </p:sp>
      <p:sp>
        <p:nvSpPr>
          <p:cNvPr id="13" name="Text 11"/>
          <p:cNvSpPr txBox="1"/>
          <p:nvPr/>
        </p:nvSpPr>
        <p:spPr>
          <a:xfrm>
            <a:off x="8275320" y="1856232"/>
            <a:ext cx="3017520" cy="658368"/>
          </a:xfrm>
          <a:prstGeom prst="rect">
            <a:avLst/>
          </a:prstGeom>
          <a:noFill/>
          <a:ln/>
        </p:spPr>
        <p:txBody>
          <a:bodyPr wrap="square" lIns="0" tIns="0" rIns="0" bIns="0" rtlCol="0" anchor="ctr"/>
          <a:lstStyle/>
          <a:p>
            <a:pPr indent="0" marL="0">
              <a:buNone/>
            </a:pPr>
            <a:r>
              <a:rPr lang="en-US" sz="3400" b="1" dirty="0">
                <a:solidFill>
                  <a:srgbClr val="C07A1B"/>
                </a:solidFill>
                <a:latin typeface="Cambria" pitchFamily="34" charset="0"/>
                <a:ea typeface="Cambria" pitchFamily="34" charset="-122"/>
                <a:cs typeface="Cambria" pitchFamily="34" charset="-120"/>
              </a:rPr>
              <a:t>29.6%</a:t>
            </a:r>
            <a:endParaRPr lang="en-US" sz="3400" dirty="0"/>
          </a:p>
        </p:txBody>
      </p:sp>
      <p:sp>
        <p:nvSpPr>
          <p:cNvPr id="14" name="Text 12"/>
          <p:cNvSpPr txBox="1"/>
          <p:nvPr/>
        </p:nvSpPr>
        <p:spPr>
          <a:xfrm>
            <a:off x="827532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of changes run everything</a:t>
            </a:r>
            <a:endParaRPr lang="en-US" sz="1200" dirty="0"/>
          </a:p>
        </p:txBody>
      </p:sp>
      <p:sp>
        <p:nvSpPr>
          <p:cNvPr id="15" name="Text 13"/>
          <p:cNvSpPr txBox="1"/>
          <p:nvPr/>
        </p:nvSpPr>
        <p:spPr>
          <a:xfrm>
            <a:off x="827532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50.5% on attrs — the honest cost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914400"/>
        </p:xfrm>
        <a:graphic>
          <a:graphicData uri="http://schemas.openxmlformats.org/drawingml/2006/table">
            <a:tbl>
              <a:tblPr/>
              <a:tblGrid>
                <a:gridCol w="4663440"/>
                <a:gridCol w="3108960"/>
                <a:gridCol w="3108960"/>
              </a:tblGrid>
              <a:tr h="329184">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in the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Full suite,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3.8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52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Non-equivalent defects injected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rate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Selection 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17" name="Text 1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2727F"/>
                </a:solidFill>
                <a:latin typeface="Calibri" pitchFamily="34" charset="0"/>
                <a:ea typeface="Calibri" pitchFamily="34" charset="-122"/>
                <a:cs typeface="Calibri" pitchFamily="34" charset="-120"/>
              </a:rPr>
              <a:t>Every figure traces to a committed JSON under eval/results/. `make reproduce` regenerates all of them from the pinned corpus.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88720"/>
          </a:xfrm>
          <a:prstGeom prst="roundRect">
            <a:avLst>
              <a:gd name="adj" fmla="val 6154"/>
            </a:avLst>
          </a:prstGeom>
          <a:solidFill>
            <a:srgbClr val="17232F"/>
          </a:solidFill>
          <a:ln w="12700">
            <a:solidFill>
              <a:srgbClr val="333333"/>
            </a:solidFill>
            <a:prstDash val="solid"/>
          </a:ln>
        </p:spPr>
      </p:sp>
      <p:sp>
        <p:nvSpPr>
          <p:cNvPr id="6" name="Text 3"/>
          <p:cNvSpPr txBox="1"/>
          <p:nvPr/>
        </p:nvSpPr>
        <p:spPr>
          <a:xfrm>
            <a:off x="960120" y="4956048"/>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Inspectable selection logic, plus published measurements anyone can replay — including the ones that went against us.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Watch once, then ask — plus a graph for what watching misses</a:t>
            </a:r>
            <a:endParaRPr lang="en-US" sz="3400" dirty="0"/>
          </a:p>
        </p:txBody>
      </p:sp>
      <p:sp>
        <p:nvSpPr>
          <p:cNvPr id="4" name="Shape 2"/>
          <p:cNvSpPr/>
          <p:nvPr/>
        </p:nvSpPr>
        <p:spPr>
          <a:xfrm>
            <a:off x="640080" y="1691640"/>
            <a:ext cx="3474720" cy="3657600"/>
          </a:xfrm>
          <a:prstGeom prst="roundRect">
            <a:avLst>
              <a:gd name="adj" fmla="val 2105"/>
            </a:avLst>
          </a:prstGeom>
          <a:solidFill>
            <a:srgbClr val="F3F5F7"/>
          </a:solidFill>
          <a:ln w="12700">
            <a:solidFill>
              <a:srgbClr val="333333"/>
            </a:solidFill>
            <a:prstDash val="solid"/>
          </a:ln>
        </p:spPr>
      </p:sp>
      <p:sp>
        <p:nvSpPr>
          <p:cNvPr id="5" name="Shape 3"/>
          <p:cNvSpPr/>
          <p:nvPr/>
        </p:nvSpPr>
        <p:spPr>
          <a:xfrm>
            <a:off x="914400" y="1920240"/>
            <a:ext cx="457200" cy="457200"/>
          </a:xfrm>
          <a:prstGeom prst="ellipse">
            <a:avLst/>
          </a:prstGeom>
          <a:solidFill>
            <a:srgbClr val="17232F"/>
          </a:solidFill>
          <a:ln w="12700">
            <a:solidFill>
              <a:srgbClr val="333333"/>
            </a:solidFill>
            <a:prstDash val="solid"/>
          </a:ln>
        </p:spPr>
      </p:sp>
      <p:sp>
        <p:nvSpPr>
          <p:cNvPr id="6" name="Text 4"/>
          <p:cNvSpPr txBox="1"/>
          <p:nvPr/>
        </p:nvSpPr>
        <p:spPr>
          <a:xfrm>
            <a:off x="91440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50876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Learn, once</a:t>
            </a:r>
            <a:endParaRPr lang="en-US" sz="1600" dirty="0"/>
          </a:p>
        </p:txBody>
      </p:sp>
      <p:sp>
        <p:nvSpPr>
          <p:cNvPr id="8" name="Text 6"/>
          <p:cNvSpPr txBox="1"/>
          <p:nvPr/>
        </p:nvSpPr>
        <p:spPr>
          <a:xfrm>
            <a:off x="91440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The suite runs under coverage.py with dynamic contexts. For every source line we record which tests executed it, inverted into a line to test map in .tia/map.db, keyed to the commit it was built at.</a:t>
            </a:r>
            <a:endParaRPr lang="en-US" sz="1150" dirty="0"/>
          </a:p>
        </p:txBody>
      </p:sp>
      <p:sp>
        <p:nvSpPr>
          <p:cNvPr id="9" name="Text 7"/>
          <p:cNvSpPr txBox="1"/>
          <p:nvPr/>
        </p:nvSpPr>
        <p:spPr>
          <a:xfrm>
            <a:off x="91440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10 s  ·  scrapy 92 s  ·  1.6-2.2x instrumented</a:t>
            </a:r>
            <a:endParaRPr lang="en-US" sz="950" dirty="0"/>
          </a:p>
        </p:txBody>
      </p:sp>
      <p:sp>
        <p:nvSpPr>
          <p:cNvPr id="10" name="Shape 8"/>
          <p:cNvSpPr/>
          <p:nvPr/>
        </p:nvSpPr>
        <p:spPr>
          <a:xfrm>
            <a:off x="4343400" y="1691640"/>
            <a:ext cx="3474720" cy="3657600"/>
          </a:xfrm>
          <a:prstGeom prst="roundRect">
            <a:avLst>
              <a:gd name="adj" fmla="val 2105"/>
            </a:avLst>
          </a:prstGeom>
          <a:solidFill>
            <a:srgbClr val="F3F5F7"/>
          </a:solidFill>
          <a:ln w="12700">
            <a:solidFill>
              <a:srgbClr val="333333"/>
            </a:solidFill>
            <a:prstDash val="solid"/>
          </a:ln>
        </p:spPr>
      </p:sp>
      <p:sp>
        <p:nvSpPr>
          <p:cNvPr id="11" name="Shape 9"/>
          <p:cNvSpPr/>
          <p:nvPr/>
        </p:nvSpPr>
        <p:spPr>
          <a:xfrm>
            <a:off x="4617720" y="1920240"/>
            <a:ext cx="457200" cy="457200"/>
          </a:xfrm>
          <a:prstGeom prst="ellipse">
            <a:avLst/>
          </a:prstGeom>
          <a:solidFill>
            <a:srgbClr val="17232F"/>
          </a:solidFill>
          <a:ln w="12700">
            <a:solidFill>
              <a:srgbClr val="333333"/>
            </a:solidFill>
            <a:prstDash val="solid"/>
          </a:ln>
        </p:spPr>
      </p:sp>
      <p:sp>
        <p:nvSpPr>
          <p:cNvPr id="12" name="Text 10"/>
          <p:cNvSpPr txBox="1"/>
          <p:nvPr/>
        </p:nvSpPr>
        <p:spPr>
          <a:xfrm>
            <a:off x="461772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21208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Select, every change</a:t>
            </a:r>
            <a:endParaRPr lang="en-US" sz="1600" dirty="0"/>
          </a:p>
        </p:txBody>
      </p:sp>
      <p:sp>
        <p:nvSpPr>
          <p:cNvPr id="14" name="Text 12"/>
          <p:cNvSpPr txBox="1"/>
          <p:nvPr/>
        </p:nvSpPr>
        <p:spPr>
          <a:xfrm>
            <a:off x="461772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git reports the changed lines. Each path is routed by 16 classifier rules. Where the map can be trusted, changed lines are looked up and covering tests unioned. Everything else falls back, with a reason code.</a:t>
            </a:r>
            <a:endParaRPr lang="en-US" sz="1150" dirty="0"/>
          </a:p>
        </p:txBody>
      </p:sp>
      <p:sp>
        <p:nvSpPr>
          <p:cNvPr id="15" name="Text 13"/>
          <p:cNvSpPr txBox="1"/>
          <p:nvPr/>
        </p:nvSpPr>
        <p:spPr>
          <a:xfrm>
            <a:off x="461772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lookup p95 1.41 ms</a:t>
            </a:r>
            <a:endParaRPr lang="en-US" sz="950" dirty="0"/>
          </a:p>
        </p:txBody>
      </p:sp>
      <p:sp>
        <p:nvSpPr>
          <p:cNvPr id="16" name="Shape 14"/>
          <p:cNvSpPr/>
          <p:nvPr/>
        </p:nvSpPr>
        <p:spPr>
          <a:xfrm>
            <a:off x="8046720" y="1691640"/>
            <a:ext cx="3474720" cy="3657600"/>
          </a:xfrm>
          <a:prstGeom prst="roundRect">
            <a:avLst>
              <a:gd name="adj" fmla="val 2105"/>
            </a:avLst>
          </a:prstGeom>
          <a:solidFill>
            <a:srgbClr val="F3F5F7"/>
          </a:solidFill>
          <a:ln w="12700">
            <a:solidFill>
              <a:srgbClr val="333333"/>
            </a:solidFill>
            <a:prstDash val="solid"/>
          </a:ln>
        </p:spPr>
      </p:sp>
      <p:sp>
        <p:nvSpPr>
          <p:cNvPr id="17" name="Shape 15"/>
          <p:cNvSpPr/>
          <p:nvPr/>
        </p:nvSpPr>
        <p:spPr>
          <a:xfrm>
            <a:off x="8321040" y="1920240"/>
            <a:ext cx="457200" cy="457200"/>
          </a:xfrm>
          <a:prstGeom prst="ellipse">
            <a:avLst/>
          </a:prstGeom>
          <a:solidFill>
            <a:srgbClr val="17232F"/>
          </a:solidFill>
          <a:ln w="12700">
            <a:solidFill>
              <a:srgbClr val="333333"/>
            </a:solidFill>
            <a:prstDash val="solid"/>
          </a:ln>
        </p:spPr>
      </p:sp>
      <p:sp>
        <p:nvSpPr>
          <p:cNvPr id="18" name="Text 16"/>
          <p:cNvSpPr txBox="1"/>
          <p:nvPr/>
        </p:nvSpPr>
        <p:spPr>
          <a:xfrm>
            <a:off x="832104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1540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Import graph</a:t>
            </a:r>
            <a:endParaRPr lang="en-US" sz="1600" dirty="0"/>
          </a:p>
        </p:txBody>
      </p:sp>
      <p:sp>
        <p:nvSpPr>
          <p:cNvPr id="20" name="Text 18"/>
          <p:cNvSpPr txBox="1"/>
          <p:nvPr/>
        </p:nvSpPr>
        <p:spPr>
          <a:xfrm>
            <a:off x="832104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A line that ran at import time belongs to no test, so the map cannot resolve it. The static import graph names every module that transitively imports the changed file and selects their tests instead.</a:t>
            </a:r>
            <a:endParaRPr lang="en-US" sz="1150" dirty="0"/>
          </a:p>
        </p:txBody>
      </p:sp>
      <p:sp>
        <p:nvSpPr>
          <p:cNvPr id="21" name="Text 19"/>
          <p:cNvSpPr txBox="1"/>
          <p:nvPr/>
        </p:nvSpPr>
        <p:spPr>
          <a:xfrm>
            <a:off x="832104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37 edges  ·  scrapy 599</a:t>
            </a:r>
            <a:endParaRPr lang="en-US" sz="950" dirty="0"/>
          </a:p>
        </p:txBody>
      </p:sp>
      <p:sp>
        <p:nvSpPr>
          <p:cNvPr id="22" name="Text 20"/>
          <p:cNvSpPr txBox="1"/>
          <p:nvPr/>
        </p:nvSpPr>
        <p:spPr>
          <a:xfrm>
            <a:off x="640080" y="5532120"/>
            <a:ext cx="10881360" cy="54864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The map records what actually executed; the graph records what the source says. Neither is complete — dynamic loading is invisible to both, and SAFETY.md says so.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SELECTED — source in a fresh map: chosen by line</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IMPORT_CLOSURE — import-time line: the modules that import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TEST_CHANGED — a changed test always runs, unasked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CONFTEST_CHANGED — everything at or below that directory</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PACKAGE_INIT / INSERTION_NO_HISTORY / LINE_NOT_IN_MAP — widen to the file</a:t>
            </a:r>
            <a:endParaRPr lang="en-US" sz="115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CLOSURE_TOO_LARGE — the closure covers too much to be worth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IMPORT_TIME_LINE — import-time line and no graph to consult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UNMAPPED_FILE · BUILD_CONFIG_CHANGED · DEPENDENCY_CHANGED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NON_SOURCE_ASSET · USER_CONFIGURED · MAP_STALE · NO_MAP</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CLASSIFIER_ERROR — our own bug must never mean fewer tests</a:t>
            </a:r>
            <a:endParaRPr lang="en-US" sz="1150" dirty="0"/>
          </a:p>
        </p:txBody>
      </p:sp>
      <p:sp>
        <p:nvSpPr>
          <p:cNvPr id="8" name="Shape 6"/>
          <p:cNvSpPr/>
          <p:nvPr/>
        </p:nvSpPr>
        <p:spPr>
          <a:xfrm>
            <a:off x="640080" y="4206240"/>
            <a:ext cx="10881360" cy="914400"/>
          </a:xfrm>
          <a:prstGeom prst="roundRect">
            <a:avLst>
              <a:gd name="adj" fmla="val 8000"/>
            </a:avLst>
          </a:prstGeom>
          <a:solidFill>
            <a:srgbClr val="223141"/>
          </a:solidFill>
          <a:ln w="12700">
            <a:solidFill>
              <a:srgbClr val="333333"/>
            </a:solidFill>
            <a:prstDash val="solid"/>
          </a:ln>
        </p:spPr>
      </p:sp>
      <p:sp>
        <p:nvSpPr>
          <p:cNvPr id="9" name="Text 7"/>
          <p:cNvSpPr txBox="1"/>
          <p:nvPr/>
        </p:nvSpPr>
        <p:spPr>
          <a:xfrm>
            <a:off x="960120" y="4389120"/>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10 of the 18 possible outcomes deliberately give up the speed benefit. That is the design, not a shortfall in it.</a:t>
            </a:r>
            <a:endParaRPr lang="en-US" sz="1700" dirty="0"/>
          </a:p>
        </p:txBody>
      </p:sp>
      <p:sp>
        <p:nvSpPr>
          <p:cNvPr id="10" name="Text 8"/>
          <p:cNvSpPr txBox="1"/>
          <p:nvPr/>
        </p:nvSpPr>
        <p:spPr>
          <a:xfrm>
            <a:off x="640080" y="530352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record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WHY THE EVALUATION CAME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Our own harness found a real miss</a:t>
            </a:r>
            <a:endParaRPr lang="en-US" sz="3400" dirty="0"/>
          </a:p>
        </p:txBody>
      </p:sp>
      <p:sp>
        <p:nvSpPr>
          <p:cNvPr id="4" name="Text 2"/>
          <p:cNvSpPr txBox="1"/>
          <p:nvPr/>
        </p:nvSpPr>
        <p:spPr>
          <a:xfrm>
            <a:off x="640080" y="1645920"/>
            <a:ext cx="5943600" cy="256032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safety run on attrs: 1 miss in 46.</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A mutant forced a condition true in 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so the six tests that depended on it never appeared as covering it.</a:t>
            </a:r>
            <a:endParaRPr lang="en-US" sz="1300" dirty="0"/>
          </a:p>
        </p:txBody>
      </p:sp>
      <p:sp>
        <p:nvSpPr>
          <p:cNvPr id="5" name="Shape 3"/>
          <p:cNvSpPr/>
          <p:nvPr/>
        </p:nvSpPr>
        <p:spPr>
          <a:xfrm>
            <a:off x="6903720" y="1645920"/>
            <a:ext cx="4617720" cy="2286000"/>
          </a:xfrm>
          <a:prstGeom prst="roundRect">
            <a:avLst>
              <a:gd name="adj" fmla="val 2400"/>
            </a:avLst>
          </a:prstGeom>
          <a:solidFill>
            <a:srgbClr val="0E1721"/>
          </a:solidFill>
          <a:ln w="12700">
            <a:solidFill>
              <a:srgbClr val="333333"/>
            </a:solidFill>
            <a:prstDash val="solid"/>
          </a:ln>
        </p:spPr>
      </p:sp>
      <p:sp>
        <p:nvSpPr>
          <p:cNvPr id="6" name="Text 4"/>
          <p:cNvSpPr txBox="1"/>
          <p:nvPr/>
        </p:nvSpPr>
        <p:spPr>
          <a:xfrm>
            <a:off x="7178040" y="1828800"/>
            <a:ext cx="4114800" cy="192024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34840"/>
            <a:ext cx="10881360" cy="1417320"/>
          </a:xfrm>
          <a:prstGeom prst="roundRect">
            <a:avLst>
              <a:gd name="adj" fmla="val 5161"/>
            </a:avLst>
          </a:prstGeom>
          <a:solidFill>
            <a:srgbClr val="223141"/>
          </a:solidFill>
          <a:ln w="12700">
            <a:solidFill>
              <a:srgbClr val="333333"/>
            </a:solidFill>
            <a:prstDash val="solid"/>
          </a:ln>
        </p:spPr>
      </p:sp>
      <p:sp>
        <p:nvSpPr>
          <p:cNvPr id="8" name="Text 6"/>
          <p:cNvSpPr txBox="1"/>
          <p:nvPr/>
        </p:nvSpPr>
        <p:spPr>
          <a:xfrm>
            <a:off x="960120" y="457200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what it cost</a:t>
            </a:r>
            <a:endParaRPr lang="en-US" sz="1200" dirty="0"/>
          </a:p>
        </p:txBody>
      </p:sp>
      <p:sp>
        <p:nvSpPr>
          <p:cNvPr id="9" name="Text 7"/>
          <p:cNvSpPr txBox="1"/>
          <p:nvPr/>
        </p:nvSpPr>
        <p:spPr>
          <a:xfrm>
            <a:off x="960120" y="4873752"/>
            <a:ext cx="1024128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change touching an import-time line now falls back. Re-run at the same seed: 0 misses in 47 — and the fallback rate rose to 59.6%. The rule is correct and expensive, and that measurement is what made the import graph the next thing to build rather than a nice-to-have.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PHASE 2</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import graph, measured against itself</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One map, one seed, one set of mutation sites per repository. The arms differ in exactly one variable: whether the import closure is consulted.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834640"/>
                <a:gridCol w="2011680"/>
                <a:gridCol w="201168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184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frequency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59.3%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57.0%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58.4%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40.4%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65.2%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Precision, median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62.5%</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55.2%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25.0%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Shape 3"/>
          <p:cNvSpPr/>
          <p:nvPr/>
        </p:nvSpPr>
        <p:spPr>
          <a:xfrm>
            <a:off x="640080" y="4114800"/>
            <a:ext cx="10881360" cy="1737360"/>
          </a:xfrm>
          <a:prstGeom prst="roundRect">
            <a:avLst>
              <a:gd name="adj" fmla="val 4211"/>
            </a:avLst>
          </a:prstGeom>
          <a:solidFill>
            <a:srgbClr val="F3F5F7"/>
          </a:solidFill>
          <a:ln w="12700">
            <a:solidFill>
              <a:srgbClr val="333333"/>
            </a:solidFill>
            <a:prstDash val="solid"/>
          </a:ln>
        </p:spPr>
      </p:sp>
      <p:sp>
        <p:nvSpPr>
          <p:cNvPr id="7" name="Text 4"/>
          <p:cNvSpPr txBox="1"/>
          <p:nvPr/>
        </p:nvSpPr>
        <p:spPr>
          <a:xfrm>
            <a:off x="960120" y="4279392"/>
            <a:ext cx="1024128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It helps where the suite is slow, and nowhere else.</a:t>
            </a:r>
            <a:endParaRPr lang="en-US" sz="1600" dirty="0"/>
          </a:p>
        </p:txBody>
      </p:sp>
      <p:sp>
        <p:nvSpPr>
          <p:cNvPr id="8" name="Text 5"/>
          <p:cNvSpPr txBox="1"/>
          <p:nvPr/>
        </p:nvSpPr>
        <p:spPr>
          <a:xfrm>
            <a:off x="960120" y="4645152"/>
            <a:ext cx="10241280" cy="1097280"/>
          </a:xfrm>
          <a:prstGeom prst="rect">
            <a:avLst/>
          </a:prstGeom>
          <a:noFill/>
          <a:ln/>
        </p:spPr>
        <p:txBody>
          <a:bodyPr wrap="square" lIns="0" tIns="0" rIns="0" bIns="0" rtlCol="0" anchor="ctr"/>
          <a:lstStyle/>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On scrapy, whose suite takes 52 seconds, the graph halves the fallback rate and lifts the saving from 40.4% to 65.2%. On attrs, whose suite takes 3.9 seconds, it is worth almost nothing: 58.4% against 57.0%, with the fallback rate barely moving.</a:t>
            </a:r>
            <a:endParaRPr lang="en-US" sz="1200" dirty="0"/>
          </a:p>
          <a:p>
            <a:pPr indent="0" marL="0">
              <a:lnSpc>
                <a:spcPts val="1700"/>
              </a:lnSpc>
              <a:buNone/>
            </a:pPr>
            <a:endParaRPr lang="en-US" sz="1200" dirty="0"/>
          </a:p>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The property that predicts the benefit is absolute suite duration, not test count and not closure size. A four-second suite has nothing left to give once pytest's own startup is paid — which is the same floor that makes parallelism slower than serial on flask.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ways our own measurements lied</a:t>
            </a:r>
            <a:endParaRPr lang="en-US" sz="3400" dirty="0"/>
          </a:p>
        </p:txBody>
      </p:sp>
      <p:sp>
        <p:nvSpPr>
          <p:cNvPr id="4" name="Shape 2"/>
          <p:cNvSpPr/>
          <p:nvPr/>
        </p:nvSpPr>
        <p:spPr>
          <a:xfrm>
            <a:off x="640080" y="1645920"/>
            <a:ext cx="5120640" cy="4114800"/>
          </a:xfrm>
          <a:prstGeom prst="roundRect">
            <a:avLst>
              <a:gd name="adj" fmla="val 1778"/>
            </a:avLst>
          </a:prstGeom>
          <a:solidFill>
            <a:srgbClr val="F3F5F7"/>
          </a:solidFill>
          <a:ln w="12700">
            <a:solidFill>
              <a:srgbClr val="333333"/>
            </a:solidFill>
            <a:prstDash val="solid"/>
          </a:ln>
        </p:spPr>
      </p:sp>
      <p:sp>
        <p:nvSpPr>
          <p:cNvPr id="5" name="Text 3"/>
          <p:cNvSpPr txBox="1"/>
          <p:nvPr/>
        </p:nvSpPr>
        <p:spPr>
          <a:xfrm>
            <a:off x="96012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1</a:t>
            </a:r>
            <a:endParaRPr lang="en-US" sz="1050" dirty="0"/>
          </a:p>
        </p:txBody>
      </p:sp>
      <p:sp>
        <p:nvSpPr>
          <p:cNvPr id="6" name="Text 4"/>
          <p:cNvSpPr txBox="1"/>
          <p:nvPr/>
        </p:nvSpPr>
        <p:spPr>
          <a:xfrm>
            <a:off x="96012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before/after across a map rebuild is not a controlled comparison</a:t>
            </a:r>
            <a:endParaRPr lang="en-US" sz="1500" dirty="0"/>
          </a:p>
        </p:txBody>
      </p:sp>
      <p:sp>
        <p:nvSpPr>
          <p:cNvPr id="7" name="Text 5"/>
          <p:cNvSpPr txBox="1"/>
          <p:nvPr/>
        </p:nvSpPr>
        <p:spPr>
          <a:xfrm>
            <a:off x="96012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Mutation sites are sampled from the lines the map records as covered. Rebuilding the map shifts that set slightly — 508,939 rows against 508,929 on the same commit — so the same seed selects different mutants.</a:t>
            </a:r>
            <a:endParaRPr lang="en-US" sz="1200" dirty="0"/>
          </a:p>
        </p:txBody>
      </p:sp>
      <p:sp>
        <p:nvSpPr>
          <p:cNvPr id="8" name="Text 6"/>
          <p:cNvSpPr txBox="1"/>
          <p:nvPr/>
        </p:nvSpPr>
        <p:spPr>
          <a:xfrm>
            <a:off x="96012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59.6% -&gt; 51.1% ... of nothing</a:t>
            </a:r>
            <a:endParaRPr lang="en-US" sz="1400" dirty="0"/>
          </a:p>
        </p:txBody>
      </p:sp>
      <p:sp>
        <p:nvSpPr>
          <p:cNvPr id="9" name="Text 7"/>
          <p:cNvSpPr txBox="1"/>
          <p:nvPr/>
        </p:nvSpPr>
        <p:spPr>
          <a:xfrm>
            <a:off x="96012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first comparison was invalid</a:t>
            </a:r>
            <a:endParaRPr lang="en-US" sz="1000" dirty="0"/>
          </a:p>
        </p:txBody>
      </p:sp>
      <p:sp>
        <p:nvSpPr>
          <p:cNvPr id="10" name="Text 8"/>
          <p:cNvSpPr txBox="1"/>
          <p:nvPr/>
        </p:nvSpPr>
        <p:spPr>
          <a:xfrm>
            <a:off x="96012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--no-import-graph selects the arm at selection time, so both run on one map and one site list. The arm is recorded in the payload and the filename.</a:t>
            </a:r>
            <a:endParaRPr lang="en-US" sz="1100" dirty="0"/>
          </a:p>
        </p:txBody>
      </p:sp>
      <p:sp>
        <p:nvSpPr>
          <p:cNvPr id="11" name="Shape 9"/>
          <p:cNvSpPr/>
          <p:nvPr/>
        </p:nvSpPr>
        <p:spPr>
          <a:xfrm>
            <a:off x="6400800" y="1645920"/>
            <a:ext cx="5120640" cy="4114800"/>
          </a:xfrm>
          <a:prstGeom prst="roundRect">
            <a:avLst>
              <a:gd name="adj" fmla="val 1778"/>
            </a:avLst>
          </a:prstGeom>
          <a:solidFill>
            <a:srgbClr val="F3F5F7"/>
          </a:solidFill>
          <a:ln w="12700">
            <a:solidFill>
              <a:srgbClr val="333333"/>
            </a:solidFill>
            <a:prstDash val="solid"/>
          </a:ln>
        </p:spPr>
      </p:sp>
      <p:sp>
        <p:nvSpPr>
          <p:cNvPr id="12" name="Text 10"/>
          <p:cNvSpPr txBox="1"/>
          <p:nvPr/>
        </p:nvSpPr>
        <p:spPr>
          <a:xfrm>
            <a:off x="672084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2</a:t>
            </a:r>
            <a:endParaRPr lang="en-US" sz="1050" dirty="0"/>
          </a:p>
        </p:txBody>
      </p:sp>
      <p:sp>
        <p:nvSpPr>
          <p:cNvPr id="13" name="Text 11"/>
          <p:cNvSpPr txBox="1"/>
          <p:nvPr/>
        </p:nvSpPr>
        <p:spPr>
          <a:xfrm>
            <a:off x="672084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hand-picked exclusion threshold changed the answer</a:t>
            </a:r>
            <a:endParaRPr lang="en-US" sz="1500" dirty="0"/>
          </a:p>
        </p:txBody>
      </p:sp>
      <p:sp>
        <p:nvSpPr>
          <p:cNvPr id="14" name="Text 12"/>
          <p:cNvSpPr txBox="1"/>
          <p:nvPr/>
        </p:nvSpPr>
        <p:spPr>
          <a:xfrm>
            <a:off x="672084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Net reduction was computed outside the harness, dropping runs slower than 800s to exclude a mutant that hangs the suite. When the timeout moved from 900s to 600s, that same mutant fell on the other side of the threshold.</a:t>
            </a:r>
            <a:endParaRPr lang="en-US" sz="1200" dirty="0"/>
          </a:p>
        </p:txBody>
      </p:sp>
      <p:sp>
        <p:nvSpPr>
          <p:cNvPr id="15" name="Text 13"/>
          <p:cNvSpPr txBox="1"/>
          <p:nvPr/>
        </p:nvSpPr>
        <p:spPr>
          <a:xfrm>
            <a:off x="672084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46% became 11%</a:t>
            </a:r>
            <a:endParaRPr lang="en-US" sz="1400" dirty="0"/>
          </a:p>
        </p:txBody>
      </p:sp>
      <p:sp>
        <p:nvSpPr>
          <p:cNvPr id="16" name="Text 14"/>
          <p:cNvSpPr txBox="1"/>
          <p:nvPr/>
        </p:nvSpPr>
        <p:spPr>
          <a:xfrm>
            <a:off x="672084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tool had not changed at all</a:t>
            </a:r>
            <a:endParaRPr lang="en-US" sz="1000" dirty="0"/>
          </a:p>
        </p:txBody>
      </p:sp>
      <p:sp>
        <p:nvSpPr>
          <p:cNvPr id="17" name="Text 15"/>
          <p:cNvSpPr txBox="1"/>
          <p:nvPr/>
        </p:nvSpPr>
        <p:spPr>
          <a:xfrm>
            <a:off x="672084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net_reduction is computed inside the harness and excludes runs by exit code — a timeout measures a hang, not a suite. Recomputed, the published figure stands.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34640"/>
          </a:xfrm>
          <a:prstGeom prst="roundRect">
            <a:avLst>
              <a:gd name="adj" fmla="val 1935"/>
            </a:avLst>
          </a:prstGeom>
          <a:solidFill>
            <a:srgbClr val="0E1721"/>
          </a:solidFill>
          <a:ln w="12700">
            <a:solidFill>
              <a:srgbClr val="333333"/>
            </a:solidFill>
            <a:prstDash val="solid"/>
          </a:ln>
        </p:spPr>
      </p:sp>
      <p:sp>
        <p:nvSpPr>
          <p:cNvPr id="5" name="Text 3"/>
          <p:cNvSpPr txBox="1"/>
          <p:nvPr/>
        </p:nvSpPr>
        <p:spPr>
          <a:xfrm>
            <a:off x="914400" y="1874520"/>
            <a:ext cx="10332720" cy="251460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29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09160"/>
            <a:ext cx="10881360" cy="54864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traces to the line that pulled it in and the rule that allowed it. Then: edit requirements.txt, and the tool gives up the speed benefit on purpose.</a:t>
            </a:r>
            <a:endParaRPr lang="en-US" sz="1350" dirty="0"/>
          </a:p>
        </p:txBody>
      </p:sp>
      <p:sp>
        <p:nvSpPr>
          <p:cNvPr id="7" name="Text 5"/>
          <p:cNvSpPr txBox="1"/>
          <p:nvPr/>
        </p:nvSpPr>
        <p:spPr>
          <a:xfrm>
            <a:off x="640080" y="5349240"/>
            <a:ext cx="10881360" cy="365760"/>
          </a:xfrm>
          <a:prstGeom prst="rect">
            <a:avLst/>
          </a:prstGeom>
          <a:noFill/>
          <a:ln/>
        </p:spPr>
        <p:txBody>
          <a:bodyPr wrap="square" lIns="0" tIns="0" rIns="0" bIns="0" rtlCol="0" anchor="ctr"/>
          <a:lstStyle/>
          <a:p>
            <a:pPr indent="0" marL="0">
              <a:buNone/>
            </a:pPr>
            <a:r>
              <a:rPr lang="en-US" sz="1200" b="1" dirty="0">
                <a:solidFill>
                  <a:srgbClr val="C07A1B"/>
                </a:solidFill>
                <a:latin typeface="Courier New" pitchFamily="34" charset="0"/>
                <a:ea typeface="Courier New" pitchFamily="34" charset="-122"/>
                <a:cs typeface="Courier New" pitchFamily="34" charset="-120"/>
              </a:rPr>
              <a:t>./scripts/demo.sh  —  11 seconds, no network, runs the full suite live as the comparison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CI INTEGRATION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Running in a real pipeline — and what it caught</a:t>
            </a:r>
            <a:endParaRPr lang="en-US" sz="3400" dirty="0"/>
          </a:p>
        </p:txBody>
      </p:sp>
      <p:sp>
        <p:nvSpPr>
          <p:cNvPr id="4" name="Text 2"/>
          <p:cNvSpPr txBox="1"/>
          <p:nvPr/>
        </p:nvSpPr>
        <p:spPr>
          <a:xfrm>
            <a:off x="640080" y="1600200"/>
            <a:ext cx="10881360" cy="868680"/>
          </a:xfrm>
          <a:prstGeom prst="rect">
            <a:avLst/>
          </a:prstGeom>
          <a:noFill/>
          <a:ln/>
        </p:spPr>
        <p:txBody>
          <a:bodyPr wrap="square" lIns="0" tIns="0" rIns="0" bIns="0" rtlCol="0" anchor="ctr"/>
          <a:lstStyle/>
          <a:p>
            <a:pPr indent="0" marL="0">
              <a:lnSpc>
                <a:spcPts val="1900"/>
              </a:lnSpc>
              <a:buNone/>
            </a:pPr>
            <a:r>
              <a:rPr lang="en-US" sz="1300" dirty="0">
                <a:solidFill>
                  <a:srgbClr val="17232F"/>
                </a:solidFill>
                <a:latin typeface="Calibri" pitchFamily="34" charset="0"/>
                <a:ea typeface="Calibri" pitchFamily="34" charset="-122"/>
                <a:cs typeface="Calibri" pitchFamily="34" charset="-120"/>
              </a:rPr>
              <a:t>The pipeline tests tia with tia: it builds a map at the base commit, selects for the pull request's actual diff, runs that through the pytest plugin, and still runs the full suite as a safety net. A pipeline that stops running the full suite before its miss rate is measured is the false confidence this project argues against.</a:t>
            </a:r>
            <a:endParaRPr lang="en-US" sz="1300" dirty="0"/>
          </a:p>
        </p:txBody>
      </p:sp>
      <p:sp>
        <p:nvSpPr>
          <p:cNvPr id="5" name="Shape 3"/>
          <p:cNvSpPr/>
          <p:nvPr/>
        </p:nvSpPr>
        <p:spPr>
          <a:xfrm>
            <a:off x="640080" y="2606040"/>
            <a:ext cx="10881360" cy="1371600"/>
          </a:xfrm>
          <a:prstGeom prst="roundRect">
            <a:avLst>
              <a:gd name="adj" fmla="val 4000"/>
            </a:avLst>
          </a:prstGeom>
          <a:solidFill>
            <a:srgbClr val="0E1721"/>
          </a:solidFill>
          <a:ln w="12700">
            <a:solidFill>
              <a:srgbClr val="333333"/>
            </a:solidFill>
            <a:prstDash val="solid"/>
          </a:ln>
        </p:spPr>
      </p:sp>
      <p:sp>
        <p:nvSpPr>
          <p:cNvPr id="6" name="Text 4"/>
          <p:cNvSpPr txBox="1"/>
          <p:nvPr/>
        </p:nvSpPr>
        <p:spPr>
          <a:xfrm>
            <a:off x="914400" y="2788920"/>
            <a:ext cx="10332720" cy="1051560"/>
          </a:xfrm>
          <a:prstGeom prst="rect">
            <a:avLst/>
          </a:prstGeom>
          <a:noFill/>
          <a:ln/>
        </p:spPr>
        <p:txBody>
          <a:bodyPr wrap="square" lIns="0" tIns="0" rIns="0" bIns="0" rtlCol="0" anchor="ctr"/>
          <a:lstStyle/>
          <a:p>
            <a:pPr indent="0" marL="0">
              <a:lnSpc>
                <a:spcPts val="1700"/>
              </a:lnSpc>
              <a:buNone/>
            </a:pPr>
            <a:r>
              <a:rPr lang="en-US" sz="1250" b="1" dirty="0">
                <a:solidFill>
                  <a:srgbClr val="D1453B"/>
                </a:solidFill>
                <a:latin typeface="Courier New" pitchFamily="34" charset="0"/>
                <a:ea typeface="Courier New" pitchFamily="34" charset="-122"/>
                <a:cs typeface="Courier New" pitchFamily="34" charset="-120"/>
              </a:rPr>
              <a:t>tia: selected 0 of 115 tests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-&gt; SELECTED: project source present in a fresh map</a:t>
            </a:r>
            <a:endParaRPr lang="en-US" sz="1250" dirty="0"/>
          </a:p>
          <a:p>
            <a:pPr indent="0" marL="0">
              <a:lnSpc>
                <a:spcPts val="1700"/>
              </a:lnSpc>
              <a:buNone/>
            </a:pP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a confident verdict, and an empty selection</a:t>
            </a:r>
            <a:endParaRPr lang="en-US" sz="1250" dirty="0"/>
          </a:p>
        </p:txBody>
      </p:sp>
      <p:sp>
        <p:nvSpPr>
          <p:cNvPr id="7" name="Text 5"/>
          <p:cNvSpPr txBox="1"/>
          <p:nvPr/>
        </p:nvSpPr>
        <p:spPr>
          <a:xfrm>
            <a:off x="640080" y="4160520"/>
            <a:ext cx="1088136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On its third run, the pipeline caught the tool reporting an empty selection as a confident answer.</a:t>
            </a:r>
            <a:endParaRPr lang="en-US" sz="1600" dirty="0"/>
          </a:p>
        </p:txBody>
      </p:sp>
      <p:sp>
        <p:nvSpPr>
          <p:cNvPr id="8" name="Text 6"/>
          <p:cNvSpPr txBox="1"/>
          <p:nvPr/>
        </p:nvSpPr>
        <p:spPr>
          <a:xfrm>
            <a:off x="640080" y="4526280"/>
            <a:ext cx="10881360" cy="1371600"/>
          </a:xfrm>
          <a:prstGeom prst="rect">
            <a:avLst/>
          </a:prstGeom>
          <a:noFill/>
          <a:ln/>
        </p:spPr>
        <p:txBody>
          <a:bodyPr wrap="square" lIns="0" tIns="0" rIns="0" bIns="0" rtlCol="0" anchor="ctr"/>
          <a:lstStyle/>
          <a:p>
            <a:pPr indent="0" marL="0">
              <a:lnSpc>
                <a:spcPts val="1800"/>
              </a:lnSpc>
              <a:buNone/>
            </a:pPr>
            <a:r>
              <a:rPr lang="en-US" sz="1250" dirty="0">
                <a:solidFill>
                  <a:srgbClr val="17232F"/>
                </a:solidFill>
                <a:latin typeface="Calibri" pitchFamily="34" charset="0"/>
                <a:ea typeface="Calibri" pitchFamily="34" charset="-122"/>
                <a:cs typeface="Calibri" pitchFamily="34" charset="-120"/>
              </a:rPr>
              <a:t>The changed lines were continuation lines of a multi-line statement, which coverage attributes to the statement's first line — so the lookup found nothing and reported that as "nothing needs to run". The pytest plugin already refused to run zero tests, so it was a reporting fault rather than a miss, but anyone integrating against `tia select --format json` would have been told with confidence that no tests were needed. An empty lookup is ignorance, not proof: it now widens to the file under LINE_NOT_IN_MAP.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do not claim</a:t>
            </a:r>
            <a:endParaRPr lang="en-US" sz="3400" dirty="0"/>
          </a:p>
        </p:txBody>
      </p:sp>
      <p:sp>
        <p:nvSpPr>
          <p:cNvPr id="4" name="Text 2"/>
          <p:cNvSpPr txBox="1"/>
          <p:nvPr/>
        </p:nvSpPr>
        <p:spPr>
          <a:xfrm>
            <a:off x="640080" y="1645920"/>
            <a:ext cx="6492240" cy="3108960"/>
          </a:xfrm>
          <a:prstGeom prst="rect">
            <a:avLst/>
          </a:prstGeom>
          <a:noFill/>
          <a:ln/>
        </p:spPr>
        <p:txBody>
          <a:bodyPr wrap="square" lIns="0" tIns="0" rIns="0" bIns="0" rtlCol="0" anchor="ctr"/>
          <a:lstStyle/>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Complete certainty is not attainable in a dynamically typed language, and we do not claim it. Code loaded by name at run time, getattr dispatch, monkeypatching, entry points and plugin registries are invisible to the import graph — there is a test in the suite that pins exactly that, so the report cannot quietly drift.</a:t>
            </a:r>
            <a:endParaRPr lang="en-US" sz="1300" dirty="0"/>
          </a:p>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The line-level map partly compensates, because it records what actually executed rather than what the source appears to say. Neither mechanism is complete.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What we claim instead is bounded, measured safety: 0 misses in 211 non-equivalent injected defects, on two real codebases, reproducible from the pinned corpus with one command.</a:t>
            </a:r>
            <a:endParaRPr lang="en-US" sz="1300" dirty="0"/>
          </a:p>
        </p:txBody>
      </p:sp>
      <p:sp>
        <p:nvSpPr>
          <p:cNvPr id="5" name="Shape 3"/>
          <p:cNvSpPr/>
          <p:nvPr/>
        </p:nvSpPr>
        <p:spPr>
          <a:xfrm>
            <a:off x="7406640" y="1645920"/>
            <a:ext cx="4114800" cy="3200400"/>
          </a:xfrm>
          <a:prstGeom prst="roundRect">
            <a:avLst>
              <a:gd name="adj" fmla="val 2286"/>
            </a:avLst>
          </a:prstGeom>
          <a:solidFill>
            <a:srgbClr val="223141"/>
          </a:solidFill>
          <a:ln w="12700">
            <a:solidFill>
              <a:srgbClr val="333333"/>
            </a:solidFill>
            <a:prstDash val="solid"/>
          </a:ln>
        </p:spPr>
      </p:sp>
      <p:sp>
        <p:nvSpPr>
          <p:cNvPr id="6" name="Text 4"/>
          <p:cNvSpPr txBox="1"/>
          <p:nvPr/>
        </p:nvSpPr>
        <p:spPr>
          <a:xfrm>
            <a:off x="7726680" y="1828800"/>
            <a:ext cx="3566160" cy="274320"/>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Not yet measured</a:t>
            </a:r>
            <a:endParaRPr lang="en-US" sz="1200" dirty="0"/>
          </a:p>
        </p:txBody>
      </p:sp>
      <p:sp>
        <p:nvSpPr>
          <p:cNvPr id="7" name="Text 5"/>
          <p:cNvSpPr txBox="1"/>
          <p:nvPr/>
        </p:nvSpPr>
        <p:spPr>
          <a:xfrm>
            <a:off x="7726680" y="2194560"/>
            <a:ext cx="3566160" cy="24688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Fallback frequency over real historical commits, rather than injected defects</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Safety beyond 200 mutants per repository</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A third codebase</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Whether 0.6 is the right closure limit — it is SPEC's suggestion, not a measured optimum</a:t>
            </a:r>
            <a:endParaRPr lang="en-US" sz="1100" dirty="0"/>
          </a:p>
        </p:txBody>
      </p:sp>
      <p:sp>
        <p:nvSpPr>
          <p:cNvPr id="8" name="Text 6"/>
          <p:cNvSpPr txBox="1"/>
          <p:nvPr/>
        </p:nvSpPr>
        <p:spPr>
          <a:xfrm>
            <a:off x="640080" y="5074920"/>
            <a:ext cx="10881360" cy="73152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the fallback rate as prominently as the speedup, and the two measurements that misled us before we caught them.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Installable CLI and pytest plugin, end to end</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Line-level map, git diff, 16-rule classifier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Import graph with closure limit (Phase 2)</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Evaluation harness: corpus, baselines, defect injection, precision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Two real codebases, four A/B arms, every figure from committed JSON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CI pipeline running tia on tia</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125 tests, mypy --strict, 27 commits</a:t>
            </a:r>
            <a:endParaRPr lang="en-US" sz="110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Evidence</a:t>
            </a:r>
            <a:endParaRPr lang="en-US" sz="1300" dirty="0"/>
          </a:p>
        </p:txBody>
      </p:sp>
      <p:sp>
        <p:nvSpPr>
          <p:cNvPr id="7" name="Text 5"/>
          <p:cNvSpPr txBox="1"/>
          <p:nvPr/>
        </p:nvSpPr>
        <p:spPr>
          <a:xfrm>
            <a:off x="443484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docs/SAFETY.md — what is guaranteed and what is not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docs/DECISIONS.md — 13 dated decisions, each with a falsification condition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eval/results/ — raw JSON for every published number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make reproduce — replays every published defect and checks the result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pip install tia-select — published, 0.1.0</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github.com/Tanmay-Singh-24/tia — public, CI green on 3.11 and 3.12</a:t>
            </a:r>
            <a:endParaRPr lang="en-US" sz="110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822960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Fallback frequency over sampled historical commits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Sweep the closure limit against net reduction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Third corpus repository (black, held in reserve)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Incremental map updates, so a stale map need not mean the full suite</a:t>
            </a:r>
            <a:endParaRPr lang="en-US" sz="1100" dirty="0"/>
          </a:p>
        </p:txBody>
      </p:sp>
      <p:sp>
        <p:nvSpPr>
          <p:cNvPr id="10" name="Shape 8"/>
          <p:cNvSpPr/>
          <p:nvPr/>
        </p:nvSpPr>
        <p:spPr>
          <a:xfrm>
            <a:off x="640080" y="5303520"/>
            <a:ext cx="10881360" cy="868680"/>
          </a:xfrm>
          <a:prstGeom prst="roundRect">
            <a:avLst>
              <a:gd name="adj" fmla="val 8421"/>
            </a:avLst>
          </a:prstGeom>
          <a:solidFill>
            <a:srgbClr val="17232F"/>
          </a:solidFill>
          <a:ln w="12700">
            <a:solidFill>
              <a:srgbClr val="333333"/>
            </a:solidFill>
            <a:prstDash val="solid"/>
          </a:ln>
        </p:spPr>
      </p:sp>
      <p:sp>
        <p:nvSpPr>
          <p:cNvPr id="11" name="Text 9"/>
          <p:cNvSpPr txBox="1"/>
          <p:nvPr/>
        </p:nvSpPr>
        <p:spPr>
          <a:xfrm>
            <a:off x="960120" y="5486400"/>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0 misses in 211 injected defects. 65.2% less test time on a 4,371-test suite. Four bugs found by our own evaluation — including one the import graph itself introduced.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Final Review</dc:title>
  <dc:subject>PptxGenJS Presentation</dc:subject>
  <dc:creator>Tanmay Singh</dc:creator>
  <cp:lastModifiedBy>Tanmay Singh</cp:lastModifiedBy>
  <cp:revision>1</cp:revision>
  <dcterms:created xsi:type="dcterms:W3CDTF">2026-10-02T20:55:57Z</dcterms:created>
  <dcterms:modified xsi:type="dcterms:W3CDTF">2026-10-02T20:55:57Z</dcterms:modified>
</cp:coreProperties>
</file>