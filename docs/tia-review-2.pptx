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that runs only the tests a git change can affect, and runs everything whenever that cannot be established. The contribution is not speed — it is inspectable selection logic paired with a reproducible safety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miss count, not the speedup. Anyone can make tests run faster by skipping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evidence, not capability. Show --explain and make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amortised. Phase 3 is what makes Phase 2's safety rule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carries a machine-readable reason code. That is what makes the logic inspectable and the fallback rate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A safety claim is only as good as the experiment that could have falsified it — and this one did, on its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result is modest on attrs: a four-second suite has nothing to give. That is a finding about where this technique pays, not a failure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whose contribution is reproducible measurement has to be hardest on its own measurements. Both faults are written up in DECISIONS with what now prevents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runs on the real attrs checkout. Step 5 injects a defect and prints 31 failed on purpose — the full suite and the selection both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bug our own evaluation found. The pattern is the argument: build the measuring apparatus first and it keeps earning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limitations before the panel finds them. The import graph test that pins dynamic-import blindness is the strongest honesty signal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evaluation finding our own bugs. That is the argument for building the measuring apparatus before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1737360"/>
            <a:ext cx="6858000" cy="1371600"/>
          </a:xfrm>
          <a:prstGeom prst="rect">
            <a:avLst/>
          </a:prstGeom>
          <a:noFill/>
          <a:ln/>
        </p:spPr>
        <p:txBody>
          <a:bodyPr wrap="square" lIns="0" tIns="0" rIns="0" bIns="0"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tia</a:t>
            </a:r>
            <a:endParaRPr lang="en-US" sz="9600" dirty="0"/>
          </a:p>
        </p:txBody>
      </p:sp>
      <p:sp>
        <p:nvSpPr>
          <p:cNvPr id="3" name="Text 1"/>
          <p:cNvSpPr txBox="1"/>
          <p:nvPr/>
        </p:nvSpPr>
        <p:spPr>
          <a:xfrm>
            <a:off x="640080" y="3063240"/>
            <a:ext cx="7498080" cy="457200"/>
          </a:xfrm>
          <a:prstGeom prst="rect">
            <a:avLst/>
          </a:prstGeom>
          <a:noFill/>
          <a:ln/>
        </p:spPr>
        <p:txBody>
          <a:bodyPr wrap="square" lIns="0" tIns="0" rIns="0" bIns="0" rtlCol="0" anchor="ctr"/>
          <a:lstStyle/>
          <a:p>
            <a:pPr indent="0" marL="0">
              <a:buNone/>
            </a:pPr>
            <a:r>
              <a:rPr lang="en-US" sz="2400" dirty="0">
                <a:solidFill>
                  <a:srgbClr val="AFC0CE"/>
                </a:solidFill>
                <a:latin typeface="Cambria" pitchFamily="34" charset="0"/>
                <a:ea typeface="Cambria" pitchFamily="34" charset="-122"/>
                <a:cs typeface="Cambria" pitchFamily="34" charset="-120"/>
              </a:rPr>
              <a:t>Selective test execution for CI pipelines</a:t>
            </a:r>
            <a:endParaRPr lang="en-US" sz="2400" dirty="0"/>
          </a:p>
        </p:txBody>
      </p:sp>
      <p:sp>
        <p:nvSpPr>
          <p:cNvPr id="4" name="Text 2"/>
          <p:cNvSpPr txBox="1"/>
          <p:nvPr/>
        </p:nvSpPr>
        <p:spPr>
          <a:xfrm>
            <a:off x="640080" y="3611880"/>
            <a:ext cx="6949440" cy="731520"/>
          </a:xfrm>
          <a:prstGeom prst="rect">
            <a:avLst/>
          </a:prstGeom>
          <a:noFill/>
          <a:ln/>
        </p:spPr>
        <p:txBody>
          <a:bodyPr wrap="square" lIns="0" tIns="0" rIns="0" bIns="0" rtlCol="0" anchor="ctr"/>
          <a:lstStyle/>
          <a:p>
            <a:pPr indent="0" marL="0">
              <a:buNone/>
            </a:pPr>
            <a:r>
              <a:rPr lang="en-US" sz="1400" dirty="0">
                <a:solidFill>
                  <a:srgbClr val="8DA0B0"/>
                </a:solidFill>
                <a:latin typeface="Calibri" pitchFamily="34" charset="0"/>
                <a:ea typeface="Calibri" pitchFamily="34" charset="-122"/>
                <a:cs typeface="Calibri" pitchFamily="34" charset="-120"/>
              </a:rPr>
              <a:t>Zero missed defects across 211 injected into two real codebases, at up to 65.2% less test time.</a:t>
            </a:r>
            <a:endParaRPr lang="en-US" sz="1400" dirty="0"/>
          </a:p>
        </p:txBody>
      </p:sp>
      <p:sp>
        <p:nvSpPr>
          <p:cNvPr id="5" name="Text 3"/>
          <p:cNvSpPr txBox="1"/>
          <p:nvPr/>
        </p:nvSpPr>
        <p:spPr>
          <a:xfrm>
            <a:off x="640080" y="4892040"/>
            <a:ext cx="3200400" cy="274320"/>
          </a:xfrm>
          <a:prstGeom prst="rect">
            <a:avLst/>
          </a:prstGeom>
          <a:noFill/>
          <a:ln/>
        </p:spPr>
        <p:txBody>
          <a:bodyPr wrap="square" lIns="0" tIns="0" rIns="0" bIns="0" rtlCol="0" anchor="ctr"/>
          <a:lstStyle/>
          <a:p>
            <a:pPr indent="0" marL="0">
              <a:buNone/>
            </a:pPr>
            <a:r>
              <a:rPr lang="en-US" sz="1200" b="1" spc="300" kern="0" dirty="0">
                <a:solidFill>
                  <a:srgbClr val="C07A1B"/>
                </a:solidFill>
                <a:latin typeface="Calibri" pitchFamily="34" charset="0"/>
                <a:ea typeface="Calibri" pitchFamily="34" charset="-122"/>
                <a:cs typeface="Calibri" pitchFamily="34" charset="-120"/>
              </a:rPr>
              <a:t>FINAL REVIEW</a:t>
            </a:r>
            <a:endParaRPr lang="en-US" sz="1200" dirty="0"/>
          </a:p>
        </p:txBody>
      </p:sp>
      <p:sp>
        <p:nvSpPr>
          <p:cNvPr id="6" name="Text 4"/>
          <p:cNvSpPr txBox="1"/>
          <p:nvPr/>
        </p:nvSpPr>
        <p:spPr>
          <a:xfrm>
            <a:off x="640080" y="5212080"/>
            <a:ext cx="5486400" cy="274320"/>
          </a:xfrm>
          <a:prstGeom prst="rect">
            <a:avLst/>
          </a:prstGeom>
          <a:noFill/>
          <a:ln/>
        </p:spPr>
        <p:txBody>
          <a:bodyPr wrap="square" lIns="0" tIns="0" rIns="0" bIns="0" rtlCol="0" anchor="ctr"/>
          <a:lstStyle/>
          <a:p>
            <a:pPr indent="0" marL="0">
              <a:buNone/>
            </a:pPr>
            <a:r>
              <a:rPr lang="en-US" sz="1200" dirty="0">
                <a:solidFill>
                  <a:srgbClr val="8DA0B0"/>
                </a:solidFill>
                <a:latin typeface="Calibri" pitchFamily="34" charset="0"/>
                <a:ea typeface="Calibri" pitchFamily="34" charset="-122"/>
                <a:cs typeface="Calibri" pitchFamily="34" charset="-120"/>
              </a:rPr>
              <a:t>Tanmay Singh  ·  B.Tech CSE  ·  VIT Bhopal</a:t>
            </a:r>
            <a:endParaRPr lang="en-US" sz="1200" dirty="0"/>
          </a:p>
        </p:txBody>
      </p:sp>
      <p:sp>
        <p:nvSpPr>
          <p:cNvPr id="7" name="Shape 5"/>
          <p:cNvSpPr/>
          <p:nvPr/>
        </p:nvSpPr>
        <p:spPr>
          <a:xfrm>
            <a:off x="8366760" y="1737360"/>
            <a:ext cx="201168" cy="201168"/>
          </a:xfrm>
          <a:prstGeom prst="rect">
            <a:avLst/>
          </a:prstGeom>
          <a:solidFill>
            <a:srgbClr val="223141"/>
          </a:solidFill>
          <a:ln w="12700">
            <a:solidFill>
              <a:srgbClr val="333333"/>
            </a:solidFill>
            <a:prstDash val="solid"/>
          </a:ln>
        </p:spPr>
      </p:sp>
      <p:sp>
        <p:nvSpPr>
          <p:cNvPr id="8" name="Shape 6"/>
          <p:cNvSpPr/>
          <p:nvPr/>
        </p:nvSpPr>
        <p:spPr>
          <a:xfrm>
            <a:off x="8650224" y="1737360"/>
            <a:ext cx="201168" cy="201168"/>
          </a:xfrm>
          <a:prstGeom prst="rect">
            <a:avLst/>
          </a:prstGeom>
          <a:solidFill>
            <a:srgbClr val="223141"/>
          </a:solidFill>
          <a:ln w="12700">
            <a:solidFill>
              <a:srgbClr val="333333"/>
            </a:solidFill>
            <a:prstDash val="solid"/>
          </a:ln>
        </p:spPr>
      </p:sp>
      <p:sp>
        <p:nvSpPr>
          <p:cNvPr id="9" name="Shape 7"/>
          <p:cNvSpPr/>
          <p:nvPr/>
        </p:nvSpPr>
        <p:spPr>
          <a:xfrm>
            <a:off x="8933688" y="1737360"/>
            <a:ext cx="201168" cy="201168"/>
          </a:xfrm>
          <a:prstGeom prst="rect">
            <a:avLst/>
          </a:prstGeom>
          <a:solidFill>
            <a:srgbClr val="223141"/>
          </a:solidFill>
          <a:ln w="12700">
            <a:solidFill>
              <a:srgbClr val="333333"/>
            </a:solidFill>
            <a:prstDash val="solid"/>
          </a:ln>
        </p:spPr>
      </p:sp>
      <p:sp>
        <p:nvSpPr>
          <p:cNvPr id="10" name="Shape 8"/>
          <p:cNvSpPr/>
          <p:nvPr/>
        </p:nvSpPr>
        <p:spPr>
          <a:xfrm>
            <a:off x="9217152" y="1737360"/>
            <a:ext cx="201168" cy="201168"/>
          </a:xfrm>
          <a:prstGeom prst="rect">
            <a:avLst/>
          </a:prstGeom>
          <a:solidFill>
            <a:srgbClr val="223141"/>
          </a:solidFill>
          <a:ln w="12700">
            <a:solidFill>
              <a:srgbClr val="333333"/>
            </a:solidFill>
            <a:prstDash val="solid"/>
          </a:ln>
        </p:spPr>
      </p:sp>
      <p:sp>
        <p:nvSpPr>
          <p:cNvPr id="11" name="Shape 9"/>
          <p:cNvSpPr/>
          <p:nvPr/>
        </p:nvSpPr>
        <p:spPr>
          <a:xfrm>
            <a:off x="9500616" y="1737360"/>
            <a:ext cx="201168" cy="201168"/>
          </a:xfrm>
          <a:prstGeom prst="rect">
            <a:avLst/>
          </a:prstGeom>
          <a:solidFill>
            <a:srgbClr val="223141"/>
          </a:solidFill>
          <a:ln w="12700">
            <a:solidFill>
              <a:srgbClr val="333333"/>
            </a:solidFill>
            <a:prstDash val="solid"/>
          </a:ln>
        </p:spPr>
      </p:sp>
      <p:sp>
        <p:nvSpPr>
          <p:cNvPr id="12" name="Shape 10"/>
          <p:cNvSpPr/>
          <p:nvPr/>
        </p:nvSpPr>
        <p:spPr>
          <a:xfrm>
            <a:off x="9784080" y="1737360"/>
            <a:ext cx="201168" cy="201168"/>
          </a:xfrm>
          <a:prstGeom prst="rect">
            <a:avLst/>
          </a:prstGeom>
          <a:solidFill>
            <a:srgbClr val="223141"/>
          </a:solidFill>
          <a:ln w="12700">
            <a:solidFill>
              <a:srgbClr val="333333"/>
            </a:solidFill>
            <a:prstDash val="solid"/>
          </a:ln>
        </p:spPr>
      </p:sp>
      <p:sp>
        <p:nvSpPr>
          <p:cNvPr id="13" name="Shape 11"/>
          <p:cNvSpPr/>
          <p:nvPr/>
        </p:nvSpPr>
        <p:spPr>
          <a:xfrm>
            <a:off x="10067544" y="1737360"/>
            <a:ext cx="201168" cy="201168"/>
          </a:xfrm>
          <a:prstGeom prst="rect">
            <a:avLst/>
          </a:prstGeom>
          <a:solidFill>
            <a:srgbClr val="223141"/>
          </a:solidFill>
          <a:ln w="12700">
            <a:solidFill>
              <a:srgbClr val="333333"/>
            </a:solidFill>
            <a:prstDash val="solid"/>
          </a:ln>
        </p:spPr>
      </p:sp>
      <p:sp>
        <p:nvSpPr>
          <p:cNvPr id="14" name="Shape 12"/>
          <p:cNvSpPr/>
          <p:nvPr/>
        </p:nvSpPr>
        <p:spPr>
          <a:xfrm>
            <a:off x="10351008" y="1737360"/>
            <a:ext cx="201168" cy="201168"/>
          </a:xfrm>
          <a:prstGeom prst="rect">
            <a:avLst/>
          </a:prstGeom>
          <a:solidFill>
            <a:srgbClr val="223141"/>
          </a:solidFill>
          <a:ln w="12700">
            <a:solidFill>
              <a:srgbClr val="333333"/>
            </a:solidFill>
            <a:prstDash val="solid"/>
          </a:ln>
        </p:spPr>
      </p:sp>
      <p:sp>
        <p:nvSpPr>
          <p:cNvPr id="15" name="Shape 13"/>
          <p:cNvSpPr/>
          <p:nvPr/>
        </p:nvSpPr>
        <p:spPr>
          <a:xfrm>
            <a:off x="10634472" y="1737360"/>
            <a:ext cx="201168" cy="201168"/>
          </a:xfrm>
          <a:prstGeom prst="rect">
            <a:avLst/>
          </a:prstGeom>
          <a:solidFill>
            <a:srgbClr val="223141"/>
          </a:solidFill>
          <a:ln w="12700">
            <a:solidFill>
              <a:srgbClr val="333333"/>
            </a:solidFill>
            <a:prstDash val="solid"/>
          </a:ln>
        </p:spPr>
      </p:sp>
      <p:sp>
        <p:nvSpPr>
          <p:cNvPr id="16" name="Shape 14"/>
          <p:cNvSpPr/>
          <p:nvPr/>
        </p:nvSpPr>
        <p:spPr>
          <a:xfrm>
            <a:off x="10917936" y="1737360"/>
            <a:ext cx="201168" cy="201168"/>
          </a:xfrm>
          <a:prstGeom prst="rect">
            <a:avLst/>
          </a:prstGeom>
          <a:solidFill>
            <a:srgbClr val="223141"/>
          </a:solidFill>
          <a:ln w="12700">
            <a:solidFill>
              <a:srgbClr val="333333"/>
            </a:solidFill>
            <a:prstDash val="solid"/>
          </a:ln>
        </p:spPr>
      </p:sp>
      <p:sp>
        <p:nvSpPr>
          <p:cNvPr id="17" name="Shape 15"/>
          <p:cNvSpPr/>
          <p:nvPr/>
        </p:nvSpPr>
        <p:spPr>
          <a:xfrm>
            <a:off x="11201400" y="1737360"/>
            <a:ext cx="201168" cy="201168"/>
          </a:xfrm>
          <a:prstGeom prst="rect">
            <a:avLst/>
          </a:prstGeom>
          <a:solidFill>
            <a:srgbClr val="223141"/>
          </a:solidFill>
          <a:ln w="12700">
            <a:solidFill>
              <a:srgbClr val="333333"/>
            </a:solidFill>
            <a:prstDash val="solid"/>
          </a:ln>
        </p:spPr>
      </p:sp>
      <p:sp>
        <p:nvSpPr>
          <p:cNvPr id="18" name="Shape 16"/>
          <p:cNvSpPr/>
          <p:nvPr/>
        </p:nvSpPr>
        <p:spPr>
          <a:xfrm>
            <a:off x="11484864" y="1737360"/>
            <a:ext cx="201168" cy="201168"/>
          </a:xfrm>
          <a:prstGeom prst="rect">
            <a:avLst/>
          </a:prstGeom>
          <a:solidFill>
            <a:srgbClr val="223141"/>
          </a:solidFill>
          <a:ln w="12700">
            <a:solidFill>
              <a:srgbClr val="333333"/>
            </a:solidFill>
            <a:prstDash val="solid"/>
          </a:ln>
        </p:spPr>
      </p:sp>
      <p:sp>
        <p:nvSpPr>
          <p:cNvPr id="19" name="Shape 17"/>
          <p:cNvSpPr/>
          <p:nvPr/>
        </p:nvSpPr>
        <p:spPr>
          <a:xfrm>
            <a:off x="8366760" y="2020824"/>
            <a:ext cx="201168" cy="201168"/>
          </a:xfrm>
          <a:prstGeom prst="rect">
            <a:avLst/>
          </a:prstGeom>
          <a:solidFill>
            <a:srgbClr val="223141"/>
          </a:solidFill>
          <a:ln w="12700">
            <a:solidFill>
              <a:srgbClr val="333333"/>
            </a:solidFill>
            <a:prstDash val="solid"/>
          </a:ln>
        </p:spPr>
      </p:sp>
      <p:sp>
        <p:nvSpPr>
          <p:cNvPr id="20" name="Shape 18"/>
          <p:cNvSpPr/>
          <p:nvPr/>
        </p:nvSpPr>
        <p:spPr>
          <a:xfrm>
            <a:off x="8650224" y="2020824"/>
            <a:ext cx="201168" cy="201168"/>
          </a:xfrm>
          <a:prstGeom prst="rect">
            <a:avLst/>
          </a:prstGeom>
          <a:solidFill>
            <a:srgbClr val="223141"/>
          </a:solidFill>
          <a:ln w="12700">
            <a:solidFill>
              <a:srgbClr val="333333"/>
            </a:solidFill>
            <a:prstDash val="solid"/>
          </a:ln>
        </p:spPr>
      </p:sp>
      <p:sp>
        <p:nvSpPr>
          <p:cNvPr id="21" name="Shape 19"/>
          <p:cNvSpPr/>
          <p:nvPr/>
        </p:nvSpPr>
        <p:spPr>
          <a:xfrm>
            <a:off x="8933688" y="2020824"/>
            <a:ext cx="201168" cy="201168"/>
          </a:xfrm>
          <a:prstGeom prst="rect">
            <a:avLst/>
          </a:prstGeom>
          <a:solidFill>
            <a:srgbClr val="223141"/>
          </a:solidFill>
          <a:ln w="12700">
            <a:solidFill>
              <a:srgbClr val="333333"/>
            </a:solidFill>
            <a:prstDash val="solid"/>
          </a:ln>
        </p:spPr>
      </p:sp>
      <p:sp>
        <p:nvSpPr>
          <p:cNvPr id="22" name="Shape 20"/>
          <p:cNvSpPr/>
          <p:nvPr/>
        </p:nvSpPr>
        <p:spPr>
          <a:xfrm>
            <a:off x="9217152" y="2020824"/>
            <a:ext cx="201168" cy="201168"/>
          </a:xfrm>
          <a:prstGeom prst="rect">
            <a:avLst/>
          </a:prstGeom>
          <a:solidFill>
            <a:srgbClr val="223141"/>
          </a:solidFill>
          <a:ln w="12700">
            <a:solidFill>
              <a:srgbClr val="333333"/>
            </a:solidFill>
            <a:prstDash val="solid"/>
          </a:ln>
        </p:spPr>
      </p:sp>
      <p:sp>
        <p:nvSpPr>
          <p:cNvPr id="23" name="Shape 21"/>
          <p:cNvSpPr/>
          <p:nvPr/>
        </p:nvSpPr>
        <p:spPr>
          <a:xfrm>
            <a:off x="9500616" y="2020824"/>
            <a:ext cx="201168" cy="201168"/>
          </a:xfrm>
          <a:prstGeom prst="rect">
            <a:avLst/>
          </a:prstGeom>
          <a:solidFill>
            <a:srgbClr val="223141"/>
          </a:solidFill>
          <a:ln w="12700">
            <a:solidFill>
              <a:srgbClr val="333333"/>
            </a:solidFill>
            <a:prstDash val="solid"/>
          </a:ln>
        </p:spPr>
      </p:sp>
      <p:sp>
        <p:nvSpPr>
          <p:cNvPr id="24" name="Shape 22"/>
          <p:cNvSpPr/>
          <p:nvPr/>
        </p:nvSpPr>
        <p:spPr>
          <a:xfrm>
            <a:off x="9784080" y="2020824"/>
            <a:ext cx="201168" cy="201168"/>
          </a:xfrm>
          <a:prstGeom prst="rect">
            <a:avLst/>
          </a:prstGeom>
          <a:solidFill>
            <a:srgbClr val="223141"/>
          </a:solidFill>
          <a:ln w="12700">
            <a:solidFill>
              <a:srgbClr val="333333"/>
            </a:solidFill>
            <a:prstDash val="solid"/>
          </a:ln>
        </p:spPr>
      </p:sp>
      <p:sp>
        <p:nvSpPr>
          <p:cNvPr id="25" name="Shape 23"/>
          <p:cNvSpPr/>
          <p:nvPr/>
        </p:nvSpPr>
        <p:spPr>
          <a:xfrm>
            <a:off x="10067544" y="2020824"/>
            <a:ext cx="201168" cy="201168"/>
          </a:xfrm>
          <a:prstGeom prst="rect">
            <a:avLst/>
          </a:prstGeom>
          <a:solidFill>
            <a:srgbClr val="223141"/>
          </a:solidFill>
          <a:ln w="12700">
            <a:solidFill>
              <a:srgbClr val="333333"/>
            </a:solidFill>
            <a:prstDash val="solid"/>
          </a:ln>
        </p:spPr>
      </p:sp>
      <p:sp>
        <p:nvSpPr>
          <p:cNvPr id="26" name="Shape 24"/>
          <p:cNvSpPr/>
          <p:nvPr/>
        </p:nvSpPr>
        <p:spPr>
          <a:xfrm>
            <a:off x="10351008" y="2020824"/>
            <a:ext cx="201168" cy="201168"/>
          </a:xfrm>
          <a:prstGeom prst="rect">
            <a:avLst/>
          </a:prstGeom>
          <a:solidFill>
            <a:srgbClr val="223141"/>
          </a:solidFill>
          <a:ln w="12700">
            <a:solidFill>
              <a:srgbClr val="333333"/>
            </a:solidFill>
            <a:prstDash val="solid"/>
          </a:ln>
        </p:spPr>
      </p:sp>
      <p:sp>
        <p:nvSpPr>
          <p:cNvPr id="27" name="Shape 25"/>
          <p:cNvSpPr/>
          <p:nvPr/>
        </p:nvSpPr>
        <p:spPr>
          <a:xfrm>
            <a:off x="10634472" y="2020824"/>
            <a:ext cx="201168" cy="201168"/>
          </a:xfrm>
          <a:prstGeom prst="rect">
            <a:avLst/>
          </a:prstGeom>
          <a:solidFill>
            <a:srgbClr val="223141"/>
          </a:solidFill>
          <a:ln w="12700">
            <a:solidFill>
              <a:srgbClr val="333333"/>
            </a:solidFill>
            <a:prstDash val="solid"/>
          </a:ln>
        </p:spPr>
      </p:sp>
      <p:sp>
        <p:nvSpPr>
          <p:cNvPr id="28" name="Shape 26"/>
          <p:cNvSpPr/>
          <p:nvPr/>
        </p:nvSpPr>
        <p:spPr>
          <a:xfrm>
            <a:off x="10917936" y="2020824"/>
            <a:ext cx="201168" cy="201168"/>
          </a:xfrm>
          <a:prstGeom prst="rect">
            <a:avLst/>
          </a:prstGeom>
          <a:solidFill>
            <a:srgbClr val="223141"/>
          </a:solidFill>
          <a:ln w="12700">
            <a:solidFill>
              <a:srgbClr val="333333"/>
            </a:solidFill>
            <a:prstDash val="solid"/>
          </a:ln>
        </p:spPr>
      </p:sp>
      <p:sp>
        <p:nvSpPr>
          <p:cNvPr id="29" name="Shape 27"/>
          <p:cNvSpPr/>
          <p:nvPr/>
        </p:nvSpPr>
        <p:spPr>
          <a:xfrm>
            <a:off x="11201400" y="2020824"/>
            <a:ext cx="201168" cy="201168"/>
          </a:xfrm>
          <a:prstGeom prst="rect">
            <a:avLst/>
          </a:prstGeom>
          <a:solidFill>
            <a:srgbClr val="223141"/>
          </a:solidFill>
          <a:ln w="12700">
            <a:solidFill>
              <a:srgbClr val="333333"/>
            </a:solidFill>
            <a:prstDash val="solid"/>
          </a:ln>
        </p:spPr>
      </p:sp>
      <p:sp>
        <p:nvSpPr>
          <p:cNvPr id="30" name="Shape 28"/>
          <p:cNvSpPr/>
          <p:nvPr/>
        </p:nvSpPr>
        <p:spPr>
          <a:xfrm>
            <a:off x="11484864" y="2020824"/>
            <a:ext cx="201168" cy="201168"/>
          </a:xfrm>
          <a:prstGeom prst="rect">
            <a:avLst/>
          </a:prstGeom>
          <a:solidFill>
            <a:srgbClr val="223141"/>
          </a:solidFill>
          <a:ln w="12700">
            <a:solidFill>
              <a:srgbClr val="333333"/>
            </a:solidFill>
            <a:prstDash val="solid"/>
          </a:ln>
        </p:spPr>
      </p:sp>
      <p:sp>
        <p:nvSpPr>
          <p:cNvPr id="31" name="Shape 29"/>
          <p:cNvSpPr/>
          <p:nvPr/>
        </p:nvSpPr>
        <p:spPr>
          <a:xfrm>
            <a:off x="8366760" y="2304288"/>
            <a:ext cx="201168" cy="201168"/>
          </a:xfrm>
          <a:prstGeom prst="rect">
            <a:avLst/>
          </a:prstGeom>
          <a:solidFill>
            <a:srgbClr val="223141"/>
          </a:solidFill>
          <a:ln w="12700">
            <a:solidFill>
              <a:srgbClr val="333333"/>
            </a:solidFill>
            <a:prstDash val="solid"/>
          </a:ln>
        </p:spPr>
      </p:sp>
      <p:sp>
        <p:nvSpPr>
          <p:cNvPr id="32" name="Shape 30"/>
          <p:cNvSpPr/>
          <p:nvPr/>
        </p:nvSpPr>
        <p:spPr>
          <a:xfrm>
            <a:off x="8650224" y="2304288"/>
            <a:ext cx="201168" cy="201168"/>
          </a:xfrm>
          <a:prstGeom prst="rect">
            <a:avLst/>
          </a:prstGeom>
          <a:solidFill>
            <a:srgbClr val="223141"/>
          </a:solidFill>
          <a:ln w="12700">
            <a:solidFill>
              <a:srgbClr val="333333"/>
            </a:solidFill>
            <a:prstDash val="solid"/>
          </a:ln>
        </p:spPr>
      </p:sp>
      <p:sp>
        <p:nvSpPr>
          <p:cNvPr id="33" name="Shape 31"/>
          <p:cNvSpPr/>
          <p:nvPr/>
        </p:nvSpPr>
        <p:spPr>
          <a:xfrm>
            <a:off x="8933688" y="2304288"/>
            <a:ext cx="201168" cy="201168"/>
          </a:xfrm>
          <a:prstGeom prst="rect">
            <a:avLst/>
          </a:prstGeom>
          <a:solidFill>
            <a:srgbClr val="C07A1B"/>
          </a:solidFill>
          <a:ln w="12700">
            <a:solidFill>
              <a:srgbClr val="333333"/>
            </a:solidFill>
            <a:prstDash val="solid"/>
          </a:ln>
        </p:spPr>
      </p:sp>
      <p:sp>
        <p:nvSpPr>
          <p:cNvPr id="34" name="Shape 32"/>
          <p:cNvSpPr/>
          <p:nvPr/>
        </p:nvSpPr>
        <p:spPr>
          <a:xfrm>
            <a:off x="9217152" y="2304288"/>
            <a:ext cx="201168" cy="201168"/>
          </a:xfrm>
          <a:prstGeom prst="rect">
            <a:avLst/>
          </a:prstGeom>
          <a:solidFill>
            <a:srgbClr val="C07A1B"/>
          </a:solidFill>
          <a:ln w="12700">
            <a:solidFill>
              <a:srgbClr val="333333"/>
            </a:solidFill>
            <a:prstDash val="solid"/>
          </a:ln>
        </p:spPr>
      </p:sp>
      <p:sp>
        <p:nvSpPr>
          <p:cNvPr id="35" name="Shape 33"/>
          <p:cNvSpPr/>
          <p:nvPr/>
        </p:nvSpPr>
        <p:spPr>
          <a:xfrm>
            <a:off x="9500616" y="2304288"/>
            <a:ext cx="201168" cy="201168"/>
          </a:xfrm>
          <a:prstGeom prst="rect">
            <a:avLst/>
          </a:prstGeom>
          <a:solidFill>
            <a:srgbClr val="223141"/>
          </a:solidFill>
          <a:ln w="12700">
            <a:solidFill>
              <a:srgbClr val="333333"/>
            </a:solidFill>
            <a:prstDash val="solid"/>
          </a:ln>
        </p:spPr>
      </p:sp>
      <p:sp>
        <p:nvSpPr>
          <p:cNvPr id="36" name="Shape 34"/>
          <p:cNvSpPr/>
          <p:nvPr/>
        </p:nvSpPr>
        <p:spPr>
          <a:xfrm>
            <a:off x="9784080" y="2304288"/>
            <a:ext cx="201168" cy="201168"/>
          </a:xfrm>
          <a:prstGeom prst="rect">
            <a:avLst/>
          </a:prstGeom>
          <a:solidFill>
            <a:srgbClr val="223141"/>
          </a:solidFill>
          <a:ln w="12700">
            <a:solidFill>
              <a:srgbClr val="333333"/>
            </a:solidFill>
            <a:prstDash val="solid"/>
          </a:ln>
        </p:spPr>
      </p:sp>
      <p:sp>
        <p:nvSpPr>
          <p:cNvPr id="37" name="Shape 35"/>
          <p:cNvSpPr/>
          <p:nvPr/>
        </p:nvSpPr>
        <p:spPr>
          <a:xfrm>
            <a:off x="10067544" y="2304288"/>
            <a:ext cx="201168" cy="201168"/>
          </a:xfrm>
          <a:prstGeom prst="rect">
            <a:avLst/>
          </a:prstGeom>
          <a:solidFill>
            <a:srgbClr val="223141"/>
          </a:solidFill>
          <a:ln w="12700">
            <a:solidFill>
              <a:srgbClr val="333333"/>
            </a:solidFill>
            <a:prstDash val="solid"/>
          </a:ln>
        </p:spPr>
      </p:sp>
      <p:sp>
        <p:nvSpPr>
          <p:cNvPr id="38" name="Shape 36"/>
          <p:cNvSpPr/>
          <p:nvPr/>
        </p:nvSpPr>
        <p:spPr>
          <a:xfrm>
            <a:off x="10351008" y="2304288"/>
            <a:ext cx="201168" cy="201168"/>
          </a:xfrm>
          <a:prstGeom prst="rect">
            <a:avLst/>
          </a:prstGeom>
          <a:solidFill>
            <a:srgbClr val="223141"/>
          </a:solidFill>
          <a:ln w="12700">
            <a:solidFill>
              <a:srgbClr val="333333"/>
            </a:solidFill>
            <a:prstDash val="solid"/>
          </a:ln>
        </p:spPr>
      </p:sp>
      <p:sp>
        <p:nvSpPr>
          <p:cNvPr id="39" name="Shape 37"/>
          <p:cNvSpPr/>
          <p:nvPr/>
        </p:nvSpPr>
        <p:spPr>
          <a:xfrm>
            <a:off x="10634472" y="2304288"/>
            <a:ext cx="201168" cy="201168"/>
          </a:xfrm>
          <a:prstGeom prst="rect">
            <a:avLst/>
          </a:prstGeom>
          <a:solidFill>
            <a:srgbClr val="223141"/>
          </a:solidFill>
          <a:ln w="12700">
            <a:solidFill>
              <a:srgbClr val="333333"/>
            </a:solidFill>
            <a:prstDash val="solid"/>
          </a:ln>
        </p:spPr>
      </p:sp>
      <p:sp>
        <p:nvSpPr>
          <p:cNvPr id="40" name="Shape 38"/>
          <p:cNvSpPr/>
          <p:nvPr/>
        </p:nvSpPr>
        <p:spPr>
          <a:xfrm>
            <a:off x="10917936" y="2304288"/>
            <a:ext cx="201168" cy="201168"/>
          </a:xfrm>
          <a:prstGeom prst="rect">
            <a:avLst/>
          </a:prstGeom>
          <a:solidFill>
            <a:srgbClr val="223141"/>
          </a:solidFill>
          <a:ln w="12700">
            <a:solidFill>
              <a:srgbClr val="333333"/>
            </a:solidFill>
            <a:prstDash val="solid"/>
          </a:ln>
        </p:spPr>
      </p:sp>
      <p:sp>
        <p:nvSpPr>
          <p:cNvPr id="41" name="Shape 39"/>
          <p:cNvSpPr/>
          <p:nvPr/>
        </p:nvSpPr>
        <p:spPr>
          <a:xfrm>
            <a:off x="11201400" y="2304288"/>
            <a:ext cx="201168" cy="201168"/>
          </a:xfrm>
          <a:prstGeom prst="rect">
            <a:avLst/>
          </a:prstGeom>
          <a:solidFill>
            <a:srgbClr val="223141"/>
          </a:solidFill>
          <a:ln w="12700">
            <a:solidFill>
              <a:srgbClr val="333333"/>
            </a:solidFill>
            <a:prstDash val="solid"/>
          </a:ln>
        </p:spPr>
      </p:sp>
      <p:sp>
        <p:nvSpPr>
          <p:cNvPr id="42" name="Shape 40"/>
          <p:cNvSpPr/>
          <p:nvPr/>
        </p:nvSpPr>
        <p:spPr>
          <a:xfrm>
            <a:off x="11484864" y="2304288"/>
            <a:ext cx="201168" cy="201168"/>
          </a:xfrm>
          <a:prstGeom prst="rect">
            <a:avLst/>
          </a:prstGeom>
          <a:solidFill>
            <a:srgbClr val="223141"/>
          </a:solidFill>
          <a:ln w="12700">
            <a:solidFill>
              <a:srgbClr val="333333"/>
            </a:solidFill>
            <a:prstDash val="solid"/>
          </a:ln>
        </p:spPr>
      </p:sp>
      <p:sp>
        <p:nvSpPr>
          <p:cNvPr id="43" name="Shape 41"/>
          <p:cNvSpPr/>
          <p:nvPr/>
        </p:nvSpPr>
        <p:spPr>
          <a:xfrm>
            <a:off x="8366760" y="2587752"/>
            <a:ext cx="201168" cy="201168"/>
          </a:xfrm>
          <a:prstGeom prst="rect">
            <a:avLst/>
          </a:prstGeom>
          <a:solidFill>
            <a:srgbClr val="223141"/>
          </a:solidFill>
          <a:ln w="12700">
            <a:solidFill>
              <a:srgbClr val="333333"/>
            </a:solidFill>
            <a:prstDash val="solid"/>
          </a:ln>
        </p:spPr>
      </p:sp>
      <p:sp>
        <p:nvSpPr>
          <p:cNvPr id="44" name="Shape 42"/>
          <p:cNvSpPr/>
          <p:nvPr/>
        </p:nvSpPr>
        <p:spPr>
          <a:xfrm>
            <a:off x="8650224" y="2587752"/>
            <a:ext cx="201168" cy="201168"/>
          </a:xfrm>
          <a:prstGeom prst="rect">
            <a:avLst/>
          </a:prstGeom>
          <a:solidFill>
            <a:srgbClr val="223141"/>
          </a:solidFill>
          <a:ln w="12700">
            <a:solidFill>
              <a:srgbClr val="333333"/>
            </a:solidFill>
            <a:prstDash val="solid"/>
          </a:ln>
        </p:spPr>
      </p:sp>
      <p:sp>
        <p:nvSpPr>
          <p:cNvPr id="45" name="Shape 43"/>
          <p:cNvSpPr/>
          <p:nvPr/>
        </p:nvSpPr>
        <p:spPr>
          <a:xfrm>
            <a:off x="8933688" y="2587752"/>
            <a:ext cx="201168" cy="201168"/>
          </a:xfrm>
          <a:prstGeom prst="rect">
            <a:avLst/>
          </a:prstGeom>
          <a:solidFill>
            <a:srgbClr val="C07A1B"/>
          </a:solidFill>
          <a:ln w="12700">
            <a:solidFill>
              <a:srgbClr val="333333"/>
            </a:solidFill>
            <a:prstDash val="solid"/>
          </a:ln>
        </p:spPr>
      </p:sp>
      <p:sp>
        <p:nvSpPr>
          <p:cNvPr id="46" name="Shape 44"/>
          <p:cNvSpPr/>
          <p:nvPr/>
        </p:nvSpPr>
        <p:spPr>
          <a:xfrm>
            <a:off x="9217152" y="2587752"/>
            <a:ext cx="201168" cy="201168"/>
          </a:xfrm>
          <a:prstGeom prst="rect">
            <a:avLst/>
          </a:prstGeom>
          <a:solidFill>
            <a:srgbClr val="223141"/>
          </a:solidFill>
          <a:ln w="12700">
            <a:solidFill>
              <a:srgbClr val="333333"/>
            </a:solidFill>
            <a:prstDash val="solid"/>
          </a:ln>
        </p:spPr>
      </p:sp>
      <p:sp>
        <p:nvSpPr>
          <p:cNvPr id="47" name="Shape 45"/>
          <p:cNvSpPr/>
          <p:nvPr/>
        </p:nvSpPr>
        <p:spPr>
          <a:xfrm>
            <a:off x="9500616" y="2587752"/>
            <a:ext cx="201168" cy="201168"/>
          </a:xfrm>
          <a:prstGeom prst="rect">
            <a:avLst/>
          </a:prstGeom>
          <a:solidFill>
            <a:srgbClr val="223141"/>
          </a:solidFill>
          <a:ln w="12700">
            <a:solidFill>
              <a:srgbClr val="333333"/>
            </a:solidFill>
            <a:prstDash val="solid"/>
          </a:ln>
        </p:spPr>
      </p:sp>
      <p:sp>
        <p:nvSpPr>
          <p:cNvPr id="48" name="Shape 46"/>
          <p:cNvSpPr/>
          <p:nvPr/>
        </p:nvSpPr>
        <p:spPr>
          <a:xfrm>
            <a:off x="9784080" y="2587752"/>
            <a:ext cx="201168" cy="201168"/>
          </a:xfrm>
          <a:prstGeom prst="rect">
            <a:avLst/>
          </a:prstGeom>
          <a:solidFill>
            <a:srgbClr val="223141"/>
          </a:solidFill>
          <a:ln w="12700">
            <a:solidFill>
              <a:srgbClr val="333333"/>
            </a:solidFill>
            <a:prstDash val="solid"/>
          </a:ln>
        </p:spPr>
      </p:sp>
      <p:sp>
        <p:nvSpPr>
          <p:cNvPr id="49" name="Shape 47"/>
          <p:cNvSpPr/>
          <p:nvPr/>
        </p:nvSpPr>
        <p:spPr>
          <a:xfrm>
            <a:off x="10067544" y="2587752"/>
            <a:ext cx="201168" cy="201168"/>
          </a:xfrm>
          <a:prstGeom prst="rect">
            <a:avLst/>
          </a:prstGeom>
          <a:solidFill>
            <a:srgbClr val="223141"/>
          </a:solidFill>
          <a:ln w="12700">
            <a:solidFill>
              <a:srgbClr val="333333"/>
            </a:solidFill>
            <a:prstDash val="solid"/>
          </a:ln>
        </p:spPr>
      </p:sp>
      <p:sp>
        <p:nvSpPr>
          <p:cNvPr id="50" name="Shape 48"/>
          <p:cNvSpPr/>
          <p:nvPr/>
        </p:nvSpPr>
        <p:spPr>
          <a:xfrm>
            <a:off x="10351008" y="2587752"/>
            <a:ext cx="201168" cy="201168"/>
          </a:xfrm>
          <a:prstGeom prst="rect">
            <a:avLst/>
          </a:prstGeom>
          <a:solidFill>
            <a:srgbClr val="223141"/>
          </a:solidFill>
          <a:ln w="12700">
            <a:solidFill>
              <a:srgbClr val="333333"/>
            </a:solidFill>
            <a:prstDash val="solid"/>
          </a:ln>
        </p:spPr>
      </p:sp>
      <p:sp>
        <p:nvSpPr>
          <p:cNvPr id="51" name="Shape 49"/>
          <p:cNvSpPr/>
          <p:nvPr/>
        </p:nvSpPr>
        <p:spPr>
          <a:xfrm>
            <a:off x="10634472" y="2587752"/>
            <a:ext cx="201168" cy="201168"/>
          </a:xfrm>
          <a:prstGeom prst="rect">
            <a:avLst/>
          </a:prstGeom>
          <a:solidFill>
            <a:srgbClr val="223141"/>
          </a:solidFill>
          <a:ln w="12700">
            <a:solidFill>
              <a:srgbClr val="333333"/>
            </a:solidFill>
            <a:prstDash val="solid"/>
          </a:ln>
        </p:spPr>
      </p:sp>
      <p:sp>
        <p:nvSpPr>
          <p:cNvPr id="52" name="Shape 50"/>
          <p:cNvSpPr/>
          <p:nvPr/>
        </p:nvSpPr>
        <p:spPr>
          <a:xfrm>
            <a:off x="10917936" y="2587752"/>
            <a:ext cx="201168" cy="201168"/>
          </a:xfrm>
          <a:prstGeom prst="rect">
            <a:avLst/>
          </a:prstGeom>
          <a:solidFill>
            <a:srgbClr val="223141"/>
          </a:solidFill>
          <a:ln w="12700">
            <a:solidFill>
              <a:srgbClr val="333333"/>
            </a:solidFill>
            <a:prstDash val="solid"/>
          </a:ln>
        </p:spPr>
      </p:sp>
      <p:sp>
        <p:nvSpPr>
          <p:cNvPr id="53" name="Shape 51"/>
          <p:cNvSpPr/>
          <p:nvPr/>
        </p:nvSpPr>
        <p:spPr>
          <a:xfrm>
            <a:off x="11201400" y="2587752"/>
            <a:ext cx="201168" cy="201168"/>
          </a:xfrm>
          <a:prstGeom prst="rect">
            <a:avLst/>
          </a:prstGeom>
          <a:solidFill>
            <a:srgbClr val="223141"/>
          </a:solidFill>
          <a:ln w="12700">
            <a:solidFill>
              <a:srgbClr val="333333"/>
            </a:solidFill>
            <a:prstDash val="solid"/>
          </a:ln>
        </p:spPr>
      </p:sp>
      <p:sp>
        <p:nvSpPr>
          <p:cNvPr id="54" name="Shape 52"/>
          <p:cNvSpPr/>
          <p:nvPr/>
        </p:nvSpPr>
        <p:spPr>
          <a:xfrm>
            <a:off x="11484864" y="2587752"/>
            <a:ext cx="201168" cy="201168"/>
          </a:xfrm>
          <a:prstGeom prst="rect">
            <a:avLst/>
          </a:prstGeom>
          <a:solidFill>
            <a:srgbClr val="223141"/>
          </a:solidFill>
          <a:ln w="12700">
            <a:solidFill>
              <a:srgbClr val="333333"/>
            </a:solidFill>
            <a:prstDash val="solid"/>
          </a:ln>
        </p:spPr>
      </p:sp>
      <p:sp>
        <p:nvSpPr>
          <p:cNvPr id="55" name="Shape 53"/>
          <p:cNvSpPr/>
          <p:nvPr/>
        </p:nvSpPr>
        <p:spPr>
          <a:xfrm>
            <a:off x="8366760" y="2871216"/>
            <a:ext cx="201168" cy="201168"/>
          </a:xfrm>
          <a:prstGeom prst="rect">
            <a:avLst/>
          </a:prstGeom>
          <a:solidFill>
            <a:srgbClr val="223141"/>
          </a:solidFill>
          <a:ln w="12700">
            <a:solidFill>
              <a:srgbClr val="333333"/>
            </a:solidFill>
            <a:prstDash val="solid"/>
          </a:ln>
        </p:spPr>
      </p:sp>
      <p:sp>
        <p:nvSpPr>
          <p:cNvPr id="56" name="Shape 54"/>
          <p:cNvSpPr/>
          <p:nvPr/>
        </p:nvSpPr>
        <p:spPr>
          <a:xfrm>
            <a:off x="8650224" y="2871216"/>
            <a:ext cx="201168" cy="201168"/>
          </a:xfrm>
          <a:prstGeom prst="rect">
            <a:avLst/>
          </a:prstGeom>
          <a:solidFill>
            <a:srgbClr val="223141"/>
          </a:solidFill>
          <a:ln w="12700">
            <a:solidFill>
              <a:srgbClr val="333333"/>
            </a:solidFill>
            <a:prstDash val="solid"/>
          </a:ln>
        </p:spPr>
      </p:sp>
      <p:sp>
        <p:nvSpPr>
          <p:cNvPr id="57" name="Shape 55"/>
          <p:cNvSpPr/>
          <p:nvPr/>
        </p:nvSpPr>
        <p:spPr>
          <a:xfrm>
            <a:off x="8933688" y="2871216"/>
            <a:ext cx="201168" cy="201168"/>
          </a:xfrm>
          <a:prstGeom prst="rect">
            <a:avLst/>
          </a:prstGeom>
          <a:solidFill>
            <a:srgbClr val="223141"/>
          </a:solidFill>
          <a:ln w="12700">
            <a:solidFill>
              <a:srgbClr val="333333"/>
            </a:solidFill>
            <a:prstDash val="solid"/>
          </a:ln>
        </p:spPr>
      </p:sp>
      <p:sp>
        <p:nvSpPr>
          <p:cNvPr id="58" name="Shape 56"/>
          <p:cNvSpPr/>
          <p:nvPr/>
        </p:nvSpPr>
        <p:spPr>
          <a:xfrm>
            <a:off x="9217152" y="2871216"/>
            <a:ext cx="201168" cy="201168"/>
          </a:xfrm>
          <a:prstGeom prst="rect">
            <a:avLst/>
          </a:prstGeom>
          <a:solidFill>
            <a:srgbClr val="C07A1B"/>
          </a:solidFill>
          <a:ln w="12700">
            <a:solidFill>
              <a:srgbClr val="333333"/>
            </a:solidFill>
            <a:prstDash val="solid"/>
          </a:ln>
        </p:spPr>
      </p:sp>
      <p:sp>
        <p:nvSpPr>
          <p:cNvPr id="59" name="Shape 57"/>
          <p:cNvSpPr/>
          <p:nvPr/>
        </p:nvSpPr>
        <p:spPr>
          <a:xfrm>
            <a:off x="9500616" y="2871216"/>
            <a:ext cx="201168" cy="201168"/>
          </a:xfrm>
          <a:prstGeom prst="rect">
            <a:avLst/>
          </a:prstGeom>
          <a:solidFill>
            <a:srgbClr val="223141"/>
          </a:solidFill>
          <a:ln w="12700">
            <a:solidFill>
              <a:srgbClr val="333333"/>
            </a:solidFill>
            <a:prstDash val="solid"/>
          </a:ln>
        </p:spPr>
      </p:sp>
      <p:sp>
        <p:nvSpPr>
          <p:cNvPr id="60" name="Shape 58"/>
          <p:cNvSpPr/>
          <p:nvPr/>
        </p:nvSpPr>
        <p:spPr>
          <a:xfrm>
            <a:off x="9784080" y="2871216"/>
            <a:ext cx="201168" cy="201168"/>
          </a:xfrm>
          <a:prstGeom prst="rect">
            <a:avLst/>
          </a:prstGeom>
          <a:solidFill>
            <a:srgbClr val="223141"/>
          </a:solidFill>
          <a:ln w="12700">
            <a:solidFill>
              <a:srgbClr val="333333"/>
            </a:solidFill>
            <a:prstDash val="solid"/>
          </a:ln>
        </p:spPr>
      </p:sp>
      <p:sp>
        <p:nvSpPr>
          <p:cNvPr id="61" name="Shape 59"/>
          <p:cNvSpPr/>
          <p:nvPr/>
        </p:nvSpPr>
        <p:spPr>
          <a:xfrm>
            <a:off x="10067544" y="2871216"/>
            <a:ext cx="201168" cy="201168"/>
          </a:xfrm>
          <a:prstGeom prst="rect">
            <a:avLst/>
          </a:prstGeom>
          <a:solidFill>
            <a:srgbClr val="223141"/>
          </a:solidFill>
          <a:ln w="12700">
            <a:solidFill>
              <a:srgbClr val="333333"/>
            </a:solidFill>
            <a:prstDash val="solid"/>
          </a:ln>
        </p:spPr>
      </p:sp>
      <p:sp>
        <p:nvSpPr>
          <p:cNvPr id="62" name="Shape 60"/>
          <p:cNvSpPr/>
          <p:nvPr/>
        </p:nvSpPr>
        <p:spPr>
          <a:xfrm>
            <a:off x="10351008" y="2871216"/>
            <a:ext cx="201168" cy="201168"/>
          </a:xfrm>
          <a:prstGeom prst="rect">
            <a:avLst/>
          </a:prstGeom>
          <a:solidFill>
            <a:srgbClr val="223141"/>
          </a:solidFill>
          <a:ln w="12700">
            <a:solidFill>
              <a:srgbClr val="333333"/>
            </a:solidFill>
            <a:prstDash val="solid"/>
          </a:ln>
        </p:spPr>
      </p:sp>
      <p:sp>
        <p:nvSpPr>
          <p:cNvPr id="63" name="Shape 61"/>
          <p:cNvSpPr/>
          <p:nvPr/>
        </p:nvSpPr>
        <p:spPr>
          <a:xfrm>
            <a:off x="10634472" y="2871216"/>
            <a:ext cx="201168" cy="201168"/>
          </a:xfrm>
          <a:prstGeom prst="rect">
            <a:avLst/>
          </a:prstGeom>
          <a:solidFill>
            <a:srgbClr val="223141"/>
          </a:solidFill>
          <a:ln w="12700">
            <a:solidFill>
              <a:srgbClr val="333333"/>
            </a:solidFill>
            <a:prstDash val="solid"/>
          </a:ln>
        </p:spPr>
      </p:sp>
      <p:sp>
        <p:nvSpPr>
          <p:cNvPr id="64" name="Shape 62"/>
          <p:cNvSpPr/>
          <p:nvPr/>
        </p:nvSpPr>
        <p:spPr>
          <a:xfrm>
            <a:off x="10917936" y="2871216"/>
            <a:ext cx="201168" cy="201168"/>
          </a:xfrm>
          <a:prstGeom prst="rect">
            <a:avLst/>
          </a:prstGeom>
          <a:solidFill>
            <a:srgbClr val="223141"/>
          </a:solidFill>
          <a:ln w="12700">
            <a:solidFill>
              <a:srgbClr val="333333"/>
            </a:solidFill>
            <a:prstDash val="solid"/>
          </a:ln>
        </p:spPr>
      </p:sp>
      <p:sp>
        <p:nvSpPr>
          <p:cNvPr id="65" name="Shape 63"/>
          <p:cNvSpPr/>
          <p:nvPr/>
        </p:nvSpPr>
        <p:spPr>
          <a:xfrm>
            <a:off x="11201400" y="2871216"/>
            <a:ext cx="201168" cy="201168"/>
          </a:xfrm>
          <a:prstGeom prst="rect">
            <a:avLst/>
          </a:prstGeom>
          <a:solidFill>
            <a:srgbClr val="223141"/>
          </a:solidFill>
          <a:ln w="12700">
            <a:solidFill>
              <a:srgbClr val="333333"/>
            </a:solidFill>
            <a:prstDash val="solid"/>
          </a:ln>
        </p:spPr>
      </p:sp>
      <p:sp>
        <p:nvSpPr>
          <p:cNvPr id="66" name="Shape 64"/>
          <p:cNvSpPr/>
          <p:nvPr/>
        </p:nvSpPr>
        <p:spPr>
          <a:xfrm>
            <a:off x="11484864" y="2871216"/>
            <a:ext cx="201168" cy="201168"/>
          </a:xfrm>
          <a:prstGeom prst="rect">
            <a:avLst/>
          </a:prstGeom>
          <a:solidFill>
            <a:srgbClr val="223141"/>
          </a:solidFill>
          <a:ln w="12700">
            <a:solidFill>
              <a:srgbClr val="333333"/>
            </a:solidFill>
            <a:prstDash val="solid"/>
          </a:ln>
        </p:spPr>
      </p:sp>
      <p:sp>
        <p:nvSpPr>
          <p:cNvPr id="67" name="Shape 65"/>
          <p:cNvSpPr/>
          <p:nvPr/>
        </p:nvSpPr>
        <p:spPr>
          <a:xfrm>
            <a:off x="8366760" y="3154680"/>
            <a:ext cx="201168" cy="201168"/>
          </a:xfrm>
          <a:prstGeom prst="rect">
            <a:avLst/>
          </a:prstGeom>
          <a:solidFill>
            <a:srgbClr val="223141"/>
          </a:solidFill>
          <a:ln w="12700">
            <a:solidFill>
              <a:srgbClr val="333333"/>
            </a:solidFill>
            <a:prstDash val="solid"/>
          </a:ln>
        </p:spPr>
      </p:sp>
      <p:sp>
        <p:nvSpPr>
          <p:cNvPr id="68" name="Shape 66"/>
          <p:cNvSpPr/>
          <p:nvPr/>
        </p:nvSpPr>
        <p:spPr>
          <a:xfrm>
            <a:off x="8650224" y="3154680"/>
            <a:ext cx="201168" cy="201168"/>
          </a:xfrm>
          <a:prstGeom prst="rect">
            <a:avLst/>
          </a:prstGeom>
          <a:solidFill>
            <a:srgbClr val="223141"/>
          </a:solidFill>
          <a:ln w="12700">
            <a:solidFill>
              <a:srgbClr val="333333"/>
            </a:solidFill>
            <a:prstDash val="solid"/>
          </a:ln>
        </p:spPr>
      </p:sp>
      <p:sp>
        <p:nvSpPr>
          <p:cNvPr id="69" name="Shape 67"/>
          <p:cNvSpPr/>
          <p:nvPr/>
        </p:nvSpPr>
        <p:spPr>
          <a:xfrm>
            <a:off x="8933688" y="3154680"/>
            <a:ext cx="201168" cy="201168"/>
          </a:xfrm>
          <a:prstGeom prst="rect">
            <a:avLst/>
          </a:prstGeom>
          <a:solidFill>
            <a:srgbClr val="C07A1B"/>
          </a:solidFill>
          <a:ln w="12700">
            <a:solidFill>
              <a:srgbClr val="333333"/>
            </a:solidFill>
            <a:prstDash val="solid"/>
          </a:ln>
        </p:spPr>
      </p:sp>
      <p:sp>
        <p:nvSpPr>
          <p:cNvPr id="70" name="Shape 68"/>
          <p:cNvSpPr/>
          <p:nvPr/>
        </p:nvSpPr>
        <p:spPr>
          <a:xfrm>
            <a:off x="9217152" y="3154680"/>
            <a:ext cx="201168" cy="201168"/>
          </a:xfrm>
          <a:prstGeom prst="rect">
            <a:avLst/>
          </a:prstGeom>
          <a:solidFill>
            <a:srgbClr val="C07A1B"/>
          </a:solidFill>
          <a:ln w="12700">
            <a:solidFill>
              <a:srgbClr val="333333"/>
            </a:solidFill>
            <a:prstDash val="solid"/>
          </a:ln>
        </p:spPr>
      </p:sp>
      <p:sp>
        <p:nvSpPr>
          <p:cNvPr id="71" name="Shape 69"/>
          <p:cNvSpPr/>
          <p:nvPr/>
        </p:nvSpPr>
        <p:spPr>
          <a:xfrm>
            <a:off x="9500616" y="3154680"/>
            <a:ext cx="201168" cy="201168"/>
          </a:xfrm>
          <a:prstGeom prst="rect">
            <a:avLst/>
          </a:prstGeom>
          <a:solidFill>
            <a:srgbClr val="223141"/>
          </a:solidFill>
          <a:ln w="12700">
            <a:solidFill>
              <a:srgbClr val="333333"/>
            </a:solidFill>
            <a:prstDash val="solid"/>
          </a:ln>
        </p:spPr>
      </p:sp>
      <p:sp>
        <p:nvSpPr>
          <p:cNvPr id="72" name="Shape 70"/>
          <p:cNvSpPr/>
          <p:nvPr/>
        </p:nvSpPr>
        <p:spPr>
          <a:xfrm>
            <a:off x="9784080" y="3154680"/>
            <a:ext cx="201168" cy="201168"/>
          </a:xfrm>
          <a:prstGeom prst="rect">
            <a:avLst/>
          </a:prstGeom>
          <a:solidFill>
            <a:srgbClr val="223141"/>
          </a:solidFill>
          <a:ln w="12700">
            <a:solidFill>
              <a:srgbClr val="333333"/>
            </a:solidFill>
            <a:prstDash val="solid"/>
          </a:ln>
        </p:spPr>
      </p:sp>
      <p:sp>
        <p:nvSpPr>
          <p:cNvPr id="73" name="Shape 71"/>
          <p:cNvSpPr/>
          <p:nvPr/>
        </p:nvSpPr>
        <p:spPr>
          <a:xfrm>
            <a:off x="10067544" y="3154680"/>
            <a:ext cx="201168" cy="201168"/>
          </a:xfrm>
          <a:prstGeom prst="rect">
            <a:avLst/>
          </a:prstGeom>
          <a:solidFill>
            <a:srgbClr val="223141"/>
          </a:solidFill>
          <a:ln w="12700">
            <a:solidFill>
              <a:srgbClr val="333333"/>
            </a:solidFill>
            <a:prstDash val="solid"/>
          </a:ln>
        </p:spPr>
      </p:sp>
      <p:sp>
        <p:nvSpPr>
          <p:cNvPr id="74" name="Shape 72"/>
          <p:cNvSpPr/>
          <p:nvPr/>
        </p:nvSpPr>
        <p:spPr>
          <a:xfrm>
            <a:off x="10351008" y="3154680"/>
            <a:ext cx="201168" cy="201168"/>
          </a:xfrm>
          <a:prstGeom prst="rect">
            <a:avLst/>
          </a:prstGeom>
          <a:solidFill>
            <a:srgbClr val="223141"/>
          </a:solidFill>
          <a:ln w="12700">
            <a:solidFill>
              <a:srgbClr val="333333"/>
            </a:solidFill>
            <a:prstDash val="solid"/>
          </a:ln>
        </p:spPr>
      </p:sp>
      <p:sp>
        <p:nvSpPr>
          <p:cNvPr id="75" name="Shape 73"/>
          <p:cNvSpPr/>
          <p:nvPr/>
        </p:nvSpPr>
        <p:spPr>
          <a:xfrm>
            <a:off x="10634472" y="3154680"/>
            <a:ext cx="201168" cy="201168"/>
          </a:xfrm>
          <a:prstGeom prst="rect">
            <a:avLst/>
          </a:prstGeom>
          <a:solidFill>
            <a:srgbClr val="223141"/>
          </a:solidFill>
          <a:ln w="12700">
            <a:solidFill>
              <a:srgbClr val="333333"/>
            </a:solidFill>
            <a:prstDash val="solid"/>
          </a:ln>
        </p:spPr>
      </p:sp>
      <p:sp>
        <p:nvSpPr>
          <p:cNvPr id="76" name="Shape 74"/>
          <p:cNvSpPr/>
          <p:nvPr/>
        </p:nvSpPr>
        <p:spPr>
          <a:xfrm>
            <a:off x="10917936" y="3154680"/>
            <a:ext cx="201168" cy="201168"/>
          </a:xfrm>
          <a:prstGeom prst="rect">
            <a:avLst/>
          </a:prstGeom>
          <a:solidFill>
            <a:srgbClr val="223141"/>
          </a:solidFill>
          <a:ln w="12700">
            <a:solidFill>
              <a:srgbClr val="333333"/>
            </a:solidFill>
            <a:prstDash val="solid"/>
          </a:ln>
        </p:spPr>
      </p:sp>
      <p:sp>
        <p:nvSpPr>
          <p:cNvPr id="77" name="Shape 75"/>
          <p:cNvSpPr/>
          <p:nvPr/>
        </p:nvSpPr>
        <p:spPr>
          <a:xfrm>
            <a:off x="11201400" y="3154680"/>
            <a:ext cx="201168" cy="201168"/>
          </a:xfrm>
          <a:prstGeom prst="rect">
            <a:avLst/>
          </a:prstGeom>
          <a:solidFill>
            <a:srgbClr val="223141"/>
          </a:solidFill>
          <a:ln w="12700">
            <a:solidFill>
              <a:srgbClr val="333333"/>
            </a:solidFill>
            <a:prstDash val="solid"/>
          </a:ln>
        </p:spPr>
      </p:sp>
      <p:sp>
        <p:nvSpPr>
          <p:cNvPr id="78" name="Shape 76"/>
          <p:cNvSpPr/>
          <p:nvPr/>
        </p:nvSpPr>
        <p:spPr>
          <a:xfrm>
            <a:off x="11484864" y="3154680"/>
            <a:ext cx="201168" cy="201168"/>
          </a:xfrm>
          <a:prstGeom prst="rect">
            <a:avLst/>
          </a:prstGeom>
          <a:solidFill>
            <a:srgbClr val="223141"/>
          </a:solidFill>
          <a:ln w="12700">
            <a:solidFill>
              <a:srgbClr val="333333"/>
            </a:solidFill>
            <a:prstDash val="solid"/>
          </a:ln>
        </p:spPr>
      </p:sp>
      <p:sp>
        <p:nvSpPr>
          <p:cNvPr id="79" name="Shape 77"/>
          <p:cNvSpPr/>
          <p:nvPr/>
        </p:nvSpPr>
        <p:spPr>
          <a:xfrm>
            <a:off x="8366760" y="3438144"/>
            <a:ext cx="201168" cy="201168"/>
          </a:xfrm>
          <a:prstGeom prst="rect">
            <a:avLst/>
          </a:prstGeom>
          <a:solidFill>
            <a:srgbClr val="223141"/>
          </a:solidFill>
          <a:ln w="12700">
            <a:solidFill>
              <a:srgbClr val="333333"/>
            </a:solidFill>
            <a:prstDash val="solid"/>
          </a:ln>
        </p:spPr>
      </p:sp>
      <p:sp>
        <p:nvSpPr>
          <p:cNvPr id="80" name="Shape 78"/>
          <p:cNvSpPr/>
          <p:nvPr/>
        </p:nvSpPr>
        <p:spPr>
          <a:xfrm>
            <a:off x="8650224" y="3438144"/>
            <a:ext cx="201168" cy="201168"/>
          </a:xfrm>
          <a:prstGeom prst="rect">
            <a:avLst/>
          </a:prstGeom>
          <a:solidFill>
            <a:srgbClr val="223141"/>
          </a:solidFill>
          <a:ln w="12700">
            <a:solidFill>
              <a:srgbClr val="333333"/>
            </a:solidFill>
            <a:prstDash val="solid"/>
          </a:ln>
        </p:spPr>
      </p:sp>
      <p:sp>
        <p:nvSpPr>
          <p:cNvPr id="81" name="Shape 79"/>
          <p:cNvSpPr/>
          <p:nvPr/>
        </p:nvSpPr>
        <p:spPr>
          <a:xfrm>
            <a:off x="8933688" y="3438144"/>
            <a:ext cx="201168" cy="201168"/>
          </a:xfrm>
          <a:prstGeom prst="rect">
            <a:avLst/>
          </a:prstGeom>
          <a:solidFill>
            <a:srgbClr val="223141"/>
          </a:solidFill>
          <a:ln w="12700">
            <a:solidFill>
              <a:srgbClr val="333333"/>
            </a:solidFill>
            <a:prstDash val="solid"/>
          </a:ln>
        </p:spPr>
      </p:sp>
      <p:sp>
        <p:nvSpPr>
          <p:cNvPr id="82" name="Shape 80"/>
          <p:cNvSpPr/>
          <p:nvPr/>
        </p:nvSpPr>
        <p:spPr>
          <a:xfrm>
            <a:off x="9217152" y="3438144"/>
            <a:ext cx="201168" cy="201168"/>
          </a:xfrm>
          <a:prstGeom prst="rect">
            <a:avLst/>
          </a:prstGeom>
          <a:solidFill>
            <a:srgbClr val="C07A1B"/>
          </a:solidFill>
          <a:ln w="12700">
            <a:solidFill>
              <a:srgbClr val="333333"/>
            </a:solidFill>
            <a:prstDash val="solid"/>
          </a:ln>
        </p:spPr>
      </p:sp>
      <p:sp>
        <p:nvSpPr>
          <p:cNvPr id="83" name="Shape 81"/>
          <p:cNvSpPr/>
          <p:nvPr/>
        </p:nvSpPr>
        <p:spPr>
          <a:xfrm>
            <a:off x="9500616" y="3438144"/>
            <a:ext cx="201168" cy="201168"/>
          </a:xfrm>
          <a:prstGeom prst="rect">
            <a:avLst/>
          </a:prstGeom>
          <a:solidFill>
            <a:srgbClr val="223141"/>
          </a:solidFill>
          <a:ln w="12700">
            <a:solidFill>
              <a:srgbClr val="333333"/>
            </a:solidFill>
            <a:prstDash val="solid"/>
          </a:ln>
        </p:spPr>
      </p:sp>
      <p:sp>
        <p:nvSpPr>
          <p:cNvPr id="84" name="Shape 82"/>
          <p:cNvSpPr/>
          <p:nvPr/>
        </p:nvSpPr>
        <p:spPr>
          <a:xfrm>
            <a:off x="9784080" y="3438144"/>
            <a:ext cx="201168" cy="201168"/>
          </a:xfrm>
          <a:prstGeom prst="rect">
            <a:avLst/>
          </a:prstGeom>
          <a:solidFill>
            <a:srgbClr val="223141"/>
          </a:solidFill>
          <a:ln w="12700">
            <a:solidFill>
              <a:srgbClr val="333333"/>
            </a:solidFill>
            <a:prstDash val="solid"/>
          </a:ln>
        </p:spPr>
      </p:sp>
      <p:sp>
        <p:nvSpPr>
          <p:cNvPr id="85" name="Shape 83"/>
          <p:cNvSpPr/>
          <p:nvPr/>
        </p:nvSpPr>
        <p:spPr>
          <a:xfrm>
            <a:off x="10067544" y="3438144"/>
            <a:ext cx="201168" cy="201168"/>
          </a:xfrm>
          <a:prstGeom prst="rect">
            <a:avLst/>
          </a:prstGeom>
          <a:solidFill>
            <a:srgbClr val="223141"/>
          </a:solidFill>
          <a:ln w="12700">
            <a:solidFill>
              <a:srgbClr val="333333"/>
            </a:solidFill>
            <a:prstDash val="solid"/>
          </a:ln>
        </p:spPr>
      </p:sp>
      <p:sp>
        <p:nvSpPr>
          <p:cNvPr id="86" name="Shape 84"/>
          <p:cNvSpPr/>
          <p:nvPr/>
        </p:nvSpPr>
        <p:spPr>
          <a:xfrm>
            <a:off x="10351008" y="3438144"/>
            <a:ext cx="201168" cy="201168"/>
          </a:xfrm>
          <a:prstGeom prst="rect">
            <a:avLst/>
          </a:prstGeom>
          <a:solidFill>
            <a:srgbClr val="223141"/>
          </a:solidFill>
          <a:ln w="12700">
            <a:solidFill>
              <a:srgbClr val="333333"/>
            </a:solidFill>
            <a:prstDash val="solid"/>
          </a:ln>
        </p:spPr>
      </p:sp>
      <p:sp>
        <p:nvSpPr>
          <p:cNvPr id="87" name="Shape 85"/>
          <p:cNvSpPr/>
          <p:nvPr/>
        </p:nvSpPr>
        <p:spPr>
          <a:xfrm>
            <a:off x="10634472" y="3438144"/>
            <a:ext cx="201168" cy="201168"/>
          </a:xfrm>
          <a:prstGeom prst="rect">
            <a:avLst/>
          </a:prstGeom>
          <a:solidFill>
            <a:srgbClr val="223141"/>
          </a:solidFill>
          <a:ln w="12700">
            <a:solidFill>
              <a:srgbClr val="333333"/>
            </a:solidFill>
            <a:prstDash val="solid"/>
          </a:ln>
        </p:spPr>
      </p:sp>
      <p:sp>
        <p:nvSpPr>
          <p:cNvPr id="88" name="Shape 86"/>
          <p:cNvSpPr/>
          <p:nvPr/>
        </p:nvSpPr>
        <p:spPr>
          <a:xfrm>
            <a:off x="10917936" y="3438144"/>
            <a:ext cx="201168" cy="201168"/>
          </a:xfrm>
          <a:prstGeom prst="rect">
            <a:avLst/>
          </a:prstGeom>
          <a:solidFill>
            <a:srgbClr val="223141"/>
          </a:solidFill>
          <a:ln w="12700">
            <a:solidFill>
              <a:srgbClr val="333333"/>
            </a:solidFill>
            <a:prstDash val="solid"/>
          </a:ln>
        </p:spPr>
      </p:sp>
      <p:sp>
        <p:nvSpPr>
          <p:cNvPr id="89" name="Shape 87"/>
          <p:cNvSpPr/>
          <p:nvPr/>
        </p:nvSpPr>
        <p:spPr>
          <a:xfrm>
            <a:off x="11201400" y="3438144"/>
            <a:ext cx="201168" cy="201168"/>
          </a:xfrm>
          <a:prstGeom prst="rect">
            <a:avLst/>
          </a:prstGeom>
          <a:solidFill>
            <a:srgbClr val="223141"/>
          </a:solidFill>
          <a:ln w="12700">
            <a:solidFill>
              <a:srgbClr val="333333"/>
            </a:solidFill>
            <a:prstDash val="solid"/>
          </a:ln>
        </p:spPr>
      </p:sp>
      <p:sp>
        <p:nvSpPr>
          <p:cNvPr id="90" name="Shape 88"/>
          <p:cNvSpPr/>
          <p:nvPr/>
        </p:nvSpPr>
        <p:spPr>
          <a:xfrm>
            <a:off x="11484864" y="3438144"/>
            <a:ext cx="201168" cy="201168"/>
          </a:xfrm>
          <a:prstGeom prst="rect">
            <a:avLst/>
          </a:prstGeom>
          <a:solidFill>
            <a:srgbClr val="223141"/>
          </a:solidFill>
          <a:ln w="12700">
            <a:solidFill>
              <a:srgbClr val="333333"/>
            </a:solidFill>
            <a:prstDash val="solid"/>
          </a:ln>
        </p:spPr>
      </p:sp>
      <p:sp>
        <p:nvSpPr>
          <p:cNvPr id="91" name="Shape 89"/>
          <p:cNvSpPr/>
          <p:nvPr/>
        </p:nvSpPr>
        <p:spPr>
          <a:xfrm>
            <a:off x="8366760" y="3721608"/>
            <a:ext cx="201168" cy="201168"/>
          </a:xfrm>
          <a:prstGeom prst="rect">
            <a:avLst/>
          </a:prstGeom>
          <a:solidFill>
            <a:srgbClr val="223141"/>
          </a:solidFill>
          <a:ln w="12700">
            <a:solidFill>
              <a:srgbClr val="333333"/>
            </a:solidFill>
            <a:prstDash val="solid"/>
          </a:ln>
        </p:spPr>
      </p:sp>
      <p:sp>
        <p:nvSpPr>
          <p:cNvPr id="92" name="Shape 90"/>
          <p:cNvSpPr/>
          <p:nvPr/>
        </p:nvSpPr>
        <p:spPr>
          <a:xfrm>
            <a:off x="8650224" y="3721608"/>
            <a:ext cx="201168" cy="201168"/>
          </a:xfrm>
          <a:prstGeom prst="rect">
            <a:avLst/>
          </a:prstGeom>
          <a:solidFill>
            <a:srgbClr val="223141"/>
          </a:solidFill>
          <a:ln w="12700">
            <a:solidFill>
              <a:srgbClr val="333333"/>
            </a:solidFill>
            <a:prstDash val="solid"/>
          </a:ln>
        </p:spPr>
      </p:sp>
      <p:sp>
        <p:nvSpPr>
          <p:cNvPr id="93" name="Shape 91"/>
          <p:cNvSpPr/>
          <p:nvPr/>
        </p:nvSpPr>
        <p:spPr>
          <a:xfrm>
            <a:off x="8933688" y="3721608"/>
            <a:ext cx="201168" cy="201168"/>
          </a:xfrm>
          <a:prstGeom prst="rect">
            <a:avLst/>
          </a:prstGeom>
          <a:solidFill>
            <a:srgbClr val="223141"/>
          </a:solidFill>
          <a:ln w="12700">
            <a:solidFill>
              <a:srgbClr val="333333"/>
            </a:solidFill>
            <a:prstDash val="solid"/>
          </a:ln>
        </p:spPr>
      </p:sp>
      <p:sp>
        <p:nvSpPr>
          <p:cNvPr id="94" name="Shape 92"/>
          <p:cNvSpPr/>
          <p:nvPr/>
        </p:nvSpPr>
        <p:spPr>
          <a:xfrm>
            <a:off x="9217152" y="3721608"/>
            <a:ext cx="201168" cy="201168"/>
          </a:xfrm>
          <a:prstGeom prst="rect">
            <a:avLst/>
          </a:prstGeom>
          <a:solidFill>
            <a:srgbClr val="223141"/>
          </a:solidFill>
          <a:ln w="12700">
            <a:solidFill>
              <a:srgbClr val="333333"/>
            </a:solidFill>
            <a:prstDash val="solid"/>
          </a:ln>
        </p:spPr>
      </p:sp>
      <p:sp>
        <p:nvSpPr>
          <p:cNvPr id="95" name="Shape 93"/>
          <p:cNvSpPr/>
          <p:nvPr/>
        </p:nvSpPr>
        <p:spPr>
          <a:xfrm>
            <a:off x="9500616" y="3721608"/>
            <a:ext cx="201168" cy="201168"/>
          </a:xfrm>
          <a:prstGeom prst="rect">
            <a:avLst/>
          </a:prstGeom>
          <a:solidFill>
            <a:srgbClr val="223141"/>
          </a:solidFill>
          <a:ln w="12700">
            <a:solidFill>
              <a:srgbClr val="333333"/>
            </a:solidFill>
            <a:prstDash val="solid"/>
          </a:ln>
        </p:spPr>
      </p:sp>
      <p:sp>
        <p:nvSpPr>
          <p:cNvPr id="96" name="Shape 94"/>
          <p:cNvSpPr/>
          <p:nvPr/>
        </p:nvSpPr>
        <p:spPr>
          <a:xfrm>
            <a:off x="9784080" y="3721608"/>
            <a:ext cx="201168" cy="201168"/>
          </a:xfrm>
          <a:prstGeom prst="rect">
            <a:avLst/>
          </a:prstGeom>
          <a:solidFill>
            <a:srgbClr val="223141"/>
          </a:solidFill>
          <a:ln w="12700">
            <a:solidFill>
              <a:srgbClr val="333333"/>
            </a:solidFill>
            <a:prstDash val="solid"/>
          </a:ln>
        </p:spPr>
      </p:sp>
      <p:sp>
        <p:nvSpPr>
          <p:cNvPr id="97" name="Shape 95"/>
          <p:cNvSpPr/>
          <p:nvPr/>
        </p:nvSpPr>
        <p:spPr>
          <a:xfrm>
            <a:off x="10067544" y="3721608"/>
            <a:ext cx="201168" cy="201168"/>
          </a:xfrm>
          <a:prstGeom prst="rect">
            <a:avLst/>
          </a:prstGeom>
          <a:solidFill>
            <a:srgbClr val="223141"/>
          </a:solidFill>
          <a:ln w="12700">
            <a:solidFill>
              <a:srgbClr val="333333"/>
            </a:solidFill>
            <a:prstDash val="solid"/>
          </a:ln>
        </p:spPr>
      </p:sp>
      <p:sp>
        <p:nvSpPr>
          <p:cNvPr id="98" name="Shape 96"/>
          <p:cNvSpPr/>
          <p:nvPr/>
        </p:nvSpPr>
        <p:spPr>
          <a:xfrm>
            <a:off x="10351008" y="3721608"/>
            <a:ext cx="201168" cy="201168"/>
          </a:xfrm>
          <a:prstGeom prst="rect">
            <a:avLst/>
          </a:prstGeom>
          <a:solidFill>
            <a:srgbClr val="223141"/>
          </a:solidFill>
          <a:ln w="12700">
            <a:solidFill>
              <a:srgbClr val="333333"/>
            </a:solidFill>
            <a:prstDash val="solid"/>
          </a:ln>
        </p:spPr>
      </p:sp>
      <p:sp>
        <p:nvSpPr>
          <p:cNvPr id="99" name="Shape 97"/>
          <p:cNvSpPr/>
          <p:nvPr/>
        </p:nvSpPr>
        <p:spPr>
          <a:xfrm>
            <a:off x="10634472" y="3721608"/>
            <a:ext cx="201168" cy="201168"/>
          </a:xfrm>
          <a:prstGeom prst="rect">
            <a:avLst/>
          </a:prstGeom>
          <a:solidFill>
            <a:srgbClr val="223141"/>
          </a:solidFill>
          <a:ln w="12700">
            <a:solidFill>
              <a:srgbClr val="333333"/>
            </a:solidFill>
            <a:prstDash val="solid"/>
          </a:ln>
        </p:spPr>
      </p:sp>
      <p:sp>
        <p:nvSpPr>
          <p:cNvPr id="100" name="Shape 98"/>
          <p:cNvSpPr/>
          <p:nvPr/>
        </p:nvSpPr>
        <p:spPr>
          <a:xfrm>
            <a:off x="10917936" y="3721608"/>
            <a:ext cx="201168" cy="201168"/>
          </a:xfrm>
          <a:prstGeom prst="rect">
            <a:avLst/>
          </a:prstGeom>
          <a:solidFill>
            <a:srgbClr val="223141"/>
          </a:solidFill>
          <a:ln w="12700">
            <a:solidFill>
              <a:srgbClr val="333333"/>
            </a:solidFill>
            <a:prstDash val="solid"/>
          </a:ln>
        </p:spPr>
      </p:sp>
      <p:sp>
        <p:nvSpPr>
          <p:cNvPr id="101" name="Shape 99"/>
          <p:cNvSpPr/>
          <p:nvPr/>
        </p:nvSpPr>
        <p:spPr>
          <a:xfrm>
            <a:off x="11201400" y="3721608"/>
            <a:ext cx="201168" cy="201168"/>
          </a:xfrm>
          <a:prstGeom prst="rect">
            <a:avLst/>
          </a:prstGeom>
          <a:solidFill>
            <a:srgbClr val="223141"/>
          </a:solidFill>
          <a:ln w="12700">
            <a:solidFill>
              <a:srgbClr val="333333"/>
            </a:solidFill>
            <a:prstDash val="solid"/>
          </a:ln>
        </p:spPr>
      </p:sp>
      <p:sp>
        <p:nvSpPr>
          <p:cNvPr id="102" name="Shape 100"/>
          <p:cNvSpPr/>
          <p:nvPr/>
        </p:nvSpPr>
        <p:spPr>
          <a:xfrm>
            <a:off x="11484864" y="3721608"/>
            <a:ext cx="201168" cy="201168"/>
          </a:xfrm>
          <a:prstGeom prst="rect">
            <a:avLst/>
          </a:prstGeom>
          <a:solidFill>
            <a:srgbClr val="223141"/>
          </a:solidFill>
          <a:ln w="12700">
            <a:solidFill>
              <a:srgbClr val="333333"/>
            </a:solidFill>
            <a:prstDash val="solid"/>
          </a:ln>
        </p:spPr>
      </p:sp>
      <p:sp>
        <p:nvSpPr>
          <p:cNvPr id="103" name="Shape 101"/>
          <p:cNvSpPr/>
          <p:nvPr/>
        </p:nvSpPr>
        <p:spPr>
          <a:xfrm>
            <a:off x="8366760" y="4005072"/>
            <a:ext cx="201168" cy="201168"/>
          </a:xfrm>
          <a:prstGeom prst="rect">
            <a:avLst/>
          </a:prstGeom>
          <a:solidFill>
            <a:srgbClr val="223141"/>
          </a:solidFill>
          <a:ln w="12700">
            <a:solidFill>
              <a:srgbClr val="333333"/>
            </a:solidFill>
            <a:prstDash val="solid"/>
          </a:ln>
        </p:spPr>
      </p:sp>
      <p:sp>
        <p:nvSpPr>
          <p:cNvPr id="104" name="Shape 102"/>
          <p:cNvSpPr/>
          <p:nvPr/>
        </p:nvSpPr>
        <p:spPr>
          <a:xfrm>
            <a:off x="8650224" y="4005072"/>
            <a:ext cx="201168" cy="201168"/>
          </a:xfrm>
          <a:prstGeom prst="rect">
            <a:avLst/>
          </a:prstGeom>
          <a:solidFill>
            <a:srgbClr val="223141"/>
          </a:solidFill>
          <a:ln w="12700">
            <a:solidFill>
              <a:srgbClr val="333333"/>
            </a:solidFill>
            <a:prstDash val="solid"/>
          </a:ln>
        </p:spPr>
      </p:sp>
      <p:sp>
        <p:nvSpPr>
          <p:cNvPr id="105" name="Shape 103"/>
          <p:cNvSpPr/>
          <p:nvPr/>
        </p:nvSpPr>
        <p:spPr>
          <a:xfrm>
            <a:off x="8933688" y="4005072"/>
            <a:ext cx="201168" cy="201168"/>
          </a:xfrm>
          <a:prstGeom prst="rect">
            <a:avLst/>
          </a:prstGeom>
          <a:solidFill>
            <a:srgbClr val="223141"/>
          </a:solidFill>
          <a:ln w="12700">
            <a:solidFill>
              <a:srgbClr val="333333"/>
            </a:solidFill>
            <a:prstDash val="solid"/>
          </a:ln>
        </p:spPr>
      </p:sp>
      <p:sp>
        <p:nvSpPr>
          <p:cNvPr id="106" name="Shape 104"/>
          <p:cNvSpPr/>
          <p:nvPr/>
        </p:nvSpPr>
        <p:spPr>
          <a:xfrm>
            <a:off x="9217152" y="4005072"/>
            <a:ext cx="201168" cy="201168"/>
          </a:xfrm>
          <a:prstGeom prst="rect">
            <a:avLst/>
          </a:prstGeom>
          <a:solidFill>
            <a:srgbClr val="223141"/>
          </a:solidFill>
          <a:ln w="12700">
            <a:solidFill>
              <a:srgbClr val="333333"/>
            </a:solidFill>
            <a:prstDash val="solid"/>
          </a:ln>
        </p:spPr>
      </p:sp>
      <p:sp>
        <p:nvSpPr>
          <p:cNvPr id="107" name="Shape 105"/>
          <p:cNvSpPr/>
          <p:nvPr/>
        </p:nvSpPr>
        <p:spPr>
          <a:xfrm>
            <a:off x="9500616" y="4005072"/>
            <a:ext cx="201168" cy="201168"/>
          </a:xfrm>
          <a:prstGeom prst="rect">
            <a:avLst/>
          </a:prstGeom>
          <a:solidFill>
            <a:srgbClr val="223141"/>
          </a:solidFill>
          <a:ln w="12700">
            <a:solidFill>
              <a:srgbClr val="333333"/>
            </a:solidFill>
            <a:prstDash val="solid"/>
          </a:ln>
        </p:spPr>
      </p:sp>
      <p:sp>
        <p:nvSpPr>
          <p:cNvPr id="108" name="Shape 106"/>
          <p:cNvSpPr/>
          <p:nvPr/>
        </p:nvSpPr>
        <p:spPr>
          <a:xfrm>
            <a:off x="9784080" y="4005072"/>
            <a:ext cx="201168" cy="201168"/>
          </a:xfrm>
          <a:prstGeom prst="rect">
            <a:avLst/>
          </a:prstGeom>
          <a:solidFill>
            <a:srgbClr val="223141"/>
          </a:solidFill>
          <a:ln w="12700">
            <a:solidFill>
              <a:srgbClr val="333333"/>
            </a:solidFill>
            <a:prstDash val="solid"/>
          </a:ln>
        </p:spPr>
      </p:sp>
      <p:sp>
        <p:nvSpPr>
          <p:cNvPr id="109" name="Shape 107"/>
          <p:cNvSpPr/>
          <p:nvPr/>
        </p:nvSpPr>
        <p:spPr>
          <a:xfrm>
            <a:off x="10067544" y="4005072"/>
            <a:ext cx="201168" cy="201168"/>
          </a:xfrm>
          <a:prstGeom prst="rect">
            <a:avLst/>
          </a:prstGeom>
          <a:solidFill>
            <a:srgbClr val="223141"/>
          </a:solidFill>
          <a:ln w="12700">
            <a:solidFill>
              <a:srgbClr val="333333"/>
            </a:solidFill>
            <a:prstDash val="solid"/>
          </a:ln>
        </p:spPr>
      </p:sp>
      <p:sp>
        <p:nvSpPr>
          <p:cNvPr id="110" name="Shape 108"/>
          <p:cNvSpPr/>
          <p:nvPr/>
        </p:nvSpPr>
        <p:spPr>
          <a:xfrm>
            <a:off x="10351008" y="4005072"/>
            <a:ext cx="201168" cy="201168"/>
          </a:xfrm>
          <a:prstGeom prst="rect">
            <a:avLst/>
          </a:prstGeom>
          <a:solidFill>
            <a:srgbClr val="223141"/>
          </a:solidFill>
          <a:ln w="12700">
            <a:solidFill>
              <a:srgbClr val="333333"/>
            </a:solidFill>
            <a:prstDash val="solid"/>
          </a:ln>
        </p:spPr>
      </p:sp>
      <p:sp>
        <p:nvSpPr>
          <p:cNvPr id="111" name="Shape 109"/>
          <p:cNvSpPr/>
          <p:nvPr/>
        </p:nvSpPr>
        <p:spPr>
          <a:xfrm>
            <a:off x="10634472" y="4005072"/>
            <a:ext cx="201168" cy="201168"/>
          </a:xfrm>
          <a:prstGeom prst="rect">
            <a:avLst/>
          </a:prstGeom>
          <a:solidFill>
            <a:srgbClr val="223141"/>
          </a:solidFill>
          <a:ln w="12700">
            <a:solidFill>
              <a:srgbClr val="333333"/>
            </a:solidFill>
            <a:prstDash val="solid"/>
          </a:ln>
        </p:spPr>
      </p:sp>
      <p:sp>
        <p:nvSpPr>
          <p:cNvPr id="112" name="Shape 110"/>
          <p:cNvSpPr/>
          <p:nvPr/>
        </p:nvSpPr>
        <p:spPr>
          <a:xfrm>
            <a:off x="10917936" y="4005072"/>
            <a:ext cx="201168" cy="201168"/>
          </a:xfrm>
          <a:prstGeom prst="rect">
            <a:avLst/>
          </a:prstGeom>
          <a:solidFill>
            <a:srgbClr val="223141"/>
          </a:solidFill>
          <a:ln w="12700">
            <a:solidFill>
              <a:srgbClr val="333333"/>
            </a:solidFill>
            <a:prstDash val="solid"/>
          </a:ln>
        </p:spPr>
      </p:sp>
      <p:sp>
        <p:nvSpPr>
          <p:cNvPr id="113" name="Shape 111"/>
          <p:cNvSpPr/>
          <p:nvPr/>
        </p:nvSpPr>
        <p:spPr>
          <a:xfrm>
            <a:off x="11201400" y="4005072"/>
            <a:ext cx="201168" cy="201168"/>
          </a:xfrm>
          <a:prstGeom prst="rect">
            <a:avLst/>
          </a:prstGeom>
          <a:solidFill>
            <a:srgbClr val="223141"/>
          </a:solidFill>
          <a:ln w="12700">
            <a:solidFill>
              <a:srgbClr val="333333"/>
            </a:solidFill>
            <a:prstDash val="solid"/>
          </a:ln>
        </p:spPr>
      </p:sp>
      <p:sp>
        <p:nvSpPr>
          <p:cNvPr id="114" name="Shape 112"/>
          <p:cNvSpPr/>
          <p:nvPr/>
        </p:nvSpPr>
        <p:spPr>
          <a:xfrm>
            <a:off x="11484864" y="4005072"/>
            <a:ext cx="201168" cy="201168"/>
          </a:xfrm>
          <a:prstGeom prst="rect">
            <a:avLst/>
          </a:prstGeom>
          <a:solidFill>
            <a:srgbClr val="223141"/>
          </a:solidFill>
          <a:ln w="12700">
            <a:solidFill>
              <a:srgbClr val="333333"/>
            </a:solidFill>
            <a:prstDash val="solid"/>
          </a:ln>
        </p:spPr>
      </p:sp>
      <p:sp>
        <p:nvSpPr>
          <p:cNvPr id="115" name="Shape 113"/>
          <p:cNvSpPr/>
          <p:nvPr/>
        </p:nvSpPr>
        <p:spPr>
          <a:xfrm>
            <a:off x="8366760" y="4288536"/>
            <a:ext cx="201168" cy="201168"/>
          </a:xfrm>
          <a:prstGeom prst="rect">
            <a:avLst/>
          </a:prstGeom>
          <a:solidFill>
            <a:srgbClr val="223141"/>
          </a:solidFill>
          <a:ln w="12700">
            <a:solidFill>
              <a:srgbClr val="333333"/>
            </a:solidFill>
            <a:prstDash val="solid"/>
          </a:ln>
        </p:spPr>
      </p:sp>
      <p:sp>
        <p:nvSpPr>
          <p:cNvPr id="116" name="Shape 114"/>
          <p:cNvSpPr/>
          <p:nvPr/>
        </p:nvSpPr>
        <p:spPr>
          <a:xfrm>
            <a:off x="8650224" y="4288536"/>
            <a:ext cx="201168" cy="201168"/>
          </a:xfrm>
          <a:prstGeom prst="rect">
            <a:avLst/>
          </a:prstGeom>
          <a:solidFill>
            <a:srgbClr val="223141"/>
          </a:solidFill>
          <a:ln w="12700">
            <a:solidFill>
              <a:srgbClr val="333333"/>
            </a:solidFill>
            <a:prstDash val="solid"/>
          </a:ln>
        </p:spPr>
      </p:sp>
      <p:sp>
        <p:nvSpPr>
          <p:cNvPr id="117" name="Shape 115"/>
          <p:cNvSpPr/>
          <p:nvPr/>
        </p:nvSpPr>
        <p:spPr>
          <a:xfrm>
            <a:off x="8933688" y="4288536"/>
            <a:ext cx="201168" cy="201168"/>
          </a:xfrm>
          <a:prstGeom prst="rect">
            <a:avLst/>
          </a:prstGeom>
          <a:solidFill>
            <a:srgbClr val="223141"/>
          </a:solidFill>
          <a:ln w="12700">
            <a:solidFill>
              <a:srgbClr val="333333"/>
            </a:solidFill>
            <a:prstDash val="solid"/>
          </a:ln>
        </p:spPr>
      </p:sp>
      <p:sp>
        <p:nvSpPr>
          <p:cNvPr id="118" name="Shape 116"/>
          <p:cNvSpPr/>
          <p:nvPr/>
        </p:nvSpPr>
        <p:spPr>
          <a:xfrm>
            <a:off x="9217152" y="4288536"/>
            <a:ext cx="201168" cy="201168"/>
          </a:xfrm>
          <a:prstGeom prst="rect">
            <a:avLst/>
          </a:prstGeom>
          <a:solidFill>
            <a:srgbClr val="223141"/>
          </a:solidFill>
          <a:ln w="12700">
            <a:solidFill>
              <a:srgbClr val="333333"/>
            </a:solidFill>
            <a:prstDash val="solid"/>
          </a:ln>
        </p:spPr>
      </p:sp>
      <p:sp>
        <p:nvSpPr>
          <p:cNvPr id="119" name="Shape 117"/>
          <p:cNvSpPr/>
          <p:nvPr/>
        </p:nvSpPr>
        <p:spPr>
          <a:xfrm>
            <a:off x="9500616" y="4288536"/>
            <a:ext cx="201168" cy="201168"/>
          </a:xfrm>
          <a:prstGeom prst="rect">
            <a:avLst/>
          </a:prstGeom>
          <a:solidFill>
            <a:srgbClr val="223141"/>
          </a:solidFill>
          <a:ln w="12700">
            <a:solidFill>
              <a:srgbClr val="333333"/>
            </a:solidFill>
            <a:prstDash val="solid"/>
          </a:ln>
        </p:spPr>
      </p:sp>
      <p:sp>
        <p:nvSpPr>
          <p:cNvPr id="120" name="Shape 118"/>
          <p:cNvSpPr/>
          <p:nvPr/>
        </p:nvSpPr>
        <p:spPr>
          <a:xfrm>
            <a:off x="9784080" y="4288536"/>
            <a:ext cx="201168" cy="201168"/>
          </a:xfrm>
          <a:prstGeom prst="rect">
            <a:avLst/>
          </a:prstGeom>
          <a:solidFill>
            <a:srgbClr val="223141"/>
          </a:solidFill>
          <a:ln w="12700">
            <a:solidFill>
              <a:srgbClr val="333333"/>
            </a:solidFill>
            <a:prstDash val="solid"/>
          </a:ln>
        </p:spPr>
      </p:sp>
      <p:sp>
        <p:nvSpPr>
          <p:cNvPr id="121" name="Shape 119"/>
          <p:cNvSpPr/>
          <p:nvPr/>
        </p:nvSpPr>
        <p:spPr>
          <a:xfrm>
            <a:off x="10067544" y="4288536"/>
            <a:ext cx="201168" cy="201168"/>
          </a:xfrm>
          <a:prstGeom prst="rect">
            <a:avLst/>
          </a:prstGeom>
          <a:solidFill>
            <a:srgbClr val="223141"/>
          </a:solidFill>
          <a:ln w="12700">
            <a:solidFill>
              <a:srgbClr val="333333"/>
            </a:solidFill>
            <a:prstDash val="solid"/>
          </a:ln>
        </p:spPr>
      </p:sp>
      <p:sp>
        <p:nvSpPr>
          <p:cNvPr id="122" name="Shape 120"/>
          <p:cNvSpPr/>
          <p:nvPr/>
        </p:nvSpPr>
        <p:spPr>
          <a:xfrm>
            <a:off x="10351008" y="4288536"/>
            <a:ext cx="201168" cy="201168"/>
          </a:xfrm>
          <a:prstGeom prst="rect">
            <a:avLst/>
          </a:prstGeom>
          <a:solidFill>
            <a:srgbClr val="223141"/>
          </a:solidFill>
          <a:ln w="12700">
            <a:solidFill>
              <a:srgbClr val="333333"/>
            </a:solidFill>
            <a:prstDash val="solid"/>
          </a:ln>
        </p:spPr>
      </p:sp>
      <p:sp>
        <p:nvSpPr>
          <p:cNvPr id="123" name="Shape 121"/>
          <p:cNvSpPr/>
          <p:nvPr/>
        </p:nvSpPr>
        <p:spPr>
          <a:xfrm>
            <a:off x="10634472" y="4288536"/>
            <a:ext cx="201168" cy="201168"/>
          </a:xfrm>
          <a:prstGeom prst="rect">
            <a:avLst/>
          </a:prstGeom>
          <a:solidFill>
            <a:srgbClr val="223141"/>
          </a:solidFill>
          <a:ln w="12700">
            <a:solidFill>
              <a:srgbClr val="333333"/>
            </a:solidFill>
            <a:prstDash val="solid"/>
          </a:ln>
        </p:spPr>
      </p:sp>
      <p:sp>
        <p:nvSpPr>
          <p:cNvPr id="124" name="Shape 122"/>
          <p:cNvSpPr/>
          <p:nvPr/>
        </p:nvSpPr>
        <p:spPr>
          <a:xfrm>
            <a:off x="10917936" y="4288536"/>
            <a:ext cx="201168" cy="201168"/>
          </a:xfrm>
          <a:prstGeom prst="rect">
            <a:avLst/>
          </a:prstGeom>
          <a:solidFill>
            <a:srgbClr val="223141"/>
          </a:solidFill>
          <a:ln w="12700">
            <a:solidFill>
              <a:srgbClr val="333333"/>
            </a:solidFill>
            <a:prstDash val="solid"/>
          </a:ln>
        </p:spPr>
      </p:sp>
      <p:sp>
        <p:nvSpPr>
          <p:cNvPr id="125" name="Shape 123"/>
          <p:cNvSpPr/>
          <p:nvPr/>
        </p:nvSpPr>
        <p:spPr>
          <a:xfrm>
            <a:off x="11201400" y="4288536"/>
            <a:ext cx="201168" cy="201168"/>
          </a:xfrm>
          <a:prstGeom prst="rect">
            <a:avLst/>
          </a:prstGeom>
          <a:solidFill>
            <a:srgbClr val="223141"/>
          </a:solidFill>
          <a:ln w="12700">
            <a:solidFill>
              <a:srgbClr val="333333"/>
            </a:solidFill>
            <a:prstDash val="solid"/>
          </a:ln>
        </p:spPr>
      </p:sp>
      <p:sp>
        <p:nvSpPr>
          <p:cNvPr id="126" name="Shape 124"/>
          <p:cNvSpPr/>
          <p:nvPr/>
        </p:nvSpPr>
        <p:spPr>
          <a:xfrm>
            <a:off x="11484864" y="4288536"/>
            <a:ext cx="201168" cy="201168"/>
          </a:xfrm>
          <a:prstGeom prst="rect">
            <a:avLst/>
          </a:prstGeom>
          <a:solidFill>
            <a:srgbClr val="223141"/>
          </a:solidFill>
          <a:ln w="12700">
            <a:solidFill>
              <a:srgbClr val="333333"/>
            </a:solidFill>
            <a:prstDash val="solid"/>
          </a:ln>
        </p:spPr>
      </p:sp>
      <p:sp>
        <p:nvSpPr>
          <p:cNvPr id="127" name="Shape 125"/>
          <p:cNvSpPr/>
          <p:nvPr/>
        </p:nvSpPr>
        <p:spPr>
          <a:xfrm>
            <a:off x="8366760" y="4572000"/>
            <a:ext cx="201168" cy="201168"/>
          </a:xfrm>
          <a:prstGeom prst="rect">
            <a:avLst/>
          </a:prstGeom>
          <a:solidFill>
            <a:srgbClr val="223141"/>
          </a:solidFill>
          <a:ln w="12700">
            <a:solidFill>
              <a:srgbClr val="333333"/>
            </a:solidFill>
            <a:prstDash val="solid"/>
          </a:ln>
        </p:spPr>
      </p:sp>
      <p:sp>
        <p:nvSpPr>
          <p:cNvPr id="128" name="Shape 126"/>
          <p:cNvSpPr/>
          <p:nvPr/>
        </p:nvSpPr>
        <p:spPr>
          <a:xfrm>
            <a:off x="8650224" y="4572000"/>
            <a:ext cx="201168" cy="201168"/>
          </a:xfrm>
          <a:prstGeom prst="rect">
            <a:avLst/>
          </a:prstGeom>
          <a:solidFill>
            <a:srgbClr val="223141"/>
          </a:solidFill>
          <a:ln w="12700">
            <a:solidFill>
              <a:srgbClr val="333333"/>
            </a:solidFill>
            <a:prstDash val="solid"/>
          </a:ln>
        </p:spPr>
      </p:sp>
      <p:sp>
        <p:nvSpPr>
          <p:cNvPr id="129" name="Shape 127"/>
          <p:cNvSpPr/>
          <p:nvPr/>
        </p:nvSpPr>
        <p:spPr>
          <a:xfrm>
            <a:off x="8933688" y="4572000"/>
            <a:ext cx="201168" cy="201168"/>
          </a:xfrm>
          <a:prstGeom prst="rect">
            <a:avLst/>
          </a:prstGeom>
          <a:solidFill>
            <a:srgbClr val="223141"/>
          </a:solidFill>
          <a:ln w="12700">
            <a:solidFill>
              <a:srgbClr val="333333"/>
            </a:solidFill>
            <a:prstDash val="solid"/>
          </a:ln>
        </p:spPr>
      </p:sp>
      <p:sp>
        <p:nvSpPr>
          <p:cNvPr id="130" name="Shape 128"/>
          <p:cNvSpPr/>
          <p:nvPr/>
        </p:nvSpPr>
        <p:spPr>
          <a:xfrm>
            <a:off x="9217152" y="4572000"/>
            <a:ext cx="201168" cy="201168"/>
          </a:xfrm>
          <a:prstGeom prst="rect">
            <a:avLst/>
          </a:prstGeom>
          <a:solidFill>
            <a:srgbClr val="223141"/>
          </a:solidFill>
          <a:ln w="12700">
            <a:solidFill>
              <a:srgbClr val="333333"/>
            </a:solidFill>
            <a:prstDash val="solid"/>
          </a:ln>
        </p:spPr>
      </p:sp>
      <p:sp>
        <p:nvSpPr>
          <p:cNvPr id="131" name="Shape 129"/>
          <p:cNvSpPr/>
          <p:nvPr/>
        </p:nvSpPr>
        <p:spPr>
          <a:xfrm>
            <a:off x="9500616" y="4572000"/>
            <a:ext cx="201168" cy="201168"/>
          </a:xfrm>
          <a:prstGeom prst="rect">
            <a:avLst/>
          </a:prstGeom>
          <a:solidFill>
            <a:srgbClr val="223141"/>
          </a:solidFill>
          <a:ln w="12700">
            <a:solidFill>
              <a:srgbClr val="333333"/>
            </a:solidFill>
            <a:prstDash val="solid"/>
          </a:ln>
        </p:spPr>
      </p:sp>
      <p:sp>
        <p:nvSpPr>
          <p:cNvPr id="132" name="Shape 130"/>
          <p:cNvSpPr/>
          <p:nvPr/>
        </p:nvSpPr>
        <p:spPr>
          <a:xfrm>
            <a:off x="9784080" y="4572000"/>
            <a:ext cx="201168" cy="201168"/>
          </a:xfrm>
          <a:prstGeom prst="rect">
            <a:avLst/>
          </a:prstGeom>
          <a:solidFill>
            <a:srgbClr val="223141"/>
          </a:solidFill>
          <a:ln w="12700">
            <a:solidFill>
              <a:srgbClr val="333333"/>
            </a:solidFill>
            <a:prstDash val="solid"/>
          </a:ln>
        </p:spPr>
      </p:sp>
      <p:sp>
        <p:nvSpPr>
          <p:cNvPr id="133" name="Shape 131"/>
          <p:cNvSpPr/>
          <p:nvPr/>
        </p:nvSpPr>
        <p:spPr>
          <a:xfrm>
            <a:off x="10067544" y="4572000"/>
            <a:ext cx="201168" cy="201168"/>
          </a:xfrm>
          <a:prstGeom prst="rect">
            <a:avLst/>
          </a:prstGeom>
          <a:solidFill>
            <a:srgbClr val="223141"/>
          </a:solidFill>
          <a:ln w="12700">
            <a:solidFill>
              <a:srgbClr val="333333"/>
            </a:solidFill>
            <a:prstDash val="solid"/>
          </a:ln>
        </p:spPr>
      </p:sp>
      <p:sp>
        <p:nvSpPr>
          <p:cNvPr id="134" name="Shape 132"/>
          <p:cNvSpPr/>
          <p:nvPr/>
        </p:nvSpPr>
        <p:spPr>
          <a:xfrm>
            <a:off x="10351008" y="4572000"/>
            <a:ext cx="201168" cy="201168"/>
          </a:xfrm>
          <a:prstGeom prst="rect">
            <a:avLst/>
          </a:prstGeom>
          <a:solidFill>
            <a:srgbClr val="223141"/>
          </a:solidFill>
          <a:ln w="12700">
            <a:solidFill>
              <a:srgbClr val="333333"/>
            </a:solidFill>
            <a:prstDash val="solid"/>
          </a:ln>
        </p:spPr>
      </p:sp>
      <p:sp>
        <p:nvSpPr>
          <p:cNvPr id="135" name="Shape 133"/>
          <p:cNvSpPr/>
          <p:nvPr/>
        </p:nvSpPr>
        <p:spPr>
          <a:xfrm>
            <a:off x="10634472" y="4572000"/>
            <a:ext cx="201168" cy="201168"/>
          </a:xfrm>
          <a:prstGeom prst="rect">
            <a:avLst/>
          </a:prstGeom>
          <a:solidFill>
            <a:srgbClr val="223141"/>
          </a:solidFill>
          <a:ln w="12700">
            <a:solidFill>
              <a:srgbClr val="333333"/>
            </a:solidFill>
            <a:prstDash val="solid"/>
          </a:ln>
        </p:spPr>
      </p:sp>
      <p:sp>
        <p:nvSpPr>
          <p:cNvPr id="136" name="Shape 134"/>
          <p:cNvSpPr/>
          <p:nvPr/>
        </p:nvSpPr>
        <p:spPr>
          <a:xfrm>
            <a:off x="10917936" y="4572000"/>
            <a:ext cx="201168" cy="201168"/>
          </a:xfrm>
          <a:prstGeom prst="rect">
            <a:avLst/>
          </a:prstGeom>
          <a:solidFill>
            <a:srgbClr val="223141"/>
          </a:solidFill>
          <a:ln w="12700">
            <a:solidFill>
              <a:srgbClr val="333333"/>
            </a:solidFill>
            <a:prstDash val="solid"/>
          </a:ln>
        </p:spPr>
      </p:sp>
      <p:sp>
        <p:nvSpPr>
          <p:cNvPr id="137" name="Shape 135"/>
          <p:cNvSpPr/>
          <p:nvPr/>
        </p:nvSpPr>
        <p:spPr>
          <a:xfrm>
            <a:off x="11201400" y="4572000"/>
            <a:ext cx="201168" cy="201168"/>
          </a:xfrm>
          <a:prstGeom prst="rect">
            <a:avLst/>
          </a:prstGeom>
          <a:solidFill>
            <a:srgbClr val="223141"/>
          </a:solidFill>
          <a:ln w="12700">
            <a:solidFill>
              <a:srgbClr val="333333"/>
            </a:solidFill>
            <a:prstDash val="solid"/>
          </a:ln>
        </p:spPr>
      </p:sp>
      <p:sp>
        <p:nvSpPr>
          <p:cNvPr id="138" name="Shape 136"/>
          <p:cNvSpPr/>
          <p:nvPr/>
        </p:nvSpPr>
        <p:spPr>
          <a:xfrm>
            <a:off x="11484864" y="4572000"/>
            <a:ext cx="201168" cy="201168"/>
          </a:xfrm>
          <a:prstGeom prst="rect">
            <a:avLst/>
          </a:prstGeom>
          <a:solidFill>
            <a:srgbClr val="223141"/>
          </a:solidFill>
          <a:ln w="12700">
            <a:solidFill>
              <a:srgbClr val="333333"/>
            </a:solidFill>
            <a:prstDash val="solid"/>
          </a:ln>
        </p:spPr>
      </p:sp>
      <p:sp>
        <p:nvSpPr>
          <p:cNvPr id="139" name="Shape 137"/>
          <p:cNvSpPr/>
          <p:nvPr/>
        </p:nvSpPr>
        <p:spPr>
          <a:xfrm>
            <a:off x="8366760" y="4855464"/>
            <a:ext cx="201168" cy="201168"/>
          </a:xfrm>
          <a:prstGeom prst="rect">
            <a:avLst/>
          </a:prstGeom>
          <a:solidFill>
            <a:srgbClr val="223141"/>
          </a:solidFill>
          <a:ln w="12700">
            <a:solidFill>
              <a:srgbClr val="333333"/>
            </a:solidFill>
            <a:prstDash val="solid"/>
          </a:ln>
        </p:spPr>
      </p:sp>
      <p:sp>
        <p:nvSpPr>
          <p:cNvPr id="140" name="Shape 138"/>
          <p:cNvSpPr/>
          <p:nvPr/>
        </p:nvSpPr>
        <p:spPr>
          <a:xfrm>
            <a:off x="8650224" y="4855464"/>
            <a:ext cx="201168" cy="201168"/>
          </a:xfrm>
          <a:prstGeom prst="rect">
            <a:avLst/>
          </a:prstGeom>
          <a:solidFill>
            <a:srgbClr val="223141"/>
          </a:solidFill>
          <a:ln w="12700">
            <a:solidFill>
              <a:srgbClr val="333333"/>
            </a:solidFill>
            <a:prstDash val="solid"/>
          </a:ln>
        </p:spPr>
      </p:sp>
      <p:sp>
        <p:nvSpPr>
          <p:cNvPr id="141" name="Shape 139"/>
          <p:cNvSpPr/>
          <p:nvPr/>
        </p:nvSpPr>
        <p:spPr>
          <a:xfrm>
            <a:off x="8933688" y="4855464"/>
            <a:ext cx="201168" cy="201168"/>
          </a:xfrm>
          <a:prstGeom prst="rect">
            <a:avLst/>
          </a:prstGeom>
          <a:solidFill>
            <a:srgbClr val="223141"/>
          </a:solidFill>
          <a:ln w="12700">
            <a:solidFill>
              <a:srgbClr val="333333"/>
            </a:solidFill>
            <a:prstDash val="solid"/>
          </a:ln>
        </p:spPr>
      </p:sp>
      <p:sp>
        <p:nvSpPr>
          <p:cNvPr id="142" name="Shape 140"/>
          <p:cNvSpPr/>
          <p:nvPr/>
        </p:nvSpPr>
        <p:spPr>
          <a:xfrm>
            <a:off x="9217152" y="4855464"/>
            <a:ext cx="201168" cy="201168"/>
          </a:xfrm>
          <a:prstGeom prst="rect">
            <a:avLst/>
          </a:prstGeom>
          <a:solidFill>
            <a:srgbClr val="223141"/>
          </a:solidFill>
          <a:ln w="12700">
            <a:solidFill>
              <a:srgbClr val="333333"/>
            </a:solidFill>
            <a:prstDash val="solid"/>
          </a:ln>
        </p:spPr>
      </p:sp>
      <p:sp>
        <p:nvSpPr>
          <p:cNvPr id="143" name="Shape 141"/>
          <p:cNvSpPr/>
          <p:nvPr/>
        </p:nvSpPr>
        <p:spPr>
          <a:xfrm>
            <a:off x="9500616" y="4855464"/>
            <a:ext cx="201168" cy="201168"/>
          </a:xfrm>
          <a:prstGeom prst="rect">
            <a:avLst/>
          </a:prstGeom>
          <a:solidFill>
            <a:srgbClr val="223141"/>
          </a:solidFill>
          <a:ln w="12700">
            <a:solidFill>
              <a:srgbClr val="333333"/>
            </a:solidFill>
            <a:prstDash val="solid"/>
          </a:ln>
        </p:spPr>
      </p:sp>
      <p:sp>
        <p:nvSpPr>
          <p:cNvPr id="144" name="Shape 142"/>
          <p:cNvSpPr/>
          <p:nvPr/>
        </p:nvSpPr>
        <p:spPr>
          <a:xfrm>
            <a:off x="9784080" y="4855464"/>
            <a:ext cx="201168" cy="201168"/>
          </a:xfrm>
          <a:prstGeom prst="rect">
            <a:avLst/>
          </a:prstGeom>
          <a:solidFill>
            <a:srgbClr val="223141"/>
          </a:solidFill>
          <a:ln w="12700">
            <a:solidFill>
              <a:srgbClr val="333333"/>
            </a:solidFill>
            <a:prstDash val="solid"/>
          </a:ln>
        </p:spPr>
      </p:sp>
      <p:sp>
        <p:nvSpPr>
          <p:cNvPr id="145" name="Shape 143"/>
          <p:cNvSpPr/>
          <p:nvPr/>
        </p:nvSpPr>
        <p:spPr>
          <a:xfrm>
            <a:off x="10067544" y="4855464"/>
            <a:ext cx="201168" cy="201168"/>
          </a:xfrm>
          <a:prstGeom prst="rect">
            <a:avLst/>
          </a:prstGeom>
          <a:solidFill>
            <a:srgbClr val="223141"/>
          </a:solidFill>
          <a:ln w="12700">
            <a:solidFill>
              <a:srgbClr val="333333"/>
            </a:solidFill>
            <a:prstDash val="solid"/>
          </a:ln>
        </p:spPr>
      </p:sp>
      <p:sp>
        <p:nvSpPr>
          <p:cNvPr id="146" name="Shape 144"/>
          <p:cNvSpPr/>
          <p:nvPr/>
        </p:nvSpPr>
        <p:spPr>
          <a:xfrm>
            <a:off x="10351008" y="4855464"/>
            <a:ext cx="201168" cy="201168"/>
          </a:xfrm>
          <a:prstGeom prst="rect">
            <a:avLst/>
          </a:prstGeom>
          <a:solidFill>
            <a:srgbClr val="223141"/>
          </a:solidFill>
          <a:ln w="12700">
            <a:solidFill>
              <a:srgbClr val="333333"/>
            </a:solidFill>
            <a:prstDash val="solid"/>
          </a:ln>
        </p:spPr>
      </p:sp>
      <p:sp>
        <p:nvSpPr>
          <p:cNvPr id="147" name="Shape 145"/>
          <p:cNvSpPr/>
          <p:nvPr/>
        </p:nvSpPr>
        <p:spPr>
          <a:xfrm>
            <a:off x="10634472" y="4855464"/>
            <a:ext cx="201168" cy="201168"/>
          </a:xfrm>
          <a:prstGeom prst="rect">
            <a:avLst/>
          </a:prstGeom>
          <a:solidFill>
            <a:srgbClr val="223141"/>
          </a:solidFill>
          <a:ln w="12700">
            <a:solidFill>
              <a:srgbClr val="333333"/>
            </a:solidFill>
            <a:prstDash val="solid"/>
          </a:ln>
        </p:spPr>
      </p:sp>
      <p:sp>
        <p:nvSpPr>
          <p:cNvPr id="148" name="Shape 146"/>
          <p:cNvSpPr/>
          <p:nvPr/>
        </p:nvSpPr>
        <p:spPr>
          <a:xfrm>
            <a:off x="10917936" y="4855464"/>
            <a:ext cx="201168" cy="201168"/>
          </a:xfrm>
          <a:prstGeom prst="rect">
            <a:avLst/>
          </a:prstGeom>
          <a:solidFill>
            <a:srgbClr val="223141"/>
          </a:solidFill>
          <a:ln w="12700">
            <a:solidFill>
              <a:srgbClr val="333333"/>
            </a:solidFill>
            <a:prstDash val="solid"/>
          </a:ln>
        </p:spPr>
      </p:sp>
      <p:sp>
        <p:nvSpPr>
          <p:cNvPr id="149" name="Shape 147"/>
          <p:cNvSpPr/>
          <p:nvPr/>
        </p:nvSpPr>
        <p:spPr>
          <a:xfrm>
            <a:off x="11201400" y="4855464"/>
            <a:ext cx="201168" cy="201168"/>
          </a:xfrm>
          <a:prstGeom prst="rect">
            <a:avLst/>
          </a:prstGeom>
          <a:solidFill>
            <a:srgbClr val="223141"/>
          </a:solidFill>
          <a:ln w="12700">
            <a:solidFill>
              <a:srgbClr val="333333"/>
            </a:solidFill>
            <a:prstDash val="solid"/>
          </a:ln>
        </p:spPr>
      </p:sp>
      <p:sp>
        <p:nvSpPr>
          <p:cNvPr id="150" name="Shape 148"/>
          <p:cNvSpPr/>
          <p:nvPr/>
        </p:nvSpPr>
        <p:spPr>
          <a:xfrm>
            <a:off x="11484864" y="4855464"/>
            <a:ext cx="201168" cy="201168"/>
          </a:xfrm>
          <a:prstGeom prst="rect">
            <a:avLst/>
          </a:prstGeom>
          <a:solidFill>
            <a:srgbClr val="223141"/>
          </a:solidFill>
          <a:ln w="12700">
            <a:solidFill>
              <a:srgbClr val="333333"/>
            </a:solidFill>
            <a:prstDash val="solid"/>
          </a:ln>
        </p:spPr>
      </p:sp>
      <p:sp>
        <p:nvSpPr>
          <p:cNvPr id="151" name="Text 149"/>
          <p:cNvSpPr txBox="1"/>
          <p:nvPr/>
        </p:nvSpPr>
        <p:spPr>
          <a:xfrm>
            <a:off x="8366760" y="5166360"/>
            <a:ext cx="3108960" cy="274320"/>
          </a:xfrm>
          <a:prstGeom prst="rect">
            <a:avLst/>
          </a:prstGeom>
          <a:noFill/>
          <a:ln/>
        </p:spPr>
        <p:txBody>
          <a:bodyPr wrap="square" lIns="0" tIns="0" rIns="0" bIns="0" rtlCol="0" anchor="ctr"/>
          <a:lstStyle/>
          <a:p>
            <a:pPr indent="0" marL="0">
              <a:buNone/>
            </a:pPr>
            <a:r>
              <a:rPr lang="en-US" sz="1100" dirty="0">
                <a:solidFill>
                  <a:srgbClr val="8DA0B0"/>
                </a:solidFill>
                <a:latin typeface="Courier New" pitchFamily="34" charset="0"/>
                <a:ea typeface="Courier New" pitchFamily="34" charset="-122"/>
                <a:cs typeface="Courier New" pitchFamily="34" charset="-120"/>
              </a:rPr>
              <a:t>31 of 1,334 tests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THE RESULT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What we are claiming, and what it rests on</a:t>
            </a:r>
            <a:endParaRPr lang="en-US" sz="3400" dirty="0"/>
          </a:p>
        </p:txBody>
      </p:sp>
      <p:sp>
        <p:nvSpPr>
          <p:cNvPr id="4" name="Shape 2"/>
          <p:cNvSpPr/>
          <p:nvPr/>
        </p:nvSpPr>
        <p:spPr>
          <a:xfrm>
            <a:off x="640080" y="1691640"/>
            <a:ext cx="3474720" cy="1572768"/>
          </a:xfrm>
          <a:prstGeom prst="roundRect">
            <a:avLst>
              <a:gd name="adj" fmla="val 4651"/>
            </a:avLst>
          </a:prstGeom>
          <a:solidFill>
            <a:srgbClr val="F3F5F7"/>
          </a:solidFill>
          <a:ln w="12700">
            <a:solidFill>
              <a:srgbClr val="333333"/>
            </a:solidFill>
            <a:prstDash val="solid"/>
          </a:ln>
        </p:spPr>
      </p:sp>
      <p:sp>
        <p:nvSpPr>
          <p:cNvPr id="5" name="Text 3"/>
          <p:cNvSpPr txBox="1"/>
          <p:nvPr/>
        </p:nvSpPr>
        <p:spPr>
          <a:xfrm>
            <a:off x="868680" y="1856232"/>
            <a:ext cx="301752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0 / 211</a:t>
            </a:r>
            <a:endParaRPr lang="en-US" sz="3400" dirty="0"/>
          </a:p>
        </p:txBody>
      </p:sp>
      <p:sp>
        <p:nvSpPr>
          <p:cNvPr id="6" name="Text 4"/>
          <p:cNvSpPr txBox="1"/>
          <p:nvPr/>
        </p:nvSpPr>
        <p:spPr>
          <a:xfrm>
            <a:off x="868680" y="25328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missed defects</a:t>
            </a:r>
            <a:endParaRPr lang="en-US" sz="1200" dirty="0"/>
          </a:p>
        </p:txBody>
      </p:sp>
      <p:sp>
        <p:nvSpPr>
          <p:cNvPr id="7" name="Text 5"/>
          <p:cNvSpPr txBox="1"/>
          <p:nvPr/>
        </p:nvSpPr>
        <p:spPr>
          <a:xfrm>
            <a:off x="868680" y="28072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attrs at 200 mutants, scrapy at 30</a:t>
            </a:r>
            <a:endParaRPr lang="en-US" sz="1000" dirty="0"/>
          </a:p>
        </p:txBody>
      </p:sp>
      <p:sp>
        <p:nvSpPr>
          <p:cNvPr id="8" name="Shape 6"/>
          <p:cNvSpPr/>
          <p:nvPr/>
        </p:nvSpPr>
        <p:spPr>
          <a:xfrm>
            <a:off x="4343400" y="1691640"/>
            <a:ext cx="3474720" cy="1572768"/>
          </a:xfrm>
          <a:prstGeom prst="roundRect">
            <a:avLst>
              <a:gd name="adj" fmla="val 4651"/>
            </a:avLst>
          </a:prstGeom>
          <a:solidFill>
            <a:srgbClr val="F3F5F7"/>
          </a:solidFill>
          <a:ln w="12700">
            <a:solidFill>
              <a:srgbClr val="333333"/>
            </a:solidFill>
            <a:prstDash val="solid"/>
          </a:ln>
        </p:spPr>
      </p:sp>
      <p:sp>
        <p:nvSpPr>
          <p:cNvPr id="9" name="Text 7"/>
          <p:cNvSpPr txBox="1"/>
          <p:nvPr/>
        </p:nvSpPr>
        <p:spPr>
          <a:xfrm>
            <a:off x="4572000" y="1856232"/>
            <a:ext cx="301752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65.2%</a:t>
            </a:r>
            <a:endParaRPr lang="en-US" sz="3400" dirty="0"/>
          </a:p>
        </p:txBody>
      </p:sp>
      <p:sp>
        <p:nvSpPr>
          <p:cNvPr id="10" name="Text 8"/>
          <p:cNvSpPr txBox="1"/>
          <p:nvPr/>
        </p:nvSpPr>
        <p:spPr>
          <a:xfrm>
            <a:off x="4572000" y="25328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less test time on scrapy</a:t>
            </a:r>
            <a:endParaRPr lang="en-US" sz="1200" dirty="0"/>
          </a:p>
        </p:txBody>
      </p:sp>
      <p:sp>
        <p:nvSpPr>
          <p:cNvPr id="11" name="Text 9"/>
          <p:cNvSpPr txBox="1"/>
          <p:nvPr/>
        </p:nvSpPr>
        <p:spPr>
          <a:xfrm>
            <a:off x="4572000" y="28072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58.4% on attrs</a:t>
            </a:r>
            <a:endParaRPr lang="en-US" sz="1000" dirty="0"/>
          </a:p>
        </p:txBody>
      </p:sp>
      <p:sp>
        <p:nvSpPr>
          <p:cNvPr id="12" name="Shape 10"/>
          <p:cNvSpPr/>
          <p:nvPr/>
        </p:nvSpPr>
        <p:spPr>
          <a:xfrm>
            <a:off x="8046720" y="1691640"/>
            <a:ext cx="3474720" cy="1572768"/>
          </a:xfrm>
          <a:prstGeom prst="roundRect">
            <a:avLst>
              <a:gd name="adj" fmla="val 4651"/>
            </a:avLst>
          </a:prstGeom>
          <a:solidFill>
            <a:srgbClr val="F3F5F7"/>
          </a:solidFill>
          <a:ln w="12700">
            <a:solidFill>
              <a:srgbClr val="333333"/>
            </a:solidFill>
            <a:prstDash val="solid"/>
          </a:ln>
        </p:spPr>
      </p:sp>
      <p:sp>
        <p:nvSpPr>
          <p:cNvPr id="13" name="Text 11"/>
          <p:cNvSpPr txBox="1"/>
          <p:nvPr/>
        </p:nvSpPr>
        <p:spPr>
          <a:xfrm>
            <a:off x="8275320" y="1856232"/>
            <a:ext cx="3017520" cy="658368"/>
          </a:xfrm>
          <a:prstGeom prst="rect">
            <a:avLst/>
          </a:prstGeom>
          <a:noFill/>
          <a:ln/>
        </p:spPr>
        <p:txBody>
          <a:bodyPr wrap="square" lIns="0" tIns="0" rIns="0" bIns="0" rtlCol="0" anchor="ctr"/>
          <a:lstStyle/>
          <a:p>
            <a:pPr indent="0" marL="0">
              <a:buNone/>
            </a:pPr>
            <a:r>
              <a:rPr lang="en-US" sz="3400" b="1" dirty="0">
                <a:solidFill>
                  <a:srgbClr val="C07A1B"/>
                </a:solidFill>
                <a:latin typeface="Cambria" pitchFamily="34" charset="0"/>
                <a:ea typeface="Cambria" pitchFamily="34" charset="-122"/>
                <a:cs typeface="Cambria" pitchFamily="34" charset="-120"/>
              </a:rPr>
              <a:t>29.6%</a:t>
            </a:r>
            <a:endParaRPr lang="en-US" sz="3400" dirty="0"/>
          </a:p>
        </p:txBody>
      </p:sp>
      <p:sp>
        <p:nvSpPr>
          <p:cNvPr id="14" name="Text 12"/>
          <p:cNvSpPr txBox="1"/>
          <p:nvPr/>
        </p:nvSpPr>
        <p:spPr>
          <a:xfrm>
            <a:off x="8275320" y="25328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of changes run everything</a:t>
            </a:r>
            <a:endParaRPr lang="en-US" sz="1200" dirty="0"/>
          </a:p>
        </p:txBody>
      </p:sp>
      <p:sp>
        <p:nvSpPr>
          <p:cNvPr id="15" name="Text 13"/>
          <p:cNvSpPr txBox="1"/>
          <p:nvPr/>
        </p:nvSpPr>
        <p:spPr>
          <a:xfrm>
            <a:off x="8275320" y="28072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50.5% on attrs — the honest cost</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10881360" cy="914400"/>
        </p:xfrm>
        <a:graphic>
          <a:graphicData uri="http://schemas.openxmlformats.org/drawingml/2006/table">
            <a:tbl>
              <a:tblPr/>
              <a:tblGrid>
                <a:gridCol w="4663440"/>
                <a:gridCol w="3108960"/>
                <a:gridCol w="3108960"/>
              </a:tblGrid>
              <a:tr h="329184">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attrs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scrapy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Tests in the suite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1,334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4,371</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Baseline suite time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3.93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62.6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Non-equivalent defects injected</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184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Misses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Fallback rate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29.6%</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Net time reduction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58.4%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65.2%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29184">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Selection precision, median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55.2%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17" name="Text 14"/>
          <p:cNvSpPr txBox="1"/>
          <p:nvPr/>
        </p:nvSpPr>
        <p:spPr>
          <a:xfrm>
            <a:off x="640080" y="5806440"/>
            <a:ext cx="10881360" cy="457200"/>
          </a:xfrm>
          <a:prstGeom prst="rect">
            <a:avLst/>
          </a:prstGeom>
          <a:noFill/>
          <a:ln/>
        </p:spPr>
        <p:txBody>
          <a:bodyPr wrap="square" lIns="0" tIns="0" rIns="0" bIns="0" rtlCol="0" anchor="ctr"/>
          <a:lstStyle/>
          <a:p>
            <a:pPr indent="0" marL="0">
              <a:buNone/>
            </a:pPr>
            <a:r>
              <a:rPr lang="en-US" sz="1200" i="1" dirty="0">
                <a:solidFill>
                  <a:srgbClr val="62727F"/>
                </a:solidFill>
                <a:latin typeface="Calibri" pitchFamily="34" charset="0"/>
                <a:ea typeface="Calibri" pitchFamily="34" charset="-122"/>
                <a:cs typeface="Calibri" pitchFamily="34" charset="-120"/>
              </a:rPr>
              <a:t>Every figure traces to a committed JSON under eval/results/. `make reproduce` regenerates all of them from the pinned corpus.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This idea exists. The evidence does not.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377440"/>
                <a:gridCol w="4114800"/>
                <a:gridCol w="438912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Existing work</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 well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ours differs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pytest-testmon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Mature, integrates cleanly, solves selection effectively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Publishes no reproducible safety evaluation — adoption rests on trust</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Bazel, Nx</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Reliable at scale from an explicit build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Requires adopting an entire build system</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Launchable and similar</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Sophisticated selection from large historical datasets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Closed methodology; the logic cannot be inspected</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Academic RTS literature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Decades of rigorous formal evaluation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Research prototypes, not tools practitioners install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5" name="Shape 2"/>
          <p:cNvSpPr/>
          <p:nvPr/>
        </p:nvSpPr>
        <p:spPr>
          <a:xfrm>
            <a:off x="640080" y="4709160"/>
            <a:ext cx="10881360" cy="1188720"/>
          </a:xfrm>
          <a:prstGeom prst="roundRect">
            <a:avLst>
              <a:gd name="adj" fmla="val 6154"/>
            </a:avLst>
          </a:prstGeom>
          <a:solidFill>
            <a:srgbClr val="17232F"/>
          </a:solidFill>
          <a:ln w="12700">
            <a:solidFill>
              <a:srgbClr val="333333"/>
            </a:solidFill>
            <a:prstDash val="solid"/>
          </a:ln>
        </p:spPr>
      </p:sp>
      <p:sp>
        <p:nvSpPr>
          <p:cNvPr id="6" name="Text 3"/>
          <p:cNvSpPr txBox="1"/>
          <p:nvPr/>
        </p:nvSpPr>
        <p:spPr>
          <a:xfrm>
            <a:off x="960120" y="4956048"/>
            <a:ext cx="1024128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Inspectable selection logic, plus published measurements anyone can replay — including the ones that went against us.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Watch once, then ask — plus a graph for what watching misses</a:t>
            </a:r>
            <a:endParaRPr lang="en-US" sz="3400" dirty="0"/>
          </a:p>
        </p:txBody>
      </p:sp>
      <p:sp>
        <p:nvSpPr>
          <p:cNvPr id="4" name="Shape 2"/>
          <p:cNvSpPr/>
          <p:nvPr/>
        </p:nvSpPr>
        <p:spPr>
          <a:xfrm>
            <a:off x="640080" y="1691640"/>
            <a:ext cx="3474720" cy="3657600"/>
          </a:xfrm>
          <a:prstGeom prst="roundRect">
            <a:avLst>
              <a:gd name="adj" fmla="val 2105"/>
            </a:avLst>
          </a:prstGeom>
          <a:solidFill>
            <a:srgbClr val="F3F5F7"/>
          </a:solidFill>
          <a:ln w="12700">
            <a:solidFill>
              <a:srgbClr val="333333"/>
            </a:solidFill>
            <a:prstDash val="solid"/>
          </a:ln>
        </p:spPr>
      </p:sp>
      <p:sp>
        <p:nvSpPr>
          <p:cNvPr id="5" name="Shape 3"/>
          <p:cNvSpPr/>
          <p:nvPr/>
        </p:nvSpPr>
        <p:spPr>
          <a:xfrm>
            <a:off x="914400" y="1920240"/>
            <a:ext cx="457200" cy="457200"/>
          </a:xfrm>
          <a:prstGeom prst="ellipse">
            <a:avLst/>
          </a:prstGeom>
          <a:solidFill>
            <a:srgbClr val="17232F"/>
          </a:solidFill>
          <a:ln w="12700">
            <a:solidFill>
              <a:srgbClr val="333333"/>
            </a:solidFill>
            <a:prstDash val="solid"/>
          </a:ln>
        </p:spPr>
      </p:sp>
      <p:sp>
        <p:nvSpPr>
          <p:cNvPr id="6" name="Text 4"/>
          <p:cNvSpPr txBox="1"/>
          <p:nvPr/>
        </p:nvSpPr>
        <p:spPr>
          <a:xfrm>
            <a:off x="914400" y="1947672"/>
            <a:ext cx="457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508760" y="1965960"/>
            <a:ext cx="2468880" cy="365760"/>
          </a:xfrm>
          <a:prstGeom prst="rect">
            <a:avLst/>
          </a:prstGeom>
          <a:noFill/>
          <a:ln/>
        </p:spPr>
        <p:txBody>
          <a:bodyPr wrap="square" lIns="0" tIns="0" rIns="0" bIns="0" rtlCol="0" anchor="ctr"/>
          <a:lstStyle/>
          <a:p>
            <a:pPr indent="0" marL="0">
              <a:buNone/>
            </a:pPr>
            <a:r>
              <a:rPr lang="en-US" sz="1600" b="1" dirty="0">
                <a:solidFill>
                  <a:srgbClr val="17232F"/>
                </a:solidFill>
                <a:latin typeface="Cambria" pitchFamily="34" charset="0"/>
                <a:ea typeface="Cambria" pitchFamily="34" charset="-122"/>
                <a:cs typeface="Cambria" pitchFamily="34" charset="-120"/>
              </a:rPr>
              <a:t>Learn, once</a:t>
            </a:r>
            <a:endParaRPr lang="en-US" sz="1600" dirty="0"/>
          </a:p>
        </p:txBody>
      </p:sp>
      <p:sp>
        <p:nvSpPr>
          <p:cNvPr id="8" name="Text 6"/>
          <p:cNvSpPr txBox="1"/>
          <p:nvPr/>
        </p:nvSpPr>
        <p:spPr>
          <a:xfrm>
            <a:off x="914400" y="2560320"/>
            <a:ext cx="2926080" cy="2194560"/>
          </a:xfrm>
          <a:prstGeom prst="rect">
            <a:avLst/>
          </a:prstGeom>
          <a:noFill/>
          <a:ln/>
        </p:spPr>
        <p:txBody>
          <a:bodyPr wrap="square" lIns="0" tIns="0" rIns="0" bIns="0" rtlCol="0" anchor="ctr"/>
          <a:lstStyle/>
          <a:p>
            <a:pPr indent="0" marL="0">
              <a:lnSpc>
                <a:spcPts val="1700"/>
              </a:lnSpc>
              <a:buNone/>
            </a:pPr>
            <a:r>
              <a:rPr lang="en-US" sz="1150" dirty="0">
                <a:solidFill>
                  <a:srgbClr val="17232F"/>
                </a:solidFill>
                <a:latin typeface="Calibri" pitchFamily="34" charset="0"/>
                <a:ea typeface="Calibri" pitchFamily="34" charset="-122"/>
                <a:cs typeface="Calibri" pitchFamily="34" charset="-120"/>
              </a:rPr>
              <a:t>The suite runs under coverage.py with dynamic contexts. For every source line we record which tests executed it, inverted into a line to test map in .tia/map.db, keyed to the commit it was built at.</a:t>
            </a:r>
            <a:endParaRPr lang="en-US" sz="1150" dirty="0"/>
          </a:p>
        </p:txBody>
      </p:sp>
      <p:sp>
        <p:nvSpPr>
          <p:cNvPr id="9" name="Text 7"/>
          <p:cNvSpPr txBox="1"/>
          <p:nvPr/>
        </p:nvSpPr>
        <p:spPr>
          <a:xfrm>
            <a:off x="914400" y="4846320"/>
            <a:ext cx="2926080" cy="365760"/>
          </a:xfrm>
          <a:prstGeom prst="rect">
            <a:avLst/>
          </a:prstGeom>
          <a:noFill/>
          <a:ln/>
        </p:spPr>
        <p:txBody>
          <a:bodyPr wrap="square" lIns="0" tIns="0" rIns="0" bIns="0" rtlCol="0" anchor="ctr"/>
          <a:lstStyle/>
          <a:p>
            <a:pPr indent="0" marL="0">
              <a:buNone/>
            </a:pPr>
            <a:r>
              <a:rPr lang="en-US" sz="950" b="1" dirty="0">
                <a:solidFill>
                  <a:srgbClr val="2E7D62"/>
                </a:solidFill>
                <a:latin typeface="Courier New" pitchFamily="34" charset="0"/>
                <a:ea typeface="Courier New" pitchFamily="34" charset="-122"/>
                <a:cs typeface="Courier New" pitchFamily="34" charset="-120"/>
              </a:rPr>
              <a:t>attrs 10 s  ·  scrapy 92 s  ·  1.6-2.2x instrumented</a:t>
            </a:r>
            <a:endParaRPr lang="en-US" sz="950" dirty="0"/>
          </a:p>
        </p:txBody>
      </p:sp>
      <p:sp>
        <p:nvSpPr>
          <p:cNvPr id="10" name="Shape 8"/>
          <p:cNvSpPr/>
          <p:nvPr/>
        </p:nvSpPr>
        <p:spPr>
          <a:xfrm>
            <a:off x="4343400" y="1691640"/>
            <a:ext cx="3474720" cy="3657600"/>
          </a:xfrm>
          <a:prstGeom prst="roundRect">
            <a:avLst>
              <a:gd name="adj" fmla="val 2105"/>
            </a:avLst>
          </a:prstGeom>
          <a:solidFill>
            <a:srgbClr val="F3F5F7"/>
          </a:solidFill>
          <a:ln w="12700">
            <a:solidFill>
              <a:srgbClr val="333333"/>
            </a:solidFill>
            <a:prstDash val="solid"/>
          </a:ln>
        </p:spPr>
      </p:sp>
      <p:sp>
        <p:nvSpPr>
          <p:cNvPr id="11" name="Shape 9"/>
          <p:cNvSpPr/>
          <p:nvPr/>
        </p:nvSpPr>
        <p:spPr>
          <a:xfrm>
            <a:off x="4617720" y="1920240"/>
            <a:ext cx="457200" cy="457200"/>
          </a:xfrm>
          <a:prstGeom prst="ellipse">
            <a:avLst/>
          </a:prstGeom>
          <a:solidFill>
            <a:srgbClr val="17232F"/>
          </a:solidFill>
          <a:ln w="12700">
            <a:solidFill>
              <a:srgbClr val="333333"/>
            </a:solidFill>
            <a:prstDash val="solid"/>
          </a:ln>
        </p:spPr>
      </p:sp>
      <p:sp>
        <p:nvSpPr>
          <p:cNvPr id="12" name="Text 10"/>
          <p:cNvSpPr txBox="1"/>
          <p:nvPr/>
        </p:nvSpPr>
        <p:spPr>
          <a:xfrm>
            <a:off x="4617720" y="1947672"/>
            <a:ext cx="457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212080" y="1965960"/>
            <a:ext cx="2468880" cy="365760"/>
          </a:xfrm>
          <a:prstGeom prst="rect">
            <a:avLst/>
          </a:prstGeom>
          <a:noFill/>
          <a:ln/>
        </p:spPr>
        <p:txBody>
          <a:bodyPr wrap="square" lIns="0" tIns="0" rIns="0" bIns="0" rtlCol="0" anchor="ctr"/>
          <a:lstStyle/>
          <a:p>
            <a:pPr indent="0" marL="0">
              <a:buNone/>
            </a:pPr>
            <a:r>
              <a:rPr lang="en-US" sz="1600" b="1" dirty="0">
                <a:solidFill>
                  <a:srgbClr val="17232F"/>
                </a:solidFill>
                <a:latin typeface="Cambria" pitchFamily="34" charset="0"/>
                <a:ea typeface="Cambria" pitchFamily="34" charset="-122"/>
                <a:cs typeface="Cambria" pitchFamily="34" charset="-120"/>
              </a:rPr>
              <a:t>Select, every change</a:t>
            </a:r>
            <a:endParaRPr lang="en-US" sz="1600" dirty="0"/>
          </a:p>
        </p:txBody>
      </p:sp>
      <p:sp>
        <p:nvSpPr>
          <p:cNvPr id="14" name="Text 12"/>
          <p:cNvSpPr txBox="1"/>
          <p:nvPr/>
        </p:nvSpPr>
        <p:spPr>
          <a:xfrm>
            <a:off x="4617720" y="2560320"/>
            <a:ext cx="2926080" cy="2194560"/>
          </a:xfrm>
          <a:prstGeom prst="rect">
            <a:avLst/>
          </a:prstGeom>
          <a:noFill/>
          <a:ln/>
        </p:spPr>
        <p:txBody>
          <a:bodyPr wrap="square" lIns="0" tIns="0" rIns="0" bIns="0" rtlCol="0" anchor="ctr"/>
          <a:lstStyle/>
          <a:p>
            <a:pPr indent="0" marL="0">
              <a:lnSpc>
                <a:spcPts val="1700"/>
              </a:lnSpc>
              <a:buNone/>
            </a:pPr>
            <a:r>
              <a:rPr lang="en-US" sz="1150" dirty="0">
                <a:solidFill>
                  <a:srgbClr val="17232F"/>
                </a:solidFill>
                <a:latin typeface="Calibri" pitchFamily="34" charset="0"/>
                <a:ea typeface="Calibri" pitchFamily="34" charset="-122"/>
                <a:cs typeface="Calibri" pitchFamily="34" charset="-120"/>
              </a:rPr>
              <a:t>git reports the changed lines. Each path is routed by 16 classifier rules. Where the map can be trusted, changed lines are looked up and covering tests unioned. Everything else falls back, with a reason code.</a:t>
            </a:r>
            <a:endParaRPr lang="en-US" sz="1150" dirty="0"/>
          </a:p>
        </p:txBody>
      </p:sp>
      <p:sp>
        <p:nvSpPr>
          <p:cNvPr id="15" name="Text 13"/>
          <p:cNvSpPr txBox="1"/>
          <p:nvPr/>
        </p:nvSpPr>
        <p:spPr>
          <a:xfrm>
            <a:off x="4617720" y="4846320"/>
            <a:ext cx="2926080" cy="365760"/>
          </a:xfrm>
          <a:prstGeom prst="rect">
            <a:avLst/>
          </a:prstGeom>
          <a:noFill/>
          <a:ln/>
        </p:spPr>
        <p:txBody>
          <a:bodyPr wrap="square" lIns="0" tIns="0" rIns="0" bIns="0" rtlCol="0" anchor="ctr"/>
          <a:lstStyle/>
          <a:p>
            <a:pPr indent="0" marL="0">
              <a:buNone/>
            </a:pPr>
            <a:r>
              <a:rPr lang="en-US" sz="950" b="1" dirty="0">
                <a:solidFill>
                  <a:srgbClr val="2E7D62"/>
                </a:solidFill>
                <a:latin typeface="Courier New" pitchFamily="34" charset="0"/>
                <a:ea typeface="Courier New" pitchFamily="34" charset="-122"/>
                <a:cs typeface="Courier New" pitchFamily="34" charset="-120"/>
              </a:rPr>
              <a:t>lookup p95 1.41 ms</a:t>
            </a:r>
            <a:endParaRPr lang="en-US" sz="950" dirty="0"/>
          </a:p>
        </p:txBody>
      </p:sp>
      <p:sp>
        <p:nvSpPr>
          <p:cNvPr id="16" name="Shape 14"/>
          <p:cNvSpPr/>
          <p:nvPr/>
        </p:nvSpPr>
        <p:spPr>
          <a:xfrm>
            <a:off x="8046720" y="1691640"/>
            <a:ext cx="3474720" cy="3657600"/>
          </a:xfrm>
          <a:prstGeom prst="roundRect">
            <a:avLst>
              <a:gd name="adj" fmla="val 2105"/>
            </a:avLst>
          </a:prstGeom>
          <a:solidFill>
            <a:srgbClr val="F3F5F7"/>
          </a:solidFill>
          <a:ln w="12700">
            <a:solidFill>
              <a:srgbClr val="333333"/>
            </a:solidFill>
            <a:prstDash val="solid"/>
          </a:ln>
        </p:spPr>
      </p:sp>
      <p:sp>
        <p:nvSpPr>
          <p:cNvPr id="17" name="Shape 15"/>
          <p:cNvSpPr/>
          <p:nvPr/>
        </p:nvSpPr>
        <p:spPr>
          <a:xfrm>
            <a:off x="8321040" y="1920240"/>
            <a:ext cx="457200" cy="457200"/>
          </a:xfrm>
          <a:prstGeom prst="ellipse">
            <a:avLst/>
          </a:prstGeom>
          <a:solidFill>
            <a:srgbClr val="17232F"/>
          </a:solidFill>
          <a:ln w="12700">
            <a:solidFill>
              <a:srgbClr val="333333"/>
            </a:solidFill>
            <a:prstDash val="solid"/>
          </a:ln>
        </p:spPr>
      </p:sp>
      <p:sp>
        <p:nvSpPr>
          <p:cNvPr id="18" name="Text 16"/>
          <p:cNvSpPr txBox="1"/>
          <p:nvPr/>
        </p:nvSpPr>
        <p:spPr>
          <a:xfrm>
            <a:off x="8321040" y="1947672"/>
            <a:ext cx="45720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15400" y="1965960"/>
            <a:ext cx="2468880" cy="365760"/>
          </a:xfrm>
          <a:prstGeom prst="rect">
            <a:avLst/>
          </a:prstGeom>
          <a:noFill/>
          <a:ln/>
        </p:spPr>
        <p:txBody>
          <a:bodyPr wrap="square" lIns="0" tIns="0" rIns="0" bIns="0" rtlCol="0" anchor="ctr"/>
          <a:lstStyle/>
          <a:p>
            <a:pPr indent="0" marL="0">
              <a:buNone/>
            </a:pPr>
            <a:r>
              <a:rPr lang="en-US" sz="1600" b="1" dirty="0">
                <a:solidFill>
                  <a:srgbClr val="17232F"/>
                </a:solidFill>
                <a:latin typeface="Cambria" pitchFamily="34" charset="0"/>
                <a:ea typeface="Cambria" pitchFamily="34" charset="-122"/>
                <a:cs typeface="Cambria" pitchFamily="34" charset="-120"/>
              </a:rPr>
              <a:t>Import graph</a:t>
            </a:r>
            <a:endParaRPr lang="en-US" sz="1600" dirty="0"/>
          </a:p>
        </p:txBody>
      </p:sp>
      <p:sp>
        <p:nvSpPr>
          <p:cNvPr id="20" name="Text 18"/>
          <p:cNvSpPr txBox="1"/>
          <p:nvPr/>
        </p:nvSpPr>
        <p:spPr>
          <a:xfrm>
            <a:off x="8321040" y="2560320"/>
            <a:ext cx="2926080" cy="2194560"/>
          </a:xfrm>
          <a:prstGeom prst="rect">
            <a:avLst/>
          </a:prstGeom>
          <a:noFill/>
          <a:ln/>
        </p:spPr>
        <p:txBody>
          <a:bodyPr wrap="square" lIns="0" tIns="0" rIns="0" bIns="0" rtlCol="0" anchor="ctr"/>
          <a:lstStyle/>
          <a:p>
            <a:pPr indent="0" marL="0">
              <a:lnSpc>
                <a:spcPts val="1700"/>
              </a:lnSpc>
              <a:buNone/>
            </a:pPr>
            <a:r>
              <a:rPr lang="en-US" sz="1150" dirty="0">
                <a:solidFill>
                  <a:srgbClr val="17232F"/>
                </a:solidFill>
                <a:latin typeface="Calibri" pitchFamily="34" charset="0"/>
                <a:ea typeface="Calibri" pitchFamily="34" charset="-122"/>
                <a:cs typeface="Calibri" pitchFamily="34" charset="-120"/>
              </a:rPr>
              <a:t>A line that ran at import time belongs to no test, so the map cannot resolve it. The static import graph names every module that transitively imports the changed file and selects their tests instead.</a:t>
            </a:r>
            <a:endParaRPr lang="en-US" sz="1150" dirty="0"/>
          </a:p>
        </p:txBody>
      </p:sp>
      <p:sp>
        <p:nvSpPr>
          <p:cNvPr id="21" name="Text 19"/>
          <p:cNvSpPr txBox="1"/>
          <p:nvPr/>
        </p:nvSpPr>
        <p:spPr>
          <a:xfrm>
            <a:off x="8321040" y="4846320"/>
            <a:ext cx="2926080" cy="365760"/>
          </a:xfrm>
          <a:prstGeom prst="rect">
            <a:avLst/>
          </a:prstGeom>
          <a:noFill/>
          <a:ln/>
        </p:spPr>
        <p:txBody>
          <a:bodyPr wrap="square" lIns="0" tIns="0" rIns="0" bIns="0" rtlCol="0" anchor="ctr"/>
          <a:lstStyle/>
          <a:p>
            <a:pPr indent="0" marL="0">
              <a:buNone/>
            </a:pPr>
            <a:r>
              <a:rPr lang="en-US" sz="950" b="1" dirty="0">
                <a:solidFill>
                  <a:srgbClr val="2E7D62"/>
                </a:solidFill>
                <a:latin typeface="Courier New" pitchFamily="34" charset="0"/>
                <a:ea typeface="Courier New" pitchFamily="34" charset="-122"/>
                <a:cs typeface="Courier New" pitchFamily="34" charset="-120"/>
              </a:rPr>
              <a:t>attrs 37 edges  ·  scrapy 599</a:t>
            </a:r>
            <a:endParaRPr lang="en-US" sz="950" dirty="0"/>
          </a:p>
        </p:txBody>
      </p:sp>
      <p:sp>
        <p:nvSpPr>
          <p:cNvPr id="22" name="Text 20"/>
          <p:cNvSpPr txBox="1"/>
          <p:nvPr/>
        </p:nvSpPr>
        <p:spPr>
          <a:xfrm>
            <a:off x="640080" y="5532120"/>
            <a:ext cx="10881360" cy="548640"/>
          </a:xfrm>
          <a:prstGeom prst="rect">
            <a:avLst/>
          </a:prstGeom>
          <a:noFill/>
          <a:ln/>
        </p:spPr>
        <p:txBody>
          <a:bodyPr wrap="square" lIns="0" tIns="0" rIns="0" bIns="0" rtlCol="0" anchor="ctr"/>
          <a:lstStyle/>
          <a:p>
            <a:pPr indent="0" marL="0">
              <a:buNone/>
            </a:pPr>
            <a:r>
              <a:rPr lang="en-US" sz="1250" i="1" dirty="0">
                <a:solidFill>
                  <a:srgbClr val="62727F"/>
                </a:solidFill>
                <a:latin typeface="Calibri" pitchFamily="34" charset="0"/>
                <a:ea typeface="Calibri" pitchFamily="34" charset="-122"/>
                <a:cs typeface="Calibri" pitchFamily="34" charset="-120"/>
              </a:rPr>
              <a:t>The map records what actually executed; the graph records what the source says. Neither is complete — dynamic loading is invisible to both, and SAFETY.md says so.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SAFETY BY CONSTRUCTION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classifier is the guarantee</a:t>
            </a:r>
            <a:endParaRPr lang="en-US" sz="3400" dirty="0"/>
          </a:p>
        </p:txBody>
      </p:sp>
      <p:sp>
        <p:nvSpPr>
          <p:cNvPr id="4" name="Text 2"/>
          <p:cNvSpPr txBox="1"/>
          <p:nvPr/>
        </p:nvSpPr>
        <p:spPr>
          <a:xfrm>
            <a:off x="640080" y="1600200"/>
            <a:ext cx="5120640" cy="320040"/>
          </a:xfrm>
          <a:prstGeom prst="rect">
            <a:avLst/>
          </a:prstGeom>
          <a:noFill/>
          <a:ln/>
        </p:spPr>
        <p:txBody>
          <a:bodyPr wrap="square" lIns="0" tIns="0" rIns="0" bIns="0" rtlCol="0" anchor="ctr"/>
          <a:lstStyle/>
          <a:p>
            <a:pPr indent="0" marL="0">
              <a:buNone/>
            </a:pPr>
            <a:r>
              <a:rPr lang="en-US" sz="1300" b="1" dirty="0">
                <a:solidFill>
                  <a:srgbClr val="2E7D62"/>
                </a:solidFill>
                <a:latin typeface="Calibri" pitchFamily="34" charset="0"/>
                <a:ea typeface="Calibri" pitchFamily="34" charset="-122"/>
                <a:cs typeface="Calibri" pitchFamily="34" charset="-120"/>
              </a:rPr>
              <a:t>Selective where confident</a:t>
            </a:r>
            <a:endParaRPr lang="en-US" sz="1300" dirty="0"/>
          </a:p>
        </p:txBody>
      </p:sp>
      <p:sp>
        <p:nvSpPr>
          <p:cNvPr id="5" name="Text 3"/>
          <p:cNvSpPr txBox="1"/>
          <p:nvPr/>
        </p:nvSpPr>
        <p:spPr>
          <a:xfrm>
            <a:off x="640080" y="1965960"/>
            <a:ext cx="5120640" cy="20116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SELECTED — source in a fresh map: chosen by line</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IMPORT_CLOSURE — import-time line: the modules that import it</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TEST_CHANGED — a changed test always runs, unasked</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CONFTEST_CHANGED — everything at or below that directory</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PACKAGE_INIT / INSERTION_NO_HISTORY / LINE_NOT_IN_MAP — widen to the file</a:t>
            </a:r>
            <a:endParaRPr lang="en-US" sz="1150" dirty="0"/>
          </a:p>
        </p:txBody>
      </p:sp>
      <p:sp>
        <p:nvSpPr>
          <p:cNvPr id="6" name="Text 4"/>
          <p:cNvSpPr txBox="1"/>
          <p:nvPr/>
        </p:nvSpPr>
        <p:spPr>
          <a:xfrm>
            <a:off x="6309360" y="1600200"/>
            <a:ext cx="5212080" cy="320040"/>
          </a:xfrm>
          <a:prstGeom prst="rect">
            <a:avLst/>
          </a:prstGeom>
          <a:noFill/>
          <a:ln/>
        </p:spPr>
        <p:txBody>
          <a:bodyPr wrap="square" lIns="0" tIns="0" rIns="0" bIns="0" rtlCol="0" anchor="ctr"/>
          <a:lstStyle/>
          <a:p>
            <a:pPr indent="0" marL="0">
              <a:buNone/>
            </a:pPr>
            <a:r>
              <a:rPr lang="en-US" sz="1300" b="1" dirty="0">
                <a:solidFill>
                  <a:srgbClr val="C07A1B"/>
                </a:solidFill>
                <a:latin typeface="Calibri" pitchFamily="34" charset="0"/>
                <a:ea typeface="Calibri" pitchFamily="34" charset="-122"/>
                <a:cs typeface="Calibri" pitchFamily="34" charset="-120"/>
              </a:rPr>
              <a:t>Exhaustive everywhere else</a:t>
            </a:r>
            <a:endParaRPr lang="en-US" sz="1300" dirty="0"/>
          </a:p>
        </p:txBody>
      </p:sp>
      <p:sp>
        <p:nvSpPr>
          <p:cNvPr id="7" name="Text 5"/>
          <p:cNvSpPr txBox="1"/>
          <p:nvPr/>
        </p:nvSpPr>
        <p:spPr>
          <a:xfrm>
            <a:off x="6309360" y="1965960"/>
            <a:ext cx="5212080" cy="20116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CLOSURE_TOO_LARGE — the closure covers too much to be worth it</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IMPORT_TIME_LINE — import-time line and no graph to consult</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UNMAPPED_FILE · BUILD_CONFIG_CHANGED · DEPENDENCY_CHANGED</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NON_SOURCE_ASSET · USER_CONFIGURED · MAP_STALE · NO_MAP</a:t>
            </a:r>
            <a:endParaRPr lang="en-US" sz="1150" dirty="0"/>
          </a:p>
          <a:p>
            <a:pPr marL="342900" indent="-342900">
              <a:spcAft>
                <a:spcPts val="600"/>
              </a:spcAft>
              <a:buSzPct val="100000"/>
              <a:buChar char="•"/>
            </a:pPr>
            <a:r>
              <a:rPr lang="en-US" sz="1150" dirty="0">
                <a:solidFill>
                  <a:srgbClr val="CFDAE3"/>
                </a:solidFill>
                <a:latin typeface="Calibri" pitchFamily="34" charset="0"/>
                <a:ea typeface="Calibri" pitchFamily="34" charset="-122"/>
                <a:cs typeface="Calibri" pitchFamily="34" charset="-120"/>
              </a:rPr>
              <a:t>CLASSIFIER_ERROR — our own bug must never mean fewer tests</a:t>
            </a:r>
            <a:endParaRPr lang="en-US" sz="1150" dirty="0"/>
          </a:p>
        </p:txBody>
      </p:sp>
      <p:sp>
        <p:nvSpPr>
          <p:cNvPr id="8" name="Shape 6"/>
          <p:cNvSpPr/>
          <p:nvPr/>
        </p:nvSpPr>
        <p:spPr>
          <a:xfrm>
            <a:off x="640080" y="4206240"/>
            <a:ext cx="10881360" cy="914400"/>
          </a:xfrm>
          <a:prstGeom prst="roundRect">
            <a:avLst>
              <a:gd name="adj" fmla="val 8000"/>
            </a:avLst>
          </a:prstGeom>
          <a:solidFill>
            <a:srgbClr val="223141"/>
          </a:solidFill>
          <a:ln w="12700">
            <a:solidFill>
              <a:srgbClr val="333333"/>
            </a:solidFill>
            <a:prstDash val="solid"/>
          </a:ln>
        </p:spPr>
      </p:sp>
      <p:sp>
        <p:nvSpPr>
          <p:cNvPr id="9" name="Text 7"/>
          <p:cNvSpPr txBox="1"/>
          <p:nvPr/>
        </p:nvSpPr>
        <p:spPr>
          <a:xfrm>
            <a:off x="960120" y="4389120"/>
            <a:ext cx="1024128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9 of the 16 rules deliberately give up the speed benefit. That is the design, not a shortfall in it.</a:t>
            </a:r>
            <a:endParaRPr lang="en-US" sz="1700" dirty="0"/>
          </a:p>
        </p:txBody>
      </p:sp>
      <p:sp>
        <p:nvSpPr>
          <p:cNvPr id="10" name="Text 8"/>
          <p:cNvSpPr txBox="1"/>
          <p:nvPr/>
        </p:nvSpPr>
        <p:spPr>
          <a:xfrm>
            <a:off x="640080" y="5303520"/>
            <a:ext cx="10881360" cy="731520"/>
          </a:xfrm>
          <a:prstGeom prst="rect">
            <a:avLst/>
          </a:prstGeom>
          <a:noFill/>
          <a:ln/>
        </p:spPr>
        <p:txBody>
          <a:bodyPr wrap="square" lIns="0" tIns="0" rIns="0" bIns="0" rtlCol="0" anchor="ctr"/>
          <a:lstStyle/>
          <a:p>
            <a:pPr indent="0" marL="0">
              <a:buNone/>
            </a:pPr>
            <a:r>
              <a:rPr lang="en-US" sz="1250" i="1" dirty="0">
                <a:solidFill>
                  <a:srgbClr val="8DA0B0"/>
                </a:solidFill>
                <a:latin typeface="Calibri" pitchFamily="34" charset="0"/>
                <a:ea typeface="Calibri" pitchFamily="34" charset="-122"/>
                <a:cs typeface="Calibri" pitchFamily="34" charset="-120"/>
              </a:rPr>
              <a:t>Silent misses are the only unacceptable failure. A fast tool that occasionally lets a defect through is worse than no tool, because it manufactures confidence. When in doubt, run everything — and record why.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WHY THE EVALUATION CAME FIRST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Our own harness found a real miss</a:t>
            </a:r>
            <a:endParaRPr lang="en-US" sz="3400" dirty="0"/>
          </a:p>
        </p:txBody>
      </p:sp>
      <p:sp>
        <p:nvSpPr>
          <p:cNvPr id="4" name="Text 2"/>
          <p:cNvSpPr txBox="1"/>
          <p:nvPr/>
        </p:nvSpPr>
        <p:spPr>
          <a:xfrm>
            <a:off x="640080" y="1645920"/>
            <a:ext cx="5943600" cy="2560320"/>
          </a:xfrm>
          <a:prstGeom prst="rect">
            <a:avLst/>
          </a:prstGeom>
          <a:noFill/>
          <a:ln/>
        </p:spPr>
        <p:txBody>
          <a:bodyPr wrap="square" lIns="0" tIns="0" rIns="0" bIns="0" rtlCol="0" anchor="ctr"/>
          <a:lstStyle/>
          <a:p>
            <a:pPr indent="0" marL="0">
              <a:lnSpc>
                <a:spcPts val="2000"/>
              </a:lnSpc>
              <a:spcAft>
                <a:spcPts val="1000"/>
              </a:spcAft>
              <a:buNone/>
            </a:pPr>
            <a:r>
              <a:rPr lang="en-US" sz="1300" b="1" dirty="0">
                <a:solidFill>
                  <a:srgbClr val="FFFFFF"/>
                </a:solidFill>
                <a:latin typeface="Calibri" pitchFamily="34" charset="0"/>
                <a:ea typeface="Calibri" pitchFamily="34" charset="-122"/>
                <a:cs typeface="Calibri" pitchFamily="34" charset="-120"/>
              </a:rPr>
              <a:t>First safety run on attrs: 1 miss in 46.</a:t>
            </a:r>
            <a:endParaRPr lang="en-US" sz="1300" dirty="0"/>
          </a:p>
          <a:p>
            <a:pPr indent="0" marL="0">
              <a:lnSpc>
                <a:spcPts val="2000"/>
              </a:lnSpc>
              <a:spcAft>
                <a:spcPts val="1000"/>
              </a:spcAft>
              <a:buNone/>
            </a:pPr>
            <a:r>
              <a:rPr lang="en-US" sz="1300" dirty="0">
                <a:solidFill>
                  <a:srgbClr val="CFDAE3"/>
                </a:solidFill>
                <a:latin typeface="Calibri" pitchFamily="34" charset="0"/>
                <a:ea typeface="Calibri" pitchFamily="34" charset="-122"/>
                <a:cs typeface="Calibri" pitchFamily="34" charset="-120"/>
              </a:rPr>
              <a:t>A mutant forced a condition true in attr/_cmp.py:88. The full suite caught it — six failures. tia selected two tests, and neither was among them.</a:t>
            </a:r>
            <a:endParaRPr lang="en-US" sz="1300" dirty="0"/>
          </a:p>
          <a:p>
            <a:pPr indent="0" marL="0">
              <a:lnSpc>
                <a:spcPts val="2000"/>
              </a:lnSpc>
              <a:buNone/>
            </a:pPr>
            <a:r>
              <a:rPr lang="en-US" sz="1300" dirty="0">
                <a:solidFill>
                  <a:srgbClr val="CFDAE3"/>
                </a:solidFill>
                <a:latin typeface="Calibri" pitchFamily="34" charset="0"/>
                <a:ea typeface="Calibri" pitchFamily="34" charset="-122"/>
                <a:cs typeface="Calibri" pitchFamily="34" charset="-120"/>
              </a:rPr>
              <a:t>Root cause: tests/test_cmp.py calls cmp_using() at module level, so line 88 runs during collection. Coverage attributes import-time execution to no test at all, so the six tests that depended on it never appeared as covering it.</a:t>
            </a:r>
            <a:endParaRPr lang="en-US" sz="1300" dirty="0"/>
          </a:p>
        </p:txBody>
      </p:sp>
      <p:sp>
        <p:nvSpPr>
          <p:cNvPr id="5" name="Shape 3"/>
          <p:cNvSpPr/>
          <p:nvPr/>
        </p:nvSpPr>
        <p:spPr>
          <a:xfrm>
            <a:off x="6903720" y="1645920"/>
            <a:ext cx="4617720" cy="2286000"/>
          </a:xfrm>
          <a:prstGeom prst="roundRect">
            <a:avLst>
              <a:gd name="adj" fmla="val 2400"/>
            </a:avLst>
          </a:prstGeom>
          <a:solidFill>
            <a:srgbClr val="0E1721"/>
          </a:solidFill>
          <a:ln w="12700">
            <a:solidFill>
              <a:srgbClr val="333333"/>
            </a:solidFill>
            <a:prstDash val="solid"/>
          </a:ln>
        </p:spPr>
      </p:sp>
      <p:sp>
        <p:nvSpPr>
          <p:cNvPr id="6" name="Text 4"/>
          <p:cNvSpPr txBox="1"/>
          <p:nvPr/>
        </p:nvSpPr>
        <p:spPr>
          <a:xfrm>
            <a:off x="7178040" y="1828800"/>
            <a:ext cx="4114800" cy="1920240"/>
          </a:xfrm>
          <a:prstGeom prst="rect">
            <a:avLst/>
          </a:prstGeom>
          <a:noFill/>
          <a:ln/>
        </p:spPr>
        <p:txBody>
          <a:bodyPr wrap="square" lIns="0" tIns="0" rIns="0" bIns="0" rtlCol="0" anchor="ctr"/>
          <a:lstStyle/>
          <a:p>
            <a:pPr indent="0" marL="0">
              <a:lnSpc>
                <a:spcPts val="1600"/>
              </a:lnSpc>
              <a:buNone/>
            </a:pPr>
            <a:r>
              <a:rPr lang="en-US" sz="1100" dirty="0">
                <a:solidFill>
                  <a:srgbClr val="2E7D62"/>
                </a:solidFill>
                <a:latin typeface="Courier New" pitchFamily="34" charset="0"/>
                <a:ea typeface="Courier New" pitchFamily="34" charset="-122"/>
                <a:cs typeface="Courier New" pitchFamily="34" charset="-120"/>
              </a:rPr>
              <a:t>$ tia explain src/attr/_cmp.py:88</a:t>
            </a:r>
            <a:endParaRPr lang="en-US" sz="1100" dirty="0"/>
          </a:p>
          <a:p>
            <a:pPr indent="0" marL="0">
              <a:lnSpc>
                <a:spcPts val="1600"/>
              </a:lnSpc>
              <a:buNone/>
            </a:pPr>
            <a:endParaRPr lang="en-US" sz="1100" dirty="0"/>
          </a:p>
          <a:p>
            <a:pPr indent="0" marL="0">
              <a:lnSpc>
                <a:spcPts val="1600"/>
              </a:lnSpc>
              <a:buNone/>
            </a:pPr>
            <a:r>
              <a:rPr lang="en-US" sz="1100" dirty="0">
                <a:solidFill>
                  <a:srgbClr val="FFFFFF"/>
                </a:solidFill>
                <a:latin typeface="Courier New" pitchFamily="34" charset="0"/>
                <a:ea typeface="Courier New" pitchFamily="34" charset="-122"/>
                <a:cs typeface="Courier New" pitchFamily="34" charset="-120"/>
              </a:rPr>
              <a:t>2 tests executed this line:</a:t>
            </a:r>
            <a:endParaRPr lang="en-US" sz="1100" dirty="0"/>
          </a:p>
          <a:p>
            <a:pPr indent="0" marL="0">
              <a:lnSpc>
                <a:spcPts val="1600"/>
              </a:lnSpc>
              <a:buNone/>
            </a:pPr>
            <a:r>
              <a:rPr lang="en-US" sz="1100" dirty="0">
                <a:solidFill>
                  <a:srgbClr val="9FB3C2"/>
                </a:solidFill>
                <a:latin typeface="Courier New" pitchFamily="34" charset="0"/>
                <a:ea typeface="Courier New" pitchFamily="34" charset="-122"/>
                <a:cs typeface="Courier New" pitchFamily="34" charset="-120"/>
              </a:rPr>
              <a:t>  TestNotImplementedIsPropagated</a:t>
            </a:r>
            <a:endParaRPr lang="en-US" sz="1100" dirty="0"/>
          </a:p>
          <a:p>
            <a:pPr indent="0" marL="0">
              <a:lnSpc>
                <a:spcPts val="1600"/>
              </a:lnSpc>
              <a:buNone/>
            </a:pPr>
            <a:r>
              <a:rPr lang="en-US" sz="1100" dirty="0">
                <a:solidFill>
                  <a:srgbClr val="9FB3C2"/>
                </a:solidFill>
                <a:latin typeface="Courier New" pitchFamily="34" charset="0"/>
                <a:ea typeface="Courier New" pitchFamily="34" charset="-122"/>
                <a:cs typeface="Courier New" pitchFamily="34" charset="-120"/>
              </a:rPr>
              <a:t>  TestTotalOrderingException</a:t>
            </a:r>
            <a:endParaRPr lang="en-US" sz="1100" dirty="0"/>
          </a:p>
          <a:p>
            <a:pPr indent="0" marL="0">
              <a:lnSpc>
                <a:spcPts val="1600"/>
              </a:lnSpc>
              <a:buNone/>
            </a:pPr>
            <a:endParaRPr lang="en-US" sz="1100" dirty="0"/>
          </a:p>
          <a:p>
            <a:pPr indent="0" marL="0">
              <a:lnSpc>
                <a:spcPts val="1600"/>
              </a:lnSpc>
              <a:buNone/>
            </a:pPr>
            <a:r>
              <a:rPr lang="en-US" sz="1100" b="1" dirty="0">
                <a:solidFill>
                  <a:srgbClr val="D1453B"/>
                </a:solidFill>
                <a:latin typeface="Courier New" pitchFamily="34" charset="0"/>
                <a:ea typeface="Courier New" pitchFamily="34" charset="-122"/>
                <a:cs typeface="Courier New" pitchFamily="34" charset="-120"/>
              </a:rPr>
              <a:t>6 tests actually failed.</a:t>
            </a:r>
            <a:endParaRPr lang="en-US" sz="1100" dirty="0"/>
          </a:p>
        </p:txBody>
      </p:sp>
      <p:sp>
        <p:nvSpPr>
          <p:cNvPr id="7" name="Shape 5"/>
          <p:cNvSpPr/>
          <p:nvPr/>
        </p:nvSpPr>
        <p:spPr>
          <a:xfrm>
            <a:off x="640080" y="4434840"/>
            <a:ext cx="10881360" cy="1417320"/>
          </a:xfrm>
          <a:prstGeom prst="roundRect">
            <a:avLst>
              <a:gd name="adj" fmla="val 5161"/>
            </a:avLst>
          </a:prstGeom>
          <a:solidFill>
            <a:srgbClr val="223141"/>
          </a:solidFill>
          <a:ln w="12700">
            <a:solidFill>
              <a:srgbClr val="333333"/>
            </a:solidFill>
            <a:prstDash val="solid"/>
          </a:ln>
        </p:spPr>
      </p:sp>
      <p:sp>
        <p:nvSpPr>
          <p:cNvPr id="8" name="Text 6"/>
          <p:cNvSpPr txBox="1"/>
          <p:nvPr/>
        </p:nvSpPr>
        <p:spPr>
          <a:xfrm>
            <a:off x="960120" y="4572000"/>
            <a:ext cx="10241280" cy="292608"/>
          </a:xfrm>
          <a:prstGeom prst="rect">
            <a:avLst/>
          </a:prstGeom>
          <a:noFill/>
          <a:ln/>
        </p:spPr>
        <p:txBody>
          <a:bodyPr wrap="square" lIns="0" tIns="0" rIns="0" bIns="0" rtlCol="0" anchor="ctr"/>
          <a:lstStyle/>
          <a:p>
            <a:pPr indent="0" marL="0">
              <a:buNone/>
            </a:pPr>
            <a:r>
              <a:rPr lang="en-US" sz="1200" b="1" dirty="0">
                <a:solidFill>
                  <a:srgbClr val="C07A1B"/>
                </a:solidFill>
                <a:latin typeface="Calibri" pitchFamily="34" charset="0"/>
                <a:ea typeface="Calibri" pitchFamily="34" charset="-122"/>
                <a:cs typeface="Calibri" pitchFamily="34" charset="-120"/>
              </a:rPr>
              <a:t>The fix, and what it cost</a:t>
            </a:r>
            <a:endParaRPr lang="en-US" sz="1200" dirty="0"/>
          </a:p>
        </p:txBody>
      </p:sp>
      <p:sp>
        <p:nvSpPr>
          <p:cNvPr id="9" name="Text 7"/>
          <p:cNvSpPr txBox="1"/>
          <p:nvPr/>
        </p:nvSpPr>
        <p:spPr>
          <a:xfrm>
            <a:off x="960120" y="4873752"/>
            <a:ext cx="10241280" cy="91440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Any change touching an import-time line now falls back. Re-run at the same seed: 0 misses in 47 — and the fallback rate rose to 59.6%. The rule is correct and expensive, and that measurement is what made the import graph the next thing to build rather than a nice-to-have.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PHASE 2</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The import graph, measured against itself</a:t>
            </a:r>
            <a:endParaRPr lang="en-US" sz="3400" dirty="0"/>
          </a:p>
        </p:txBody>
      </p:sp>
      <p:sp>
        <p:nvSpPr>
          <p:cNvPr id="4" name="Text 2"/>
          <p:cNvSpPr txBox="1"/>
          <p:nvPr/>
        </p:nvSpPr>
        <p:spPr>
          <a:xfrm>
            <a:off x="640080" y="1572768"/>
            <a:ext cx="10881360" cy="457200"/>
          </a:xfrm>
          <a:prstGeom prst="rect">
            <a:avLst/>
          </a:prstGeom>
          <a:noFill/>
          <a:ln/>
        </p:spPr>
        <p:txBody>
          <a:bodyPr wrap="square" lIns="0" tIns="0" rIns="0" bIns="0" rtlCol="0" anchor="ctr"/>
          <a:lstStyle/>
          <a:p>
            <a:pPr indent="0" marL="0">
              <a:buNone/>
            </a:pPr>
            <a:r>
              <a:rPr lang="en-US" sz="1300" dirty="0">
                <a:solidFill>
                  <a:srgbClr val="62727F"/>
                </a:solidFill>
                <a:latin typeface="Calibri" pitchFamily="34" charset="0"/>
                <a:ea typeface="Calibri" pitchFamily="34" charset="-122"/>
                <a:cs typeface="Calibri" pitchFamily="34" charset="-120"/>
              </a:rPr>
              <a:t>One map, one seed, one set of mutation sites per repository. The arms differ in exactly one variable: whether the import closure is consulted.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914400"/>
        </p:xfrm>
        <a:graphic>
          <a:graphicData uri="http://schemas.openxmlformats.org/drawingml/2006/table">
            <a:tbl>
              <a:tblPr/>
              <a:tblGrid>
                <a:gridCol w="2834640"/>
                <a:gridCol w="2011680"/>
                <a:gridCol w="2011680"/>
                <a:gridCol w="2011680"/>
                <a:gridCol w="2011680"/>
              </a:tblGrid>
              <a:tr h="384048">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attrs: no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attrs: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scrapy: no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scrapy: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384048">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Misses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0 / 184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0 / 184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0 / 27</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0 / 27</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Fallback frequency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52.7%</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59.3%</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29.6%</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Net time reduction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57.0%</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58.4%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65.2%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Precision, median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62.5%</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55.2%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6" name="Shape 3"/>
          <p:cNvSpPr/>
          <p:nvPr/>
        </p:nvSpPr>
        <p:spPr>
          <a:xfrm>
            <a:off x="640080" y="4114800"/>
            <a:ext cx="10881360" cy="1737360"/>
          </a:xfrm>
          <a:prstGeom prst="roundRect">
            <a:avLst>
              <a:gd name="adj" fmla="val 4211"/>
            </a:avLst>
          </a:prstGeom>
          <a:solidFill>
            <a:srgbClr val="F3F5F7"/>
          </a:solidFill>
          <a:ln w="12700">
            <a:solidFill>
              <a:srgbClr val="333333"/>
            </a:solidFill>
            <a:prstDash val="solid"/>
          </a:ln>
        </p:spPr>
      </p:sp>
      <p:sp>
        <p:nvSpPr>
          <p:cNvPr id="7" name="Text 4"/>
          <p:cNvSpPr txBox="1"/>
          <p:nvPr/>
        </p:nvSpPr>
        <p:spPr>
          <a:xfrm>
            <a:off x="960120" y="4279392"/>
            <a:ext cx="10241280" cy="320040"/>
          </a:xfrm>
          <a:prstGeom prst="rect">
            <a:avLst/>
          </a:prstGeom>
          <a:noFill/>
          <a:ln/>
        </p:spPr>
        <p:txBody>
          <a:bodyPr wrap="square" lIns="0" tIns="0" rIns="0" bIns="0" rtlCol="0" anchor="ctr"/>
          <a:lstStyle/>
          <a:p>
            <a:pPr indent="0" marL="0">
              <a:buNone/>
            </a:pPr>
            <a:r>
              <a:rPr lang="en-US" sz="1600" b="1" dirty="0">
                <a:solidFill>
                  <a:srgbClr val="D1453B"/>
                </a:solidFill>
                <a:latin typeface="Cambria" pitchFamily="34" charset="0"/>
                <a:ea typeface="Cambria" pitchFamily="34" charset="-122"/>
                <a:cs typeface="Cambria" pitchFamily="34" charset="-120"/>
              </a:rPr>
              <a:t>It helps where the suite is slow, and nowhere else.</a:t>
            </a:r>
            <a:endParaRPr lang="en-US" sz="1600" dirty="0"/>
          </a:p>
        </p:txBody>
      </p:sp>
      <p:sp>
        <p:nvSpPr>
          <p:cNvPr id="8" name="Text 5"/>
          <p:cNvSpPr txBox="1"/>
          <p:nvPr/>
        </p:nvSpPr>
        <p:spPr>
          <a:xfrm>
            <a:off x="960120" y="4645152"/>
            <a:ext cx="10241280" cy="1097280"/>
          </a:xfrm>
          <a:prstGeom prst="rect">
            <a:avLst/>
          </a:prstGeom>
          <a:noFill/>
          <a:ln/>
        </p:spPr>
        <p:txBody>
          <a:bodyPr wrap="square" lIns="0" tIns="0" rIns="0" bIns="0" rtlCol="0" anchor="ctr"/>
          <a:lstStyle/>
          <a:p>
            <a:pPr indent="0" marL="0">
              <a:lnSpc>
                <a:spcPts val="1700"/>
              </a:lnSpc>
              <a:buNone/>
            </a:pPr>
            <a:r>
              <a:rPr lang="en-US" sz="1200" dirty="0">
                <a:solidFill>
                  <a:srgbClr val="17232F"/>
                </a:solidFill>
                <a:latin typeface="Calibri" pitchFamily="34" charset="0"/>
                <a:ea typeface="Calibri" pitchFamily="34" charset="-122"/>
                <a:cs typeface="Calibri" pitchFamily="34" charset="-120"/>
              </a:rPr>
              <a:t>On scrapy, whose suite takes 52 seconds, the graph halves the fallback rate and lifts the saving from 40.4% to 65.2%. On attrs, whose suite takes 3.9 seconds, it is worth almost nothing: 58.4% against 57.0%, with the fallback rate barely moving.</a:t>
            </a:r>
            <a:endParaRPr lang="en-US" sz="1200" dirty="0"/>
          </a:p>
          <a:p>
            <a:pPr indent="0" marL="0">
              <a:lnSpc>
                <a:spcPts val="1700"/>
              </a:lnSpc>
              <a:buNone/>
            </a:pPr>
            <a:endParaRPr lang="en-US" sz="1200" dirty="0"/>
          </a:p>
          <a:p>
            <a:pPr indent="0" marL="0">
              <a:lnSpc>
                <a:spcPts val="1700"/>
              </a:lnSpc>
              <a:buNone/>
            </a:pPr>
            <a:r>
              <a:rPr lang="en-US" sz="1200" dirty="0">
                <a:solidFill>
                  <a:srgbClr val="17232F"/>
                </a:solidFill>
                <a:latin typeface="Calibri" pitchFamily="34" charset="0"/>
                <a:ea typeface="Calibri" pitchFamily="34" charset="-122"/>
                <a:cs typeface="Calibri" pitchFamily="34" charset="-120"/>
              </a:rPr>
              <a:t>The property that predicts the benefit is absolute suite duration, not test count and not closure size. A four-second suite has nothing left to give once pytest's own startup is paid — which is the same floor that makes parallelism slower than serial on flask.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Two ways our own measurements lied</a:t>
            </a:r>
            <a:endParaRPr lang="en-US" sz="3400" dirty="0"/>
          </a:p>
        </p:txBody>
      </p:sp>
      <p:sp>
        <p:nvSpPr>
          <p:cNvPr id="4" name="Shape 2"/>
          <p:cNvSpPr/>
          <p:nvPr/>
        </p:nvSpPr>
        <p:spPr>
          <a:xfrm>
            <a:off x="640080" y="1645920"/>
            <a:ext cx="5120640" cy="4114800"/>
          </a:xfrm>
          <a:prstGeom prst="roundRect">
            <a:avLst>
              <a:gd name="adj" fmla="val 1778"/>
            </a:avLst>
          </a:prstGeom>
          <a:solidFill>
            <a:srgbClr val="F3F5F7"/>
          </a:solidFill>
          <a:ln w="12700">
            <a:solidFill>
              <a:srgbClr val="333333"/>
            </a:solidFill>
            <a:prstDash val="solid"/>
          </a:ln>
        </p:spPr>
      </p:sp>
      <p:sp>
        <p:nvSpPr>
          <p:cNvPr id="5" name="Text 3"/>
          <p:cNvSpPr txBox="1"/>
          <p:nvPr/>
        </p:nvSpPr>
        <p:spPr>
          <a:xfrm>
            <a:off x="960120" y="1828800"/>
            <a:ext cx="3200400" cy="256032"/>
          </a:xfrm>
          <a:prstGeom prst="rect">
            <a:avLst/>
          </a:prstGeom>
          <a:noFill/>
          <a:ln/>
        </p:spPr>
        <p:txBody>
          <a:bodyPr wrap="square" lIns="0" tIns="0" rIns="0" bIns="0" rtlCol="0" anchor="ctr"/>
          <a:lstStyle/>
          <a:p>
            <a:pPr indent="0" marL="0">
              <a:buNone/>
            </a:pPr>
            <a:r>
              <a:rPr lang="en-US" sz="1050" b="1" dirty="0">
                <a:solidFill>
                  <a:srgbClr val="C07A1B"/>
                </a:solidFill>
                <a:latin typeface="Courier New" pitchFamily="34" charset="0"/>
                <a:ea typeface="Courier New" pitchFamily="34" charset="-122"/>
                <a:cs typeface="Courier New" pitchFamily="34" charset="-120"/>
              </a:rPr>
              <a:t>D-0013 · fault 1</a:t>
            </a:r>
            <a:endParaRPr lang="en-US" sz="1050" dirty="0"/>
          </a:p>
        </p:txBody>
      </p:sp>
      <p:sp>
        <p:nvSpPr>
          <p:cNvPr id="6" name="Text 4"/>
          <p:cNvSpPr txBox="1"/>
          <p:nvPr/>
        </p:nvSpPr>
        <p:spPr>
          <a:xfrm>
            <a:off x="960120" y="2103120"/>
            <a:ext cx="4526280" cy="731520"/>
          </a:xfrm>
          <a:prstGeom prst="rect">
            <a:avLst/>
          </a:prstGeom>
          <a:noFill/>
          <a:ln/>
        </p:spPr>
        <p:txBody>
          <a:bodyPr wrap="square" lIns="0" tIns="0" rIns="0" bIns="0" rtlCol="0" anchor="ctr"/>
          <a:lstStyle/>
          <a:p>
            <a:pPr indent="0" marL="0">
              <a:buNone/>
            </a:pPr>
            <a:r>
              <a:rPr lang="en-US" sz="1500" b="1" dirty="0">
                <a:solidFill>
                  <a:srgbClr val="17232F"/>
                </a:solidFill>
                <a:latin typeface="Cambria" pitchFamily="34" charset="0"/>
                <a:ea typeface="Cambria" pitchFamily="34" charset="-122"/>
                <a:cs typeface="Cambria" pitchFamily="34" charset="-120"/>
              </a:rPr>
              <a:t>A before/after across a map rebuild is not a controlled comparison</a:t>
            </a:r>
            <a:endParaRPr lang="en-US" sz="1500" dirty="0"/>
          </a:p>
        </p:txBody>
      </p:sp>
      <p:sp>
        <p:nvSpPr>
          <p:cNvPr id="7" name="Text 5"/>
          <p:cNvSpPr txBox="1"/>
          <p:nvPr/>
        </p:nvSpPr>
        <p:spPr>
          <a:xfrm>
            <a:off x="960120" y="2880360"/>
            <a:ext cx="4526280" cy="1280160"/>
          </a:xfrm>
          <a:prstGeom prst="rect">
            <a:avLst/>
          </a:prstGeom>
          <a:noFill/>
          <a:ln/>
        </p:spPr>
        <p:txBody>
          <a:bodyPr wrap="square" lIns="0" tIns="0" rIns="0" bIns="0" rtlCol="0" anchor="ctr"/>
          <a:lstStyle/>
          <a:p>
            <a:pPr indent="0" marL="0">
              <a:lnSpc>
                <a:spcPts val="1800"/>
              </a:lnSpc>
              <a:buNone/>
            </a:pPr>
            <a:r>
              <a:rPr lang="en-US" sz="1200" dirty="0">
                <a:solidFill>
                  <a:srgbClr val="17232F"/>
                </a:solidFill>
                <a:latin typeface="Calibri" pitchFamily="34" charset="0"/>
                <a:ea typeface="Calibri" pitchFamily="34" charset="-122"/>
                <a:cs typeface="Calibri" pitchFamily="34" charset="-120"/>
              </a:rPr>
              <a:t>Mutation sites are sampled from the lines the map records as covered. Rebuilding the map shifts that set slightly — 508,939 rows against 508,929 on the same commit — so the same seed selects different mutants.</a:t>
            </a:r>
            <a:endParaRPr lang="en-US" sz="1200" dirty="0"/>
          </a:p>
        </p:txBody>
      </p:sp>
      <p:sp>
        <p:nvSpPr>
          <p:cNvPr id="8" name="Text 6"/>
          <p:cNvSpPr txBox="1"/>
          <p:nvPr/>
        </p:nvSpPr>
        <p:spPr>
          <a:xfrm>
            <a:off x="960120" y="4206240"/>
            <a:ext cx="4526280" cy="320040"/>
          </a:xfrm>
          <a:prstGeom prst="rect">
            <a:avLst/>
          </a:prstGeom>
          <a:noFill/>
          <a:ln/>
        </p:spPr>
        <p:txBody>
          <a:bodyPr wrap="square" lIns="0" tIns="0" rIns="0" bIns="0" rtlCol="0" anchor="ctr"/>
          <a:lstStyle/>
          <a:p>
            <a:pPr indent="0" marL="0">
              <a:buNone/>
            </a:pPr>
            <a:r>
              <a:rPr lang="en-US" sz="1400" b="1" dirty="0">
                <a:solidFill>
                  <a:srgbClr val="D1453B"/>
                </a:solidFill>
                <a:latin typeface="Courier New" pitchFamily="34" charset="0"/>
                <a:ea typeface="Courier New" pitchFamily="34" charset="-122"/>
                <a:cs typeface="Courier New" pitchFamily="34" charset="-120"/>
              </a:rPr>
              <a:t>59.6% -&gt; 51.1% ... of nothing</a:t>
            </a:r>
            <a:endParaRPr lang="en-US" sz="1400" dirty="0"/>
          </a:p>
        </p:txBody>
      </p:sp>
      <p:sp>
        <p:nvSpPr>
          <p:cNvPr id="9" name="Text 7"/>
          <p:cNvSpPr txBox="1"/>
          <p:nvPr/>
        </p:nvSpPr>
        <p:spPr>
          <a:xfrm>
            <a:off x="960120" y="4526280"/>
            <a:ext cx="4526280" cy="27432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the first comparison was invalid</a:t>
            </a:r>
            <a:endParaRPr lang="en-US" sz="1000" dirty="0"/>
          </a:p>
        </p:txBody>
      </p:sp>
      <p:sp>
        <p:nvSpPr>
          <p:cNvPr id="10" name="Text 8"/>
          <p:cNvSpPr txBox="1"/>
          <p:nvPr/>
        </p:nvSpPr>
        <p:spPr>
          <a:xfrm>
            <a:off x="960120" y="4846320"/>
            <a:ext cx="4526280" cy="822960"/>
          </a:xfrm>
          <a:prstGeom prst="rect">
            <a:avLst/>
          </a:prstGeom>
          <a:noFill/>
          <a:ln/>
        </p:spPr>
        <p:txBody>
          <a:bodyPr wrap="square" lIns="0" tIns="0" rIns="0" bIns="0" rtlCol="0" anchor="ctr"/>
          <a:lstStyle/>
          <a:p>
            <a:pPr indent="0" marL="0">
              <a:buNone/>
            </a:pPr>
            <a:r>
              <a:rPr lang="en-US" sz="1100" i="1" dirty="0">
                <a:solidFill>
                  <a:srgbClr val="2E7D62"/>
                </a:solidFill>
                <a:latin typeface="Calibri" pitchFamily="34" charset="0"/>
                <a:ea typeface="Calibri" pitchFamily="34" charset="-122"/>
                <a:cs typeface="Calibri" pitchFamily="34" charset="-120"/>
              </a:rPr>
              <a:t>--no-import-graph selects the arm at selection time, so both run on one map and one site list. The arm is recorded in the payload and the filename.</a:t>
            </a:r>
            <a:endParaRPr lang="en-US" sz="1100" dirty="0"/>
          </a:p>
        </p:txBody>
      </p:sp>
      <p:sp>
        <p:nvSpPr>
          <p:cNvPr id="11" name="Shape 9"/>
          <p:cNvSpPr/>
          <p:nvPr/>
        </p:nvSpPr>
        <p:spPr>
          <a:xfrm>
            <a:off x="6400800" y="1645920"/>
            <a:ext cx="5120640" cy="4114800"/>
          </a:xfrm>
          <a:prstGeom prst="roundRect">
            <a:avLst>
              <a:gd name="adj" fmla="val 1778"/>
            </a:avLst>
          </a:prstGeom>
          <a:solidFill>
            <a:srgbClr val="F3F5F7"/>
          </a:solidFill>
          <a:ln w="12700">
            <a:solidFill>
              <a:srgbClr val="333333"/>
            </a:solidFill>
            <a:prstDash val="solid"/>
          </a:ln>
        </p:spPr>
      </p:sp>
      <p:sp>
        <p:nvSpPr>
          <p:cNvPr id="12" name="Text 10"/>
          <p:cNvSpPr txBox="1"/>
          <p:nvPr/>
        </p:nvSpPr>
        <p:spPr>
          <a:xfrm>
            <a:off x="6720840" y="1828800"/>
            <a:ext cx="3200400" cy="256032"/>
          </a:xfrm>
          <a:prstGeom prst="rect">
            <a:avLst/>
          </a:prstGeom>
          <a:noFill/>
          <a:ln/>
        </p:spPr>
        <p:txBody>
          <a:bodyPr wrap="square" lIns="0" tIns="0" rIns="0" bIns="0" rtlCol="0" anchor="ctr"/>
          <a:lstStyle/>
          <a:p>
            <a:pPr indent="0" marL="0">
              <a:buNone/>
            </a:pPr>
            <a:r>
              <a:rPr lang="en-US" sz="1050" b="1" dirty="0">
                <a:solidFill>
                  <a:srgbClr val="C07A1B"/>
                </a:solidFill>
                <a:latin typeface="Courier New" pitchFamily="34" charset="0"/>
                <a:ea typeface="Courier New" pitchFamily="34" charset="-122"/>
                <a:cs typeface="Courier New" pitchFamily="34" charset="-120"/>
              </a:rPr>
              <a:t>D-0013 · fault 2</a:t>
            </a:r>
            <a:endParaRPr lang="en-US" sz="1050" dirty="0"/>
          </a:p>
        </p:txBody>
      </p:sp>
      <p:sp>
        <p:nvSpPr>
          <p:cNvPr id="13" name="Text 11"/>
          <p:cNvSpPr txBox="1"/>
          <p:nvPr/>
        </p:nvSpPr>
        <p:spPr>
          <a:xfrm>
            <a:off x="6720840" y="2103120"/>
            <a:ext cx="4526280" cy="731520"/>
          </a:xfrm>
          <a:prstGeom prst="rect">
            <a:avLst/>
          </a:prstGeom>
          <a:noFill/>
          <a:ln/>
        </p:spPr>
        <p:txBody>
          <a:bodyPr wrap="square" lIns="0" tIns="0" rIns="0" bIns="0" rtlCol="0" anchor="ctr"/>
          <a:lstStyle/>
          <a:p>
            <a:pPr indent="0" marL="0">
              <a:buNone/>
            </a:pPr>
            <a:r>
              <a:rPr lang="en-US" sz="1500" b="1" dirty="0">
                <a:solidFill>
                  <a:srgbClr val="17232F"/>
                </a:solidFill>
                <a:latin typeface="Cambria" pitchFamily="34" charset="0"/>
                <a:ea typeface="Cambria" pitchFamily="34" charset="-122"/>
                <a:cs typeface="Cambria" pitchFamily="34" charset="-120"/>
              </a:rPr>
              <a:t>A hand-picked exclusion threshold changed the answer</a:t>
            </a:r>
            <a:endParaRPr lang="en-US" sz="1500" dirty="0"/>
          </a:p>
        </p:txBody>
      </p:sp>
      <p:sp>
        <p:nvSpPr>
          <p:cNvPr id="14" name="Text 12"/>
          <p:cNvSpPr txBox="1"/>
          <p:nvPr/>
        </p:nvSpPr>
        <p:spPr>
          <a:xfrm>
            <a:off x="6720840" y="2880360"/>
            <a:ext cx="4526280" cy="1280160"/>
          </a:xfrm>
          <a:prstGeom prst="rect">
            <a:avLst/>
          </a:prstGeom>
          <a:noFill/>
          <a:ln/>
        </p:spPr>
        <p:txBody>
          <a:bodyPr wrap="square" lIns="0" tIns="0" rIns="0" bIns="0" rtlCol="0" anchor="ctr"/>
          <a:lstStyle/>
          <a:p>
            <a:pPr indent="0" marL="0">
              <a:lnSpc>
                <a:spcPts val="1800"/>
              </a:lnSpc>
              <a:buNone/>
            </a:pPr>
            <a:r>
              <a:rPr lang="en-US" sz="1200" dirty="0">
                <a:solidFill>
                  <a:srgbClr val="17232F"/>
                </a:solidFill>
                <a:latin typeface="Calibri" pitchFamily="34" charset="0"/>
                <a:ea typeface="Calibri" pitchFamily="34" charset="-122"/>
                <a:cs typeface="Calibri" pitchFamily="34" charset="-120"/>
              </a:rPr>
              <a:t>Net reduction was computed outside the harness, dropping runs slower than 800s to exclude a mutant that hangs the suite. When the timeout moved from 900s to 600s, that same mutant fell on the other side of the threshold.</a:t>
            </a:r>
            <a:endParaRPr lang="en-US" sz="1200" dirty="0"/>
          </a:p>
        </p:txBody>
      </p:sp>
      <p:sp>
        <p:nvSpPr>
          <p:cNvPr id="15" name="Text 13"/>
          <p:cNvSpPr txBox="1"/>
          <p:nvPr/>
        </p:nvSpPr>
        <p:spPr>
          <a:xfrm>
            <a:off x="6720840" y="4206240"/>
            <a:ext cx="4526280" cy="320040"/>
          </a:xfrm>
          <a:prstGeom prst="rect">
            <a:avLst/>
          </a:prstGeom>
          <a:noFill/>
          <a:ln/>
        </p:spPr>
        <p:txBody>
          <a:bodyPr wrap="square" lIns="0" tIns="0" rIns="0" bIns="0" rtlCol="0" anchor="ctr"/>
          <a:lstStyle/>
          <a:p>
            <a:pPr indent="0" marL="0">
              <a:buNone/>
            </a:pPr>
            <a:r>
              <a:rPr lang="en-US" sz="1400" b="1" dirty="0">
                <a:solidFill>
                  <a:srgbClr val="D1453B"/>
                </a:solidFill>
                <a:latin typeface="Courier New" pitchFamily="34" charset="0"/>
                <a:ea typeface="Courier New" pitchFamily="34" charset="-122"/>
                <a:cs typeface="Courier New" pitchFamily="34" charset="-120"/>
              </a:rPr>
              <a:t>46% became 11%</a:t>
            </a:r>
            <a:endParaRPr lang="en-US" sz="1400" dirty="0"/>
          </a:p>
        </p:txBody>
      </p:sp>
      <p:sp>
        <p:nvSpPr>
          <p:cNvPr id="16" name="Text 14"/>
          <p:cNvSpPr txBox="1"/>
          <p:nvPr/>
        </p:nvSpPr>
        <p:spPr>
          <a:xfrm>
            <a:off x="6720840" y="4526280"/>
            <a:ext cx="4526280" cy="27432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the tool had not changed at all</a:t>
            </a:r>
            <a:endParaRPr lang="en-US" sz="1000" dirty="0"/>
          </a:p>
        </p:txBody>
      </p:sp>
      <p:sp>
        <p:nvSpPr>
          <p:cNvPr id="17" name="Text 15"/>
          <p:cNvSpPr txBox="1"/>
          <p:nvPr/>
        </p:nvSpPr>
        <p:spPr>
          <a:xfrm>
            <a:off x="6720840" y="4846320"/>
            <a:ext cx="4526280" cy="822960"/>
          </a:xfrm>
          <a:prstGeom prst="rect">
            <a:avLst/>
          </a:prstGeom>
          <a:noFill/>
          <a:ln/>
        </p:spPr>
        <p:txBody>
          <a:bodyPr wrap="square" lIns="0" tIns="0" rIns="0" bIns="0" rtlCol="0" anchor="ctr"/>
          <a:lstStyle/>
          <a:p>
            <a:pPr indent="0" marL="0">
              <a:buNone/>
            </a:pPr>
            <a:r>
              <a:rPr lang="en-US" sz="1100" i="1" dirty="0">
                <a:solidFill>
                  <a:srgbClr val="2E7D62"/>
                </a:solidFill>
                <a:latin typeface="Calibri" pitchFamily="34" charset="0"/>
                <a:ea typeface="Calibri" pitchFamily="34" charset="-122"/>
                <a:cs typeface="Calibri" pitchFamily="34" charset="-120"/>
              </a:rPr>
              <a:t>net_reduction is computed inside the harness and excludes runs by exit code — a timeout measures a hang, not a suite. Recomputed, the published figure stands.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LIVE DEMO — TIA SELECT --EXPLAIN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Inspectable, not merely fast</a:t>
            </a:r>
            <a:endParaRPr lang="en-US" sz="3400" dirty="0"/>
          </a:p>
        </p:txBody>
      </p:sp>
      <p:sp>
        <p:nvSpPr>
          <p:cNvPr id="4" name="Shape 2"/>
          <p:cNvSpPr/>
          <p:nvPr/>
        </p:nvSpPr>
        <p:spPr>
          <a:xfrm>
            <a:off x="640080" y="1691640"/>
            <a:ext cx="10881360" cy="2834640"/>
          </a:xfrm>
          <a:prstGeom prst="roundRect">
            <a:avLst>
              <a:gd name="adj" fmla="val 1935"/>
            </a:avLst>
          </a:prstGeom>
          <a:solidFill>
            <a:srgbClr val="0E1721"/>
          </a:solidFill>
          <a:ln w="12700">
            <a:solidFill>
              <a:srgbClr val="333333"/>
            </a:solidFill>
            <a:prstDash val="solid"/>
          </a:ln>
        </p:spPr>
      </p:sp>
      <p:sp>
        <p:nvSpPr>
          <p:cNvPr id="5" name="Text 3"/>
          <p:cNvSpPr txBox="1"/>
          <p:nvPr/>
        </p:nvSpPr>
        <p:spPr>
          <a:xfrm>
            <a:off x="914400" y="1874520"/>
            <a:ext cx="10332720" cy="2514600"/>
          </a:xfrm>
          <a:prstGeom prst="rect">
            <a:avLst/>
          </a:prstGeom>
          <a:noFill/>
          <a:ln/>
        </p:spPr>
        <p:txBody>
          <a:bodyPr wrap="square" lIns="0" tIns="0" rIns="0" bIns="0" rtlCol="0" anchor="ctr"/>
          <a:lstStyle/>
          <a:p>
            <a:pPr indent="0" marL="0">
              <a:lnSpc>
                <a:spcPts val="1700"/>
              </a:lnSpc>
              <a:buNone/>
            </a:pPr>
            <a:r>
              <a:rPr lang="en-US" sz="1250" dirty="0">
                <a:solidFill>
                  <a:srgbClr val="2E7D62"/>
                </a:solidFill>
                <a:latin typeface="Courier New" pitchFamily="34" charset="0"/>
                <a:ea typeface="Courier New" pitchFamily="34" charset="-122"/>
                <a:cs typeface="Courier New" pitchFamily="34" charset="-120"/>
              </a:rPr>
              <a:t>$ tia select --explain</a:t>
            </a:r>
            <a:endParaRPr lang="en-US" sz="1250" dirty="0"/>
          </a:p>
          <a:p>
            <a:pPr indent="0" marL="0">
              <a:lnSpc>
                <a:spcPts val="1700"/>
              </a:lnSpc>
              <a:buNone/>
            </a:pPr>
            <a:endParaRPr lang="en-US" sz="1250" dirty="0"/>
          </a:p>
          <a:p>
            <a:pPr indent="0" marL="0">
              <a:lnSpc>
                <a:spcPts val="1700"/>
              </a:lnSpc>
              <a:buNone/>
            </a:pPr>
            <a:r>
              <a:rPr lang="en-US" sz="1250" b="1" dirty="0">
                <a:solidFill>
                  <a:srgbClr val="FFFFFF"/>
                </a:solidFill>
                <a:latin typeface="Courier New" pitchFamily="34" charset="0"/>
                <a:ea typeface="Courier New" pitchFamily="34" charset="-122"/>
                <a:cs typeface="Courier New" pitchFamily="34" charset="-120"/>
              </a:rPr>
              <a:t>src/attr/_funcs.py line 377</a:t>
            </a:r>
            <a:endParaRPr lang="en-US" sz="1250" dirty="0"/>
          </a:p>
          <a:p>
            <a:pPr indent="0" marL="0">
              <a:lnSpc>
                <a:spcPts val="1700"/>
              </a:lnSpc>
              <a:buNone/>
            </a:pPr>
            <a:r>
              <a:rPr lang="en-US" sz="1250" dirty="0">
                <a:solidFill>
                  <a:srgbClr val="C07A1B"/>
                </a:solidFill>
                <a:latin typeface="Courier New" pitchFamily="34" charset="0"/>
                <a:ea typeface="Courier New" pitchFamily="34" charset="-122"/>
                <a:cs typeface="Courier New" pitchFamily="34" charset="-120"/>
              </a:rPr>
              <a:t>  -&gt; SELECTED: project source in a fresh map; tests chosen by line</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tests/test_funcs.py::TestAsDict::test_dicts</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tests/test_hooks.py::TestAsDictHook::test_asdict</a:t>
            </a:r>
            <a:endParaRPr lang="en-US" sz="1250" dirty="0"/>
          </a:p>
          <a:p>
            <a:pPr indent="0" marL="0">
              <a:lnSpc>
                <a:spcPts val="1700"/>
              </a:lnSpc>
              <a:buNone/>
            </a:pPr>
            <a:r>
              <a:rPr lang="en-US" sz="1250" dirty="0">
                <a:solidFill>
                  <a:srgbClr val="6B808F"/>
                </a:solidFill>
                <a:latin typeface="Courier New" pitchFamily="34" charset="0"/>
                <a:ea typeface="Courier New" pitchFamily="34" charset="-122"/>
                <a:cs typeface="Courier New" pitchFamily="34" charset="-120"/>
              </a:rPr>
              <a:t>     ... and 29 more</a:t>
            </a:r>
            <a:endParaRPr lang="en-US" sz="1250" dirty="0"/>
          </a:p>
          <a:p>
            <a:pPr indent="0" marL="0">
              <a:lnSpc>
                <a:spcPts val="1700"/>
              </a:lnSpc>
              <a:buNone/>
            </a:pPr>
            <a:endParaRPr lang="en-US" sz="1250" dirty="0"/>
          </a:p>
          <a:p>
            <a:pPr indent="0" marL="0">
              <a:lnSpc>
                <a:spcPts val="1700"/>
              </a:lnSpc>
              <a:buNone/>
            </a:pPr>
            <a:r>
              <a:rPr lang="en-US" sz="1250" b="1" dirty="0">
                <a:solidFill>
                  <a:srgbClr val="FFFFFF"/>
                </a:solidFill>
                <a:latin typeface="Courier New" pitchFamily="34" charset="0"/>
                <a:ea typeface="Courier New" pitchFamily="34" charset="-122"/>
                <a:cs typeface="Courier New" pitchFamily="34" charset="-120"/>
              </a:rPr>
              <a:t>tia: selected 31 of 1,334 tests</a:t>
            </a:r>
            <a:endParaRPr lang="en-US" sz="1250" dirty="0"/>
          </a:p>
        </p:txBody>
      </p:sp>
      <p:sp>
        <p:nvSpPr>
          <p:cNvPr id="6" name="Text 4"/>
          <p:cNvSpPr txBox="1"/>
          <p:nvPr/>
        </p:nvSpPr>
        <p:spPr>
          <a:xfrm>
            <a:off x="640080" y="4709160"/>
            <a:ext cx="10881360" cy="548640"/>
          </a:xfrm>
          <a:prstGeom prst="rect">
            <a:avLst/>
          </a:prstGeom>
          <a:noFill/>
          <a:ln/>
        </p:spPr>
        <p:txBody>
          <a:bodyPr wrap="square" lIns="0" tIns="0" rIns="0" bIns="0" rtlCol="0" anchor="ctr"/>
          <a:lstStyle/>
          <a:p>
            <a:pPr indent="0" marL="0">
              <a:buNone/>
            </a:pPr>
            <a:r>
              <a:rPr lang="en-US" sz="1350" dirty="0">
                <a:solidFill>
                  <a:srgbClr val="AFC0CE"/>
                </a:solidFill>
                <a:latin typeface="Calibri" pitchFamily="34" charset="0"/>
                <a:ea typeface="Calibri" pitchFamily="34" charset="-122"/>
                <a:cs typeface="Calibri" pitchFamily="34" charset="-120"/>
              </a:rPr>
              <a:t>Every selected test traces to the line that pulled it in and the rule that allowed it. Then: edit requirements.txt, and the tool gives up the speed benefit on purpose.</a:t>
            </a:r>
            <a:endParaRPr lang="en-US" sz="1350" dirty="0"/>
          </a:p>
        </p:txBody>
      </p:sp>
      <p:sp>
        <p:nvSpPr>
          <p:cNvPr id="7" name="Text 5"/>
          <p:cNvSpPr txBox="1"/>
          <p:nvPr/>
        </p:nvSpPr>
        <p:spPr>
          <a:xfrm>
            <a:off x="640080" y="5349240"/>
            <a:ext cx="10881360" cy="365760"/>
          </a:xfrm>
          <a:prstGeom prst="rect">
            <a:avLst/>
          </a:prstGeom>
          <a:noFill/>
          <a:ln/>
        </p:spPr>
        <p:txBody>
          <a:bodyPr wrap="square" lIns="0" tIns="0" rIns="0" bIns="0" rtlCol="0" anchor="ctr"/>
          <a:lstStyle/>
          <a:p>
            <a:pPr indent="0" marL="0">
              <a:buNone/>
            </a:pPr>
            <a:r>
              <a:rPr lang="en-US" sz="1200" b="1" dirty="0">
                <a:solidFill>
                  <a:srgbClr val="C07A1B"/>
                </a:solidFill>
                <a:latin typeface="Courier New" pitchFamily="34" charset="0"/>
                <a:ea typeface="Courier New" pitchFamily="34" charset="-122"/>
                <a:cs typeface="Courier New" pitchFamily="34" charset="-120"/>
              </a:rPr>
              <a:t>./scripts/demo.sh  —  11 seconds, no network, runs the full suite live as the comparison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CI INTEGRATION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Running in a real pipeline — and what it caught</a:t>
            </a:r>
            <a:endParaRPr lang="en-US" sz="3400" dirty="0"/>
          </a:p>
        </p:txBody>
      </p:sp>
      <p:sp>
        <p:nvSpPr>
          <p:cNvPr id="4" name="Text 2"/>
          <p:cNvSpPr txBox="1"/>
          <p:nvPr/>
        </p:nvSpPr>
        <p:spPr>
          <a:xfrm>
            <a:off x="640080" y="1600200"/>
            <a:ext cx="10881360" cy="868680"/>
          </a:xfrm>
          <a:prstGeom prst="rect">
            <a:avLst/>
          </a:prstGeom>
          <a:noFill/>
          <a:ln/>
        </p:spPr>
        <p:txBody>
          <a:bodyPr wrap="square" lIns="0" tIns="0" rIns="0" bIns="0" rtlCol="0" anchor="ctr"/>
          <a:lstStyle/>
          <a:p>
            <a:pPr indent="0" marL="0">
              <a:lnSpc>
                <a:spcPts val="1900"/>
              </a:lnSpc>
              <a:buNone/>
            </a:pPr>
            <a:r>
              <a:rPr lang="en-US" sz="1300" dirty="0">
                <a:solidFill>
                  <a:srgbClr val="17232F"/>
                </a:solidFill>
                <a:latin typeface="Calibri" pitchFamily="34" charset="0"/>
                <a:ea typeface="Calibri" pitchFamily="34" charset="-122"/>
                <a:cs typeface="Calibri" pitchFamily="34" charset="-120"/>
              </a:rPr>
              <a:t>The pipeline tests tia with tia: it builds a map at the base commit, selects for the pull request's actual diff, runs that through the pytest plugin, and still runs the full suite as a safety net. A pipeline that stops running the full suite before its miss rate is measured is the false confidence this project argues against.</a:t>
            </a:r>
            <a:endParaRPr lang="en-US" sz="1300" dirty="0"/>
          </a:p>
        </p:txBody>
      </p:sp>
      <p:sp>
        <p:nvSpPr>
          <p:cNvPr id="5" name="Shape 3"/>
          <p:cNvSpPr/>
          <p:nvPr/>
        </p:nvSpPr>
        <p:spPr>
          <a:xfrm>
            <a:off x="640080" y="2606040"/>
            <a:ext cx="10881360" cy="1371600"/>
          </a:xfrm>
          <a:prstGeom prst="roundRect">
            <a:avLst>
              <a:gd name="adj" fmla="val 4000"/>
            </a:avLst>
          </a:prstGeom>
          <a:solidFill>
            <a:srgbClr val="0E1721"/>
          </a:solidFill>
          <a:ln w="12700">
            <a:solidFill>
              <a:srgbClr val="333333"/>
            </a:solidFill>
            <a:prstDash val="solid"/>
          </a:ln>
        </p:spPr>
      </p:sp>
      <p:sp>
        <p:nvSpPr>
          <p:cNvPr id="6" name="Text 4"/>
          <p:cNvSpPr txBox="1"/>
          <p:nvPr/>
        </p:nvSpPr>
        <p:spPr>
          <a:xfrm>
            <a:off x="914400" y="2788920"/>
            <a:ext cx="10332720" cy="1051560"/>
          </a:xfrm>
          <a:prstGeom prst="rect">
            <a:avLst/>
          </a:prstGeom>
          <a:noFill/>
          <a:ln/>
        </p:spPr>
        <p:txBody>
          <a:bodyPr wrap="square" lIns="0" tIns="0" rIns="0" bIns="0" rtlCol="0" anchor="ctr"/>
          <a:lstStyle/>
          <a:p>
            <a:pPr indent="0" marL="0">
              <a:lnSpc>
                <a:spcPts val="1700"/>
              </a:lnSpc>
              <a:buNone/>
            </a:pPr>
            <a:r>
              <a:rPr lang="en-US" sz="1250" b="1" dirty="0">
                <a:solidFill>
                  <a:srgbClr val="D1453B"/>
                </a:solidFill>
                <a:latin typeface="Courier New" pitchFamily="34" charset="0"/>
                <a:ea typeface="Courier New" pitchFamily="34" charset="-122"/>
                <a:cs typeface="Courier New" pitchFamily="34" charset="-120"/>
              </a:rPr>
              <a:t>tia: selected 0 of 115 tests</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-&gt; SELECTED: project source present in a fresh map</a:t>
            </a:r>
            <a:endParaRPr lang="en-US" sz="1250" dirty="0"/>
          </a:p>
          <a:p>
            <a:pPr indent="0" marL="0">
              <a:lnSpc>
                <a:spcPts val="1700"/>
              </a:lnSpc>
              <a:buNone/>
            </a:pPr>
            <a:endParaRPr lang="en-US" sz="1250" dirty="0"/>
          </a:p>
          <a:p>
            <a:pPr indent="0" marL="0">
              <a:lnSpc>
                <a:spcPts val="1700"/>
              </a:lnSpc>
              <a:buNone/>
            </a:pPr>
            <a:r>
              <a:rPr lang="en-US" sz="1250" dirty="0">
                <a:solidFill>
                  <a:srgbClr val="C07A1B"/>
                </a:solidFill>
                <a:latin typeface="Courier New" pitchFamily="34" charset="0"/>
                <a:ea typeface="Courier New" pitchFamily="34" charset="-122"/>
                <a:cs typeface="Courier New" pitchFamily="34" charset="-120"/>
              </a:rPr>
              <a:t>a confident verdict, and an empty selection</a:t>
            </a:r>
            <a:endParaRPr lang="en-US" sz="1250" dirty="0"/>
          </a:p>
        </p:txBody>
      </p:sp>
      <p:sp>
        <p:nvSpPr>
          <p:cNvPr id="7" name="Text 5"/>
          <p:cNvSpPr txBox="1"/>
          <p:nvPr/>
        </p:nvSpPr>
        <p:spPr>
          <a:xfrm>
            <a:off x="640080" y="4160520"/>
            <a:ext cx="10881360" cy="320040"/>
          </a:xfrm>
          <a:prstGeom prst="rect">
            <a:avLst/>
          </a:prstGeom>
          <a:noFill/>
          <a:ln/>
        </p:spPr>
        <p:txBody>
          <a:bodyPr wrap="square" lIns="0" tIns="0" rIns="0" bIns="0" rtlCol="0" anchor="ctr"/>
          <a:lstStyle/>
          <a:p>
            <a:pPr indent="0" marL="0">
              <a:buNone/>
            </a:pPr>
            <a:r>
              <a:rPr lang="en-US" sz="1600" b="1" dirty="0">
                <a:solidFill>
                  <a:srgbClr val="D1453B"/>
                </a:solidFill>
                <a:latin typeface="Cambria" pitchFamily="34" charset="0"/>
                <a:ea typeface="Cambria" pitchFamily="34" charset="-122"/>
                <a:cs typeface="Cambria" pitchFamily="34" charset="-120"/>
              </a:rPr>
              <a:t>On its third run, the pipeline caught the tool reporting an empty selection as a confident answer.</a:t>
            </a:r>
            <a:endParaRPr lang="en-US" sz="1600" dirty="0"/>
          </a:p>
        </p:txBody>
      </p:sp>
      <p:sp>
        <p:nvSpPr>
          <p:cNvPr id="8" name="Text 6"/>
          <p:cNvSpPr txBox="1"/>
          <p:nvPr/>
        </p:nvSpPr>
        <p:spPr>
          <a:xfrm>
            <a:off x="640080" y="4526280"/>
            <a:ext cx="10881360" cy="1371600"/>
          </a:xfrm>
          <a:prstGeom prst="rect">
            <a:avLst/>
          </a:prstGeom>
          <a:noFill/>
          <a:ln/>
        </p:spPr>
        <p:txBody>
          <a:bodyPr wrap="square" lIns="0" tIns="0" rIns="0" bIns="0" rtlCol="0" anchor="ctr"/>
          <a:lstStyle/>
          <a:p>
            <a:pPr indent="0" marL="0">
              <a:lnSpc>
                <a:spcPts val="1800"/>
              </a:lnSpc>
              <a:buNone/>
            </a:pPr>
            <a:r>
              <a:rPr lang="en-US" sz="1250" dirty="0">
                <a:solidFill>
                  <a:srgbClr val="17232F"/>
                </a:solidFill>
                <a:latin typeface="Calibri" pitchFamily="34" charset="0"/>
                <a:ea typeface="Calibri" pitchFamily="34" charset="-122"/>
                <a:cs typeface="Calibri" pitchFamily="34" charset="-120"/>
              </a:rPr>
              <a:t>The changed lines were continuation lines of a multi-line statement, which coverage attributes to the statement's first line — so the lookup found nothing and reported that as "nothing needs to run". The pytest plugin already refused to run zero tests, so it was a reporting fault rather than a miss, but anyone integrating against `tia select --format json` would have been told with confidence that no tests were needed. An empty lookup is ignorance, not proof: it now widens to the file under LINE_NOT_IN_MAP.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LIMITATIONS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do not claim</a:t>
            </a:r>
            <a:endParaRPr lang="en-US" sz="3400" dirty="0"/>
          </a:p>
        </p:txBody>
      </p:sp>
      <p:sp>
        <p:nvSpPr>
          <p:cNvPr id="4" name="Text 2"/>
          <p:cNvSpPr txBox="1"/>
          <p:nvPr/>
        </p:nvSpPr>
        <p:spPr>
          <a:xfrm>
            <a:off x="640080" y="1645920"/>
            <a:ext cx="6492240" cy="3108960"/>
          </a:xfrm>
          <a:prstGeom prst="rect">
            <a:avLst/>
          </a:prstGeom>
          <a:noFill/>
          <a:ln/>
        </p:spPr>
        <p:txBody>
          <a:bodyPr wrap="square" lIns="0" tIns="0" rIns="0" bIns="0" rtlCol="0" anchor="ctr"/>
          <a:lstStyle/>
          <a:p>
            <a:pPr indent="0" marL="0">
              <a:lnSpc>
                <a:spcPts val="2000"/>
              </a:lnSpc>
              <a:spcAft>
                <a:spcPts val="1200"/>
              </a:spcAft>
              <a:buNone/>
            </a:pPr>
            <a:r>
              <a:rPr lang="en-US" sz="1300" dirty="0">
                <a:solidFill>
                  <a:srgbClr val="CFDAE3"/>
                </a:solidFill>
                <a:latin typeface="Calibri" pitchFamily="34" charset="0"/>
                <a:ea typeface="Calibri" pitchFamily="34" charset="-122"/>
                <a:cs typeface="Calibri" pitchFamily="34" charset="-120"/>
              </a:rPr>
              <a:t>Complete certainty is not attainable in a dynamically typed language, and we do not claim it. Code loaded by name at run time, getattr dispatch, monkeypatching, entry points and plugin registries are invisible to the import graph — there is a test in the suite that pins exactly that, so the report cannot quietly drift.</a:t>
            </a:r>
            <a:endParaRPr lang="en-US" sz="1300" dirty="0"/>
          </a:p>
          <a:p>
            <a:pPr indent="0" marL="0">
              <a:lnSpc>
                <a:spcPts val="2000"/>
              </a:lnSpc>
              <a:spcAft>
                <a:spcPts val="1200"/>
              </a:spcAft>
              <a:buNone/>
            </a:pPr>
            <a:r>
              <a:rPr lang="en-US" sz="1300" dirty="0">
                <a:solidFill>
                  <a:srgbClr val="CFDAE3"/>
                </a:solidFill>
                <a:latin typeface="Calibri" pitchFamily="34" charset="0"/>
                <a:ea typeface="Calibri" pitchFamily="34" charset="-122"/>
                <a:cs typeface="Calibri" pitchFamily="34" charset="-120"/>
              </a:rPr>
              <a:t>The line-level map partly compensates, because it records what actually executed rather than what the source appears to say. Neither mechanism is complete.</a:t>
            </a:r>
            <a:endParaRPr lang="en-US" sz="1300" dirty="0"/>
          </a:p>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What we claim instead is bounded, measured safety: 0 misses in 211 non-equivalent injected defects, on two real codebases, reproducible from the pinned corpus with one command.</a:t>
            </a:r>
            <a:endParaRPr lang="en-US" sz="1300" dirty="0"/>
          </a:p>
        </p:txBody>
      </p:sp>
      <p:sp>
        <p:nvSpPr>
          <p:cNvPr id="5" name="Shape 3"/>
          <p:cNvSpPr/>
          <p:nvPr/>
        </p:nvSpPr>
        <p:spPr>
          <a:xfrm>
            <a:off x="7406640" y="1645920"/>
            <a:ext cx="4114800" cy="3200400"/>
          </a:xfrm>
          <a:prstGeom prst="roundRect">
            <a:avLst>
              <a:gd name="adj" fmla="val 2286"/>
            </a:avLst>
          </a:prstGeom>
          <a:solidFill>
            <a:srgbClr val="223141"/>
          </a:solidFill>
          <a:ln w="12700">
            <a:solidFill>
              <a:srgbClr val="333333"/>
            </a:solidFill>
            <a:prstDash val="solid"/>
          </a:ln>
        </p:spPr>
      </p:sp>
      <p:sp>
        <p:nvSpPr>
          <p:cNvPr id="6" name="Text 4"/>
          <p:cNvSpPr txBox="1"/>
          <p:nvPr/>
        </p:nvSpPr>
        <p:spPr>
          <a:xfrm>
            <a:off x="7726680" y="1828800"/>
            <a:ext cx="3566160" cy="274320"/>
          </a:xfrm>
          <a:prstGeom prst="rect">
            <a:avLst/>
          </a:prstGeom>
          <a:noFill/>
          <a:ln/>
        </p:spPr>
        <p:txBody>
          <a:bodyPr wrap="square" lIns="0" tIns="0" rIns="0" bIns="0" rtlCol="0" anchor="ctr"/>
          <a:lstStyle/>
          <a:p>
            <a:pPr indent="0" marL="0">
              <a:buNone/>
            </a:pPr>
            <a:r>
              <a:rPr lang="en-US" sz="1200" b="1" dirty="0">
                <a:solidFill>
                  <a:srgbClr val="C07A1B"/>
                </a:solidFill>
                <a:latin typeface="Calibri" pitchFamily="34" charset="0"/>
                <a:ea typeface="Calibri" pitchFamily="34" charset="-122"/>
                <a:cs typeface="Calibri" pitchFamily="34" charset="-120"/>
              </a:rPr>
              <a:t>Not yet measured</a:t>
            </a:r>
            <a:endParaRPr lang="en-US" sz="1200" dirty="0"/>
          </a:p>
        </p:txBody>
      </p:sp>
      <p:sp>
        <p:nvSpPr>
          <p:cNvPr id="7" name="Text 5"/>
          <p:cNvSpPr txBox="1"/>
          <p:nvPr/>
        </p:nvSpPr>
        <p:spPr>
          <a:xfrm>
            <a:off x="7726680" y="2194560"/>
            <a:ext cx="3566160" cy="24688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100" dirty="0">
                <a:solidFill>
                  <a:srgbClr val="CFDAE3"/>
                </a:solidFill>
                <a:latin typeface="Calibri" pitchFamily="34" charset="0"/>
                <a:ea typeface="Calibri" pitchFamily="34" charset="-122"/>
                <a:cs typeface="Calibri" pitchFamily="34" charset="-120"/>
              </a:rPr>
              <a:t>Fallback frequency over real historical commits, rather than injected defects</a:t>
            </a:r>
            <a:endParaRPr lang="en-US" sz="1100" dirty="0"/>
          </a:p>
          <a:p>
            <a:pPr marL="342900" indent="-342900">
              <a:lnSpc>
                <a:spcPts val="1600"/>
              </a:lnSpc>
              <a:spcAft>
                <a:spcPts val="700"/>
              </a:spcAft>
              <a:buSzPct val="100000"/>
              <a:buChar char="•"/>
            </a:pPr>
            <a:r>
              <a:rPr lang="en-US" sz="1100" dirty="0">
                <a:solidFill>
                  <a:srgbClr val="CFDAE3"/>
                </a:solidFill>
                <a:latin typeface="Calibri" pitchFamily="34" charset="0"/>
                <a:ea typeface="Calibri" pitchFamily="34" charset="-122"/>
                <a:cs typeface="Calibri" pitchFamily="34" charset="-120"/>
              </a:rPr>
              <a:t>Safety beyond 200 mutants per repository</a:t>
            </a:r>
            <a:endParaRPr lang="en-US" sz="1100" dirty="0"/>
          </a:p>
          <a:p>
            <a:pPr marL="342900" indent="-342900">
              <a:lnSpc>
                <a:spcPts val="1600"/>
              </a:lnSpc>
              <a:spcAft>
                <a:spcPts val="700"/>
              </a:spcAft>
              <a:buSzPct val="100000"/>
              <a:buChar char="•"/>
            </a:pPr>
            <a:r>
              <a:rPr lang="en-US" sz="1100" dirty="0">
                <a:solidFill>
                  <a:srgbClr val="CFDAE3"/>
                </a:solidFill>
                <a:latin typeface="Calibri" pitchFamily="34" charset="0"/>
                <a:ea typeface="Calibri" pitchFamily="34" charset="-122"/>
                <a:cs typeface="Calibri" pitchFamily="34" charset="-120"/>
              </a:rPr>
              <a:t>A third codebase</a:t>
            </a:r>
            <a:endParaRPr lang="en-US" sz="1100" dirty="0"/>
          </a:p>
          <a:p>
            <a:pPr marL="342900" indent="-342900">
              <a:lnSpc>
                <a:spcPts val="1600"/>
              </a:lnSpc>
              <a:spcAft>
                <a:spcPts val="700"/>
              </a:spcAft>
              <a:buSzPct val="100000"/>
              <a:buChar char="•"/>
            </a:pPr>
            <a:r>
              <a:rPr lang="en-US" sz="1100" dirty="0">
                <a:solidFill>
                  <a:srgbClr val="CFDAE3"/>
                </a:solidFill>
                <a:latin typeface="Calibri" pitchFamily="34" charset="0"/>
                <a:ea typeface="Calibri" pitchFamily="34" charset="-122"/>
                <a:cs typeface="Calibri" pitchFamily="34" charset="-120"/>
              </a:rPr>
              <a:t>Whether 0.6 is the right closure limit — it is SPEC's suggestion, not a measured optimum</a:t>
            </a:r>
            <a:endParaRPr lang="en-US" sz="1100" dirty="0"/>
          </a:p>
        </p:txBody>
      </p:sp>
      <p:sp>
        <p:nvSpPr>
          <p:cNvPr id="8" name="Text 6"/>
          <p:cNvSpPr txBox="1"/>
          <p:nvPr/>
        </p:nvSpPr>
        <p:spPr>
          <a:xfrm>
            <a:off x="640080" y="5074920"/>
            <a:ext cx="10881360" cy="731520"/>
          </a:xfrm>
          <a:prstGeom prst="rect">
            <a:avLst/>
          </a:prstGeom>
          <a:noFill/>
          <a:ln/>
        </p:spPr>
        <p:txBody>
          <a:bodyPr wrap="square" lIns="0" tIns="0" rIns="0" bIns="0" rtlCol="0" anchor="ctr"/>
          <a:lstStyle/>
          <a:p>
            <a:pPr indent="0" marL="0">
              <a:buNone/>
            </a:pPr>
            <a:r>
              <a:rPr lang="en-US" sz="1500" b="1" i="1" dirty="0">
                <a:solidFill>
                  <a:srgbClr val="FFFFFF"/>
                </a:solidFill>
                <a:latin typeface="Cambria" pitchFamily="34" charset="0"/>
                <a:ea typeface="Cambria" pitchFamily="34" charset="-122"/>
                <a:cs typeface="Cambria" pitchFamily="34" charset="-120"/>
              </a:rPr>
              <a:t>A negative or mixed result, properly measured, is a valid finding. We report the fallback rate as prominently as the speedup, and the two measurements that misled us before we caught them.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DELIVERABLES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Where this stands</a:t>
            </a:r>
            <a:endParaRPr lang="en-US" sz="3400" dirty="0"/>
          </a:p>
        </p:txBody>
      </p:sp>
      <p:sp>
        <p:nvSpPr>
          <p:cNvPr id="4" name="Text 2"/>
          <p:cNvSpPr txBox="1"/>
          <p:nvPr/>
        </p:nvSpPr>
        <p:spPr>
          <a:xfrm>
            <a:off x="640080" y="1645920"/>
            <a:ext cx="3291840" cy="320040"/>
          </a:xfrm>
          <a:prstGeom prst="rect">
            <a:avLst/>
          </a:prstGeom>
          <a:noFill/>
          <a:ln/>
        </p:spPr>
        <p:txBody>
          <a:bodyPr wrap="square" lIns="0" tIns="0" rIns="0" bIns="0" rtlCol="0" anchor="ctr"/>
          <a:lstStyle/>
          <a:p>
            <a:pPr indent="0" marL="0">
              <a:buNone/>
            </a:pPr>
            <a:r>
              <a:rPr lang="en-US" sz="1300" b="1" dirty="0">
                <a:solidFill>
                  <a:srgbClr val="2E7D62"/>
                </a:solidFill>
                <a:latin typeface="Calibri" pitchFamily="34" charset="0"/>
                <a:ea typeface="Calibri" pitchFamily="34" charset="-122"/>
                <a:cs typeface="Calibri" pitchFamily="34" charset="-120"/>
              </a:rPr>
              <a:t>Delivered</a:t>
            </a:r>
            <a:endParaRPr lang="en-US" sz="1300" dirty="0"/>
          </a:p>
        </p:txBody>
      </p:sp>
      <p:sp>
        <p:nvSpPr>
          <p:cNvPr id="5" name="Text 3"/>
          <p:cNvSpPr txBox="1"/>
          <p:nvPr/>
        </p:nvSpPr>
        <p:spPr>
          <a:xfrm>
            <a:off x="640080" y="2011680"/>
            <a:ext cx="3291840" cy="31089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Installable CLI and pytest plugin, end to end</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Line-level map, git diff, 16-rule classifier</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Import graph with closure limit (Phase 2)</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Evaluation harness: corpus, baselines, defect injection, precision</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Two real codebases, four A/B arms, every figure from committed JSON</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CI pipeline running tia on tia</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125 tests, mypy --strict, 27 commits</a:t>
            </a:r>
            <a:endParaRPr lang="en-US" sz="1100" dirty="0"/>
          </a:p>
        </p:txBody>
      </p:sp>
      <p:sp>
        <p:nvSpPr>
          <p:cNvPr id="6" name="Text 4"/>
          <p:cNvSpPr txBox="1"/>
          <p:nvPr/>
        </p:nvSpPr>
        <p:spPr>
          <a:xfrm>
            <a:off x="4434840" y="1645920"/>
            <a:ext cx="3291840" cy="320040"/>
          </a:xfrm>
          <a:prstGeom prst="rect">
            <a:avLst/>
          </a:prstGeom>
          <a:noFill/>
          <a:ln/>
        </p:spPr>
        <p:txBody>
          <a:bodyPr wrap="square" lIns="0" tIns="0" rIns="0" bIns="0" rtlCol="0" anchor="ctr"/>
          <a:lstStyle/>
          <a:p>
            <a:pPr indent="0" marL="0">
              <a:buNone/>
            </a:pPr>
            <a:r>
              <a:rPr lang="en-US" sz="1300" b="1" dirty="0">
                <a:solidFill>
                  <a:srgbClr val="17232F"/>
                </a:solidFill>
                <a:latin typeface="Calibri" pitchFamily="34" charset="0"/>
                <a:ea typeface="Calibri" pitchFamily="34" charset="-122"/>
                <a:cs typeface="Calibri" pitchFamily="34" charset="-120"/>
              </a:rPr>
              <a:t>Evidence</a:t>
            </a:r>
            <a:endParaRPr lang="en-US" sz="1300" dirty="0"/>
          </a:p>
        </p:txBody>
      </p:sp>
      <p:sp>
        <p:nvSpPr>
          <p:cNvPr id="7" name="Text 5"/>
          <p:cNvSpPr txBox="1"/>
          <p:nvPr/>
        </p:nvSpPr>
        <p:spPr>
          <a:xfrm>
            <a:off x="4434840" y="2011680"/>
            <a:ext cx="3291840" cy="31089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docs/SAFETY.md — what is guaranteed and what is not</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docs/DECISIONS.md — 13 dated decisions, each with a falsification condition</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eval/results/ — raw JSON for every published number</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make reproduce — regenerates the tables from the pinned corpus</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github.com/Tanmay-Singh-24/tia — public, CI green on 3.11 and 3.12</a:t>
            </a:r>
            <a:endParaRPr lang="en-US" sz="1100" dirty="0"/>
          </a:p>
        </p:txBody>
      </p:sp>
      <p:sp>
        <p:nvSpPr>
          <p:cNvPr id="8" name="Text 6"/>
          <p:cNvSpPr txBox="1"/>
          <p:nvPr/>
        </p:nvSpPr>
        <p:spPr>
          <a:xfrm>
            <a:off x="8229600" y="1645920"/>
            <a:ext cx="3291840" cy="320040"/>
          </a:xfrm>
          <a:prstGeom prst="rect">
            <a:avLst/>
          </a:prstGeom>
          <a:noFill/>
          <a:ln/>
        </p:spPr>
        <p:txBody>
          <a:bodyPr wrap="square" lIns="0" tIns="0" rIns="0" bIns="0" rtlCol="0" anchor="ctr"/>
          <a:lstStyle/>
          <a:p>
            <a:pPr indent="0" marL="0">
              <a:buNone/>
            </a:pPr>
            <a:r>
              <a:rPr lang="en-US" sz="1300" b="1" dirty="0">
                <a:solidFill>
                  <a:srgbClr val="D1453B"/>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8229600" y="2011680"/>
            <a:ext cx="3291840" cy="31089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Fallback frequency over sampled historical commits</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Sweep the closure limit against net reduction</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Third corpus repository (black, held in reserve)</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PyPI release as tia-select</a:t>
            </a:r>
            <a:endParaRPr lang="en-US" sz="1100" dirty="0"/>
          </a:p>
          <a:p>
            <a:pPr marL="342900" indent="-342900">
              <a:lnSpc>
                <a:spcPts val="1600"/>
              </a:lnSpc>
              <a:spcAft>
                <a:spcPts val="800"/>
              </a:spcAft>
              <a:buSzPct val="100000"/>
              <a:buChar char="•"/>
            </a:pPr>
            <a:r>
              <a:rPr lang="en-US" sz="1100" dirty="0">
                <a:solidFill>
                  <a:srgbClr val="17232F"/>
                </a:solidFill>
                <a:latin typeface="Calibri" pitchFamily="34" charset="0"/>
                <a:ea typeface="Calibri" pitchFamily="34" charset="-122"/>
                <a:cs typeface="Calibri" pitchFamily="34" charset="-120"/>
              </a:rPr>
              <a:t>Incremental map updates, so a stale map need not mean the full suite</a:t>
            </a:r>
            <a:endParaRPr lang="en-US" sz="1100" dirty="0"/>
          </a:p>
        </p:txBody>
      </p:sp>
      <p:sp>
        <p:nvSpPr>
          <p:cNvPr id="10" name="Shape 8"/>
          <p:cNvSpPr/>
          <p:nvPr/>
        </p:nvSpPr>
        <p:spPr>
          <a:xfrm>
            <a:off x="640080" y="5303520"/>
            <a:ext cx="10881360" cy="868680"/>
          </a:xfrm>
          <a:prstGeom prst="roundRect">
            <a:avLst>
              <a:gd name="adj" fmla="val 8421"/>
            </a:avLst>
          </a:prstGeom>
          <a:solidFill>
            <a:srgbClr val="17232F"/>
          </a:solidFill>
          <a:ln w="12700">
            <a:solidFill>
              <a:srgbClr val="333333"/>
            </a:solidFill>
            <a:prstDash val="solid"/>
          </a:ln>
        </p:spPr>
      </p:sp>
      <p:sp>
        <p:nvSpPr>
          <p:cNvPr id="11" name="Text 9"/>
          <p:cNvSpPr txBox="1"/>
          <p:nvPr/>
        </p:nvSpPr>
        <p:spPr>
          <a:xfrm>
            <a:off x="960120" y="5486400"/>
            <a:ext cx="10241280" cy="548640"/>
          </a:xfrm>
          <a:prstGeom prst="rect">
            <a:avLst/>
          </a:prstGeom>
          <a:noFill/>
          <a:ln/>
        </p:spPr>
        <p:txBody>
          <a:bodyPr wrap="square" lIns="0" tIns="0" rIns="0" bIns="0" rtlCol="0" anchor="ctr"/>
          <a:lstStyle/>
          <a:p>
            <a:pPr indent="0" marL="0">
              <a:buNone/>
            </a:pPr>
            <a:r>
              <a:rPr lang="en-US" sz="1500" b="1" i="1" dirty="0">
                <a:solidFill>
                  <a:srgbClr val="FFFFFF"/>
                </a:solidFill>
                <a:latin typeface="Cambria" pitchFamily="34" charset="0"/>
                <a:ea typeface="Cambria" pitchFamily="34" charset="-122"/>
                <a:cs typeface="Cambria" pitchFamily="34" charset="-120"/>
              </a:rPr>
              <a:t>0 misses in 211 injected defects. 65.2% less test time on a 4,371-test suite. Four bugs found by our own evaluation — including one the import graph itself introduced.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tia — Final Review</dc:title>
  <dc:subject>PptxGenJS Presentation</dc:subject>
  <dc:creator>Tanmay Singh</dc:creator>
  <cp:lastModifiedBy>Tanmay Singh</cp:lastModifiedBy>
  <cp:revision>1</cp:revision>
  <dcterms:created xsi:type="dcterms:W3CDTF">2026-10-02T20:00:17Z</dcterms:created>
  <dcterms:modified xsi:type="dcterms:W3CDTF">2026-10-02T20:00:17Z</dcterms:modified>
</cp:coreProperties>
</file>